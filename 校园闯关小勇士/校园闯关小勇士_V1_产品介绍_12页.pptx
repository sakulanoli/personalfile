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95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194560"/>
            <a:ext cx="2194560" cy="2194560"/>
          </a:xfrm>
          <a:prstGeom prst="ellipse">
            <a:avLst/>
          </a:prstGeom>
          <a:ln w="381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2194560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2707" y="2475773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76987" y="247577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5820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2707" y="3833587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6987" y="383358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543800" y="4114800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114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864893" y="3833587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9173" y="383358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583680" y="3154680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S07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64893" y="2475773"/>
            <a:ext cx="274320" cy="2743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9173" y="247577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S08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0" y="640080"/>
            <a:ext cx="164592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7315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02920" y="1691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 Challenge Hero · V1 Product Introduction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224028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240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面向小学/初中/高中体育教师的「双端」循环体能闯关教学产品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让体育老师 </a:t>
            </a: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备课开课</a:t>
            </a: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，让学生 </a:t>
            </a: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的进步被看见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让体育教研 </a:t>
            </a: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有据可依</a:t>
            </a: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，让公开课 </a:t>
            </a: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有安全抓手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产品介绍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06040" y="416052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60604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2026-09-15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416052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160520" y="4160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双端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617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校园体能课，卡在哪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类真实的场景，几乎每所学校的体育课都在发生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E2E1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瓶颈不在「练得多少」，在「</a:t>
            </a:r>
            <a:r>
              <a:rPr lang="en-US" sz="13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真实缺口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」——断在「过程可见 + 安全可控 + 分层可达」，公开课与过程性评价就永远说不清。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21280" cy="2468880"/>
          </a:xfrm>
          <a:prstGeom prst="roundRect">
            <a:avLst>
              <a:gd name="adj" fmla="val 3704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40280"/>
            <a:ext cx="548640" cy="54864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267712"/>
            <a:ext cx="161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备课耗半天的老师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216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教研会刚定「学练赛评一体化」，周末就要交公开课教案。手工抄站位、画场地图、找分层动作。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2346960" cy="411480"/>
          </a:xfrm>
          <a:prstGeom prst="roundRect">
            <a:avLst>
              <a:gd name="adj" fmla="val 11111"/>
            </a:avLst>
          </a:prstGeom>
          <a:solidFill>
            <a:srgbClr val="E5593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977640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1 份 Word + 0 套可复用闯关方案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1360" y="2011680"/>
            <a:ext cx="2621280" cy="2468880"/>
          </a:xfrm>
          <a:prstGeom prst="roundRect">
            <a:avLst>
              <a:gd name="adj" fmla="val 3704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9960" y="2240280"/>
            <a:ext cx="548640" cy="54864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16" name="Text 14"/>
          <p:cNvSpPr/>
          <p:nvPr/>
        </p:nvSpPr>
        <p:spPr>
          <a:xfrm>
            <a:off x="3489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30040" y="2267712"/>
            <a:ext cx="161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划水的学生与被边缘的弱生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89960" y="2880360"/>
            <a:ext cx="216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传统体能循环统一强度、统一计时。体能好的嫌不够劲、弱的做不下来被晾在一边。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98520" y="3977640"/>
            <a:ext cx="2346960" cy="411480"/>
          </a:xfrm>
          <a:prstGeom prst="roundRect">
            <a:avLst>
              <a:gd name="adj" fmla="val 11111"/>
            </a:avLst>
          </a:prstGeom>
          <a:solidFill>
            <a:srgbClr val="E55934"/>
          </a:solidFill>
          <a:ln/>
        </p:spPr>
      </p:sp>
      <p:sp>
        <p:nvSpPr>
          <p:cNvPr id="20" name="Text 18"/>
          <p:cNvSpPr/>
          <p:nvPr/>
        </p:nvSpPr>
        <p:spPr>
          <a:xfrm>
            <a:off x="3398520" y="3977640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完赛 30 人 / 看见进步 0 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65520" y="2011680"/>
            <a:ext cx="2621280" cy="2468880"/>
          </a:xfrm>
          <a:prstGeom prst="roundRect">
            <a:avLst>
              <a:gd name="adj" fmla="val 3704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4120" y="2240280"/>
            <a:ext cx="548640" cy="54864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23" name="Text 21"/>
          <p:cNvSpPr/>
          <p:nvPr/>
        </p:nvSpPr>
        <p:spPr>
          <a:xfrm>
            <a:off x="62941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34200" y="2267712"/>
            <a:ext cx="161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出事的恐惧与说不清的过程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94120" y="2880360"/>
            <a:ext cx="216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新课标鼓励「赛评」，家长群最常问的却是「会不会受伤」。校医电话、应急预案、心率管控全凭老师经验。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2680" y="3977640"/>
            <a:ext cx="2346960" cy="411480"/>
          </a:xfrm>
          <a:prstGeom prst="roundRect">
            <a:avLst>
              <a:gd name="adj" fmla="val 11111"/>
            </a:avLst>
          </a:prstGeom>
          <a:solidFill>
            <a:srgbClr val="E55934"/>
          </a:solidFill>
          <a:ln/>
        </p:spPr>
      </p:sp>
      <p:sp>
        <p:nvSpPr>
          <p:cNvPr id="27" name="Text 25"/>
          <p:cNvSpPr/>
          <p:nvPr/>
        </p:nvSpPr>
        <p:spPr>
          <a:xfrm>
            <a:off x="6202680" y="3977640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 1 次抽筋 → 全校停课 1 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闯关灵感：来自全球现象级体能赛事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HYROX——2017 年德国汉堡诞生，全球最大室内体能比赛，8 站点 + 跑动的范式定义者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063240"/>
          </a:xfrm>
          <a:prstGeom prst="roundRect">
            <a:avLst>
              <a:gd name="adj" fmla="val 2388"/>
            </a:avLst>
          </a:prstGeom>
          <a:solidFill>
            <a:srgbClr val="0E2E1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HYROX 赛事速览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德国汉堡首场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650 人参赛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8745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国家覆盖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年全球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150万+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累计参与者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日常健身人群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6040" y="27889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平均完赛时间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8km 跑 + 8 站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个功能站点（固定顺序，全球统一）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SkiErg · 推雪橇 · 拉雪橇 · 波比跳远 · 划船机 · 农夫行走 · 沙袋弓步 · 墙球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6289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F4F8F2"/>
          </a:solidFill>
          <a:ln w="25400">
            <a:solidFill>
              <a:srgbClr val="1F5D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371600"/>
            <a:ext cx="109728" cy="3063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校园闯关小勇士：校园化改造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12080" y="192024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6E7B72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920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1km 跑动间隔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19202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1F5D3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200–400m 慢跑/快走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242316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6E7B72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雪橇/滑雪机/墙球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0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40880" y="242316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1F5D3A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跳绳/实心球/标志桶（器材复用）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292608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6E7B72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全球排名竞速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6656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040880" y="292608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1F5D3A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只跟自己比，PB 进步幅度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2080" y="342900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6E7B72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成人高强度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0" y="3429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040880" y="342900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1F5D3A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0" y="3429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三级分层 + 心率管控 + 应急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393192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6E7B72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付费参赛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6656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040880" y="393192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1F5D3A"/>
          </a:solidFill>
          <a:ln/>
        </p:spPr>
      </p:sp>
      <p:sp>
        <p:nvSpPr>
          <p:cNvPr id="49" name="Text 47"/>
          <p:cNvSpPr/>
          <p:nvPr/>
        </p:nvSpPr>
        <p:spPr>
          <a:xfrm>
            <a:off x="704088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学校包年授权，0 备课开课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52628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E55934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4526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品牌合规声明：HYROX 为其注册商标，本产品与 HYROX 官方无任何关联。校园闯关小勇士为独立命名的校园化产品，不竞速、不排名、降强度。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我们要做的，不是再来一次「传统体能课」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循环体能课需要的，不是再来一次「全班统测 + 强度一刀切」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5D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关键不是「练得多」，而是「</a:t>
            </a: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分层可达 / 过程可见 / 安全可控 / 评价有据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10972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分层可达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基础/进阶/挑战 3 级 × 8 站点，按 BMI + 既往伤病自动锁定起点，禁止「一刀切」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011680"/>
            <a:ext cx="10972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031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过程可见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移动端实时记 PB + 派奖章，Web 端自动汇总个人时间线——只看自己历史，不做班级排名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10972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747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心率 85% 阈值告警 + 长按 3s 应急一键 + 5 大场景处置流程 + 纸质兜底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3832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383280"/>
            <a:ext cx="10972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4747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评价有据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维度过程性评价（PB 进步占 30%，不拼速度），自动折算平时分，对接国家体质健康标准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教师端核心闭环：6 步完成一周备课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端·准备模式　｜　一条简单、可重复的备课路径　｜　每一步目标不是「填表」，而是「带着手机就能进操场」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295400" cy="1280160"/>
          </a:xfrm>
          <a:prstGeom prst="roundRect">
            <a:avLst>
              <a:gd name="adj" fmla="val 5714"/>
            </a:avLst>
          </a:prstGeom>
          <a:solidFill>
            <a:srgbClr val="1F5D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129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295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1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按学段套用大单元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06880" y="1965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44040" y="1554480"/>
            <a:ext cx="1295400" cy="1280160"/>
          </a:xfrm>
          <a:prstGeom prst="roundRect">
            <a:avLst>
              <a:gd name="adj" fmla="val 5714"/>
            </a:avLst>
          </a:prstGeom>
          <a:solidFill>
            <a:srgbClr val="11422A"/>
          </a:solidFill>
          <a:ln/>
        </p:spPr>
      </p:sp>
      <p:sp>
        <p:nvSpPr>
          <p:cNvPr id="11" name="Text 9"/>
          <p:cNvSpPr/>
          <p:nvPr/>
        </p:nvSpPr>
        <p:spPr>
          <a:xfrm>
            <a:off x="1844040" y="1645920"/>
            <a:ext cx="129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44040" y="1920240"/>
            <a:ext cx="1295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拖排站点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35480" y="2331720"/>
            <a:ext cx="111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72 套方案中挑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93720" y="1965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30880" y="1554480"/>
            <a:ext cx="1295400" cy="1280160"/>
          </a:xfrm>
          <a:prstGeom prst="roundRect">
            <a:avLst>
              <a:gd name="adj" fmla="val 5714"/>
            </a:avLst>
          </a:prstGeom>
          <a:solidFill>
            <a:srgbClr val="1F5D3A"/>
          </a:solidFill>
          <a:ln/>
        </p:spPr>
      </p:sp>
      <p:sp>
        <p:nvSpPr>
          <p:cNvPr id="16" name="Text 14"/>
          <p:cNvSpPr/>
          <p:nvPr/>
        </p:nvSpPr>
        <p:spPr>
          <a:xfrm>
            <a:off x="3230880" y="1645920"/>
            <a:ext cx="129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30880" y="1920240"/>
            <a:ext cx="1295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设分组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22320" y="2331720"/>
            <a:ext cx="111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人一组，角色轮换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1965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1554480"/>
            <a:ext cx="1295400" cy="1280160"/>
          </a:xfrm>
          <a:prstGeom prst="roundRect">
            <a:avLst>
              <a:gd name="adj" fmla="val 5714"/>
            </a:avLst>
          </a:prstGeom>
          <a:solidFill>
            <a:srgbClr val="11422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1645920"/>
            <a:ext cx="129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920240"/>
            <a:ext cx="1295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布场地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2331720"/>
            <a:ext cx="111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上传底图，拖拽布置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67400" y="1965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04560" y="1554480"/>
            <a:ext cx="1295400" cy="1280160"/>
          </a:xfrm>
          <a:prstGeom prst="roundRect">
            <a:avLst>
              <a:gd name="adj" fmla="val 5714"/>
            </a:avLst>
          </a:prstGeom>
          <a:solidFill>
            <a:srgbClr val="1F5D3A"/>
          </a:solidFill>
          <a:ln/>
        </p:spPr>
      </p:sp>
      <p:sp>
        <p:nvSpPr>
          <p:cNvPr id="26" name="Text 24"/>
          <p:cNvSpPr/>
          <p:nvPr/>
        </p:nvSpPr>
        <p:spPr>
          <a:xfrm>
            <a:off x="6004560" y="1645920"/>
            <a:ext cx="129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04560" y="1920240"/>
            <a:ext cx="1295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一键下发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96000" y="2331720"/>
            <a:ext cx="111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推移动端 + 班级二维码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54240" y="1965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91400" y="1554480"/>
            <a:ext cx="1295400" cy="1280160"/>
          </a:xfrm>
          <a:prstGeom prst="roundRect">
            <a:avLst>
              <a:gd name="adj" fmla="val 5714"/>
            </a:avLst>
          </a:prstGeom>
          <a:solidFill>
            <a:srgbClr val="11422A"/>
          </a:solidFill>
          <a:ln/>
        </p:spPr>
      </p:sp>
      <p:sp>
        <p:nvSpPr>
          <p:cNvPr id="31" name="Text 29"/>
          <p:cNvSpPr/>
          <p:nvPr/>
        </p:nvSpPr>
        <p:spPr>
          <a:xfrm>
            <a:off x="7391400" y="1645920"/>
            <a:ext cx="129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91400" y="1920240"/>
            <a:ext cx="1295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课后反馈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82840" y="2331720"/>
            <a:ext cx="111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分钟汇总与发章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　</a:t>
            </a:r>
            <a:r>
              <a:rPr lang="en-US" sz="12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锚定课标 　✓ 难度匹配 　✓ 分组轮换 　✓ 风险预案 　✓ 评价口径一致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主权声明：最终难度配置与奖章认定权，归教师。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0E2E1D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交付形态：6 课时大单元 · 8 站点 × 3 难度 × 3 学段 = 72 套标准方案 · 144+ 替代动作 · 一键 PDF 场地图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4251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→ 移动：备课包 ≤ 3s 下发；离线 7 天数据不丢；纸质兜底全课可用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移动课堂模式：5 步掌控全课节奏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操场不是办公室——一屏一主任务，触屏 + 长按防误触 + 大字号 + 离线优先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297680" cy="585216"/>
          </a:xfrm>
          <a:prstGeom prst="roundRect">
            <a:avLst>
              <a:gd name="adj" fmla="val 9375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加载本课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 / 离线缓存，3s 进课表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4297680" cy="585216"/>
          </a:xfrm>
          <a:prstGeom prst="roundRect">
            <a:avLst>
              <a:gd name="adj" fmla="val 9375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93976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93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0482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 + 健康确认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2768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扫胸卡 / 手环 / 手选三档降级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4297680" cy="585216"/>
          </a:xfrm>
          <a:prstGeom prst="roundRect">
            <a:avLst>
              <a:gd name="adj" fmla="val 9375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24912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6791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开始闯关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9077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大字号 60s 倒计时 + 语音 + 震动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64408"/>
            <a:ext cx="4297680" cy="585216"/>
          </a:xfrm>
          <a:prstGeom prst="roundRect">
            <a:avLst>
              <a:gd name="adj" fmla="val 9375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55848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3101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实时发章 + 记 PB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5387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 1s 防误触，本地暂存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95344"/>
            <a:ext cx="4297680" cy="585216"/>
          </a:xfrm>
          <a:prstGeom prst="roundRect">
            <a:avLst>
              <a:gd name="adj" fmla="val 9375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986784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9410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应急一键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1696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 3s 启动 5 大场景处置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1371600"/>
            <a:ext cx="3017520" cy="3246120"/>
          </a:xfrm>
          <a:prstGeom prst="roundRect">
            <a:avLst>
              <a:gd name="adj" fmla="val 6061"/>
            </a:avLst>
          </a:prstGeom>
          <a:solidFill>
            <a:srgbClr val="0E2E1D"/>
          </a:solidFill>
          <a:ln/>
        </p:spPr>
      </p:sp>
      <p:sp>
        <p:nvSpPr>
          <p:cNvPr id="31" name="Shape 29"/>
          <p:cNvSpPr/>
          <p:nvPr/>
        </p:nvSpPr>
        <p:spPr>
          <a:xfrm>
            <a:off x="5321808" y="1600200"/>
            <a:ext cx="2798064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321808" y="1600200"/>
            <a:ext cx="2798064" cy="32004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3" name="Text 31"/>
          <p:cNvSpPr/>
          <p:nvPr/>
        </p:nvSpPr>
        <p:spPr>
          <a:xfrm>
            <a:off x="5321808" y="160020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S03 · 标志桶敏捷梯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205740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00:38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5321808" y="306324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· 2/8 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3383280"/>
            <a:ext cx="457200" cy="457200"/>
          </a:xfrm>
          <a:prstGeom prst="ellipse">
            <a:avLst/>
          </a:prstGeom>
          <a:solidFill>
            <a:srgbClr val="F4F8F2"/>
          </a:solidFill>
          <a:ln w="381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0" y="3977640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 1s 发放奖章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212080" y="429768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42976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100ms 响应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29400" y="429768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1F5D3A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42976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强光/湿手可用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46720" y="42976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E55934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42976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7 天不丢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297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59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设备没电 → </a:t>
            </a: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 PB 卡兜底 → </a:t>
            </a:r>
            <a:r>
              <a:rPr lang="en-US" sz="10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 Web 补录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公开课与教研闭环：教研员看到的是「足迹」，不是「一张成绩单」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端·管理视角　｜　可追溯的教研资产，而非一次性教案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21280" cy="2194560"/>
          </a:xfrm>
          <a:prstGeom prst="roundRect">
            <a:avLst>
              <a:gd name="adj" fmla="val 3333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21280" cy="45720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179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公开课案例库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套已落地公开课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小学/初中/高中各 3 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5351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803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+ 教案 + 反思，可下载即用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1360" y="1417320"/>
            <a:ext cx="2621280" cy="2194560"/>
          </a:xfrm>
          <a:prstGeom prst="roundRect">
            <a:avLst>
              <a:gd name="adj" fmla="val 3333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1360" y="1417320"/>
            <a:ext cx="2621280" cy="45720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344424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92880" y="1463040"/>
            <a:ext cx="179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过程性评价 5 维度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44240" y="213055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3627120" y="205740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 20% + 完赛 20% + PB 进步 30%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44240" y="254203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3627120" y="246888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奖章 20% + 品德 10%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44240" y="295351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627120" y="28803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 进步取代绝对成绩，不竞速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65520" y="1417320"/>
            <a:ext cx="2621280" cy="2194560"/>
          </a:xfrm>
          <a:prstGeom prst="roundRect">
            <a:avLst>
              <a:gd name="adj" fmla="val 3333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65520" y="1417320"/>
            <a:ext cx="2621280" cy="45720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27" name="Text 25"/>
          <p:cNvSpPr/>
          <p:nvPr/>
        </p:nvSpPr>
        <p:spPr>
          <a:xfrm>
            <a:off x="624840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97040" y="1463040"/>
            <a:ext cx="179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学期报表三视图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48400" y="213055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431280" y="205740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 / 个人 / 年级 三维度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8400" y="254203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6431280" y="246888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+ Excel 双格式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48400" y="295351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431280" y="28803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一键对接平时分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E2E1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可追溯链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课程边界（学段标准）  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0" y="41605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能力约束（分层 + 心率）  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80560" y="41605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4805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生成策略（站点 + 难度）  →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41605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学生证据（PB + 奖章 + 师评）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闯关智能体：一次编排产出「课堂包」与「教研报告」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双端口径一致　｜　一次调用，省算力、约束同源、记录同源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输入原料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教案模板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学生健康档案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场地器材清单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1F5D3A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中央引擎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一次编排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学段匹配 · 难度分层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风险预案 · 评价口径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5087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移动端：课堂包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14884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5593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148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端：教研报告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154680"/>
            <a:ext cx="2621280" cy="1554480"/>
          </a:xfrm>
          <a:prstGeom prst="roundRect">
            <a:avLst>
              <a:gd name="adj" fmla="val 470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🗂️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264408"/>
            <a:ext cx="188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闯关编排：只出草案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794760"/>
            <a:ext cx="2346960" cy="36576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79476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自动匹配学段 + 难度模板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4206240"/>
            <a:ext cx="234696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20624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教师逐课时审核后才下发移动端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1360" y="3154680"/>
            <a:ext cx="2621280" cy="1554480"/>
          </a:xfrm>
          <a:prstGeom prst="roundRect">
            <a:avLst>
              <a:gd name="adj" fmla="val 470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8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01440" y="3264408"/>
            <a:ext cx="188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难度分层：不越权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98520" y="3794760"/>
            <a:ext cx="2346960" cy="36576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3398520" y="379476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基于 BMI + 既往伤病锁定基础难度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98520" y="4206240"/>
            <a:ext cx="234696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3398520" y="420624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学生升级必须教师评估签字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65520" y="3154680"/>
            <a:ext cx="2621280" cy="1554480"/>
          </a:xfrm>
          <a:prstGeom prst="roundRect">
            <a:avLst>
              <a:gd name="adj" fmla="val 470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26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05600" y="3264408"/>
            <a:ext cx="188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过程性评价：留判断权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02680" y="3794760"/>
            <a:ext cx="2346960" cy="36576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6202680" y="379476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自动折算 5 维度平时分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02680" y="4206240"/>
            <a:ext cx="234696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6202680" y="420624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重大判定标记「需人工复核」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给学校的「定心丸」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面向教学一线 + 未成年人，合规不是加分项，是入场券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F5D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判断不越界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32588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数据不出校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21280" cy="1234440"/>
          </a:xfrm>
          <a:prstGeom prst="roundRect">
            <a:avLst>
              <a:gd name="adj" fmla="val 592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103120"/>
            <a:ext cx="502920" cy="50292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179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品牌合规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 HYROX 商标；产品/课程/文案/海报/域名独立命名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1360" y="1920240"/>
            <a:ext cx="2621280" cy="1234440"/>
          </a:xfrm>
          <a:prstGeom prst="roundRect">
            <a:avLst>
              <a:gd name="adj" fmla="val 592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8520" y="2103120"/>
            <a:ext cx="502920" cy="50292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16" name="Text 14"/>
          <p:cNvSpPr/>
          <p:nvPr/>
        </p:nvSpPr>
        <p:spPr>
          <a:xfrm>
            <a:off x="3398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92880" y="2103120"/>
            <a:ext cx="179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健康前置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44240" y="26974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 ≥ 28 + 既往损伤 + 特异体质 → 默认基础难度 + 红色警示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65520" y="1920240"/>
            <a:ext cx="2621280" cy="1234440"/>
          </a:xfrm>
          <a:prstGeom prst="roundRect">
            <a:avLst>
              <a:gd name="adj" fmla="val 592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2680" y="2103120"/>
            <a:ext cx="502920" cy="50292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02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97040" y="2103120"/>
            <a:ext cx="179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心率管控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48400" y="26974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85% 最大心率 → 红屏 + 震动 + 语音告警（手表断连降级 RPE）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2621280" cy="1234440"/>
          </a:xfrm>
          <a:prstGeom prst="roundRect">
            <a:avLst>
              <a:gd name="adj" fmla="val 592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520440"/>
            <a:ext cx="502920" cy="50292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520440"/>
            <a:ext cx="179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应急一键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 3s 启动 5 大场景流程，校医 + 120 一键拨打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61360" y="3337560"/>
            <a:ext cx="2621280" cy="1234440"/>
          </a:xfrm>
          <a:prstGeom prst="roundRect">
            <a:avLst>
              <a:gd name="adj" fmla="val 592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98520" y="3520440"/>
            <a:ext cx="502920" cy="50292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31" name="Text 29"/>
          <p:cNvSpPr/>
          <p:nvPr/>
        </p:nvSpPr>
        <p:spPr>
          <a:xfrm>
            <a:off x="3398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92880" y="3520440"/>
            <a:ext cx="179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数据最小化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44240" y="411480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健康档案加密本地存储；不接入第三方；毕业后按校规销毁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65520" y="3337560"/>
            <a:ext cx="2621280" cy="1234440"/>
          </a:xfrm>
          <a:prstGeom prst="roundRect">
            <a:avLst>
              <a:gd name="adj" fmla="val 5926"/>
            </a:avLst>
          </a:prstGeom>
          <a:solidFill>
            <a:srgbClr val="F4F8F2"/>
          </a:solidFill>
          <a:ln w="12700">
            <a:solidFill>
              <a:srgbClr val="1F5D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02680" y="3520440"/>
            <a:ext cx="502920" cy="502920"/>
          </a:xfrm>
          <a:prstGeom prst="ellipse">
            <a:avLst/>
          </a:prstGeom>
          <a:solidFill>
            <a:srgbClr val="1F5D3A"/>
          </a:solidFill>
          <a:ln/>
        </p:spPr>
      </p:sp>
      <p:sp>
        <p:nvSpPr>
          <p:cNvPr id="36" name="Text 34"/>
          <p:cNvSpPr/>
          <p:nvPr/>
        </p:nvSpPr>
        <p:spPr>
          <a:xfrm>
            <a:off x="62026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97040" y="3520440"/>
            <a:ext cx="179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48400" y="411480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教师速通手册强制阅读 + 签字；学校采购安全评估清单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核心卖点：6 大差异化优势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市场上目前没有「标准化 + 可商用 + 含安全体系」的循环体能教学产品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21280" cy="1325880"/>
          </a:xfrm>
          <a:prstGeom prst="roundRect">
            <a:avLst>
              <a:gd name="adj" fmla="val 5517"/>
            </a:avLst>
          </a:prstGeom>
          <a:solidFill>
            <a:srgbClr val="1F5D3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5448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79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校园化降强度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小学版难度再降一档；跳绳连续 ≤ 30s；取消农夫行走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1360" y="1417320"/>
            <a:ext cx="2621280" cy="1325880"/>
          </a:xfrm>
          <a:prstGeom prst="roundRect">
            <a:avLst>
              <a:gd name="adj" fmla="val 5517"/>
            </a:avLst>
          </a:prstGeom>
          <a:solidFill>
            <a:srgbClr val="1142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98520" y="155448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39852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92880" y="1554480"/>
            <a:ext cx="179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不竞速排名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4240" y="196596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只跟自己比；PB 进步幅度取代绝对成绩；禁止班级排行榜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417320"/>
            <a:ext cx="2621280" cy="1325880"/>
          </a:xfrm>
          <a:prstGeom prst="roundRect">
            <a:avLst>
              <a:gd name="adj" fmla="val 5517"/>
            </a:avLst>
          </a:prstGeom>
          <a:solidFill>
            <a:srgbClr val="1F5D3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2680" y="155448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20268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7040" y="1554480"/>
            <a:ext cx="179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站 × 3 难度 × 3 学段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8400" y="196596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套标准方案 + 144+ 替代动作；覆盖小学/初中/高中全学段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21280" cy="1325880"/>
          </a:xfrm>
          <a:prstGeom prst="roundRect">
            <a:avLst>
              <a:gd name="adj" fmla="val 5517"/>
            </a:avLst>
          </a:prstGeom>
          <a:solidFill>
            <a:srgbClr val="1142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6324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063240"/>
            <a:ext cx="179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双端协同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准备模式 + 移动课堂模式；离线 7 天数据不丢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1360" y="2926080"/>
            <a:ext cx="2621280" cy="1325880"/>
          </a:xfrm>
          <a:prstGeom prst="roundRect">
            <a:avLst>
              <a:gd name="adj" fmla="val 5517"/>
            </a:avLst>
          </a:prstGeom>
          <a:solidFill>
            <a:srgbClr val="1F5D3A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8520" y="306324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339852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92880" y="3063240"/>
            <a:ext cx="179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纸质兜底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44240" y="347472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设备没电/无网/故障，纸质 PB 卡 + 教案 PDF 全课可用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65520" y="2926080"/>
            <a:ext cx="2621280" cy="1325880"/>
          </a:xfrm>
          <a:prstGeom prst="roundRect">
            <a:avLst>
              <a:gd name="adj" fmla="val 5517"/>
            </a:avLst>
          </a:prstGeom>
          <a:solidFill>
            <a:srgbClr val="11422A"/>
          </a:solidFill>
          <a:ln/>
        </p:spPr>
      </p:sp>
      <p:sp>
        <p:nvSpPr>
          <p:cNvPr id="31" name="Shape 29"/>
          <p:cNvSpPr/>
          <p:nvPr/>
        </p:nvSpPr>
        <p:spPr>
          <a:xfrm>
            <a:off x="6202680" y="306324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620268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97040" y="3063240"/>
            <a:ext cx="179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品牌合规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48400" y="347472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HYROX 无任何关联；全文搜 HYROX = 0 命中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一句话总结：把「竞速体能」变成「分层闯关」，把「教师经验」变成「可下载的安全体系」。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1F5D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8028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产品节奏与里程碑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跑通 4 所学校公开课，V1.5 引入学生扫码端，V2.0 引入班级赛事系统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F5D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MVP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0–6 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11887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准备模式 + 移动课堂模式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教案资源包（小学/初中/高中各 6 课时）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6–9 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377440"/>
            <a:ext cx="11887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学生扫码端（微信小程序）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班级赛事雏形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55934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9–18 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377440"/>
            <a:ext cx="11887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教师线上认证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班级赛事完整版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评价对接学校系统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1422A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18+ 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377440"/>
            <a:ext cx="11887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区域数据看板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智能分层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校际挑战赛（仅 PB 进步幅度）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0E2E1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业务目标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所学校公开课试点 · 付费学校 ≥ 30 所 · 教师 NPS ≥ 40 · 0 起运动伤害投诉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6E7B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校园闯关小勇士 · 产品介绍　｜　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1097280"/>
            <a:ext cx="2560320" cy="2560320"/>
          </a:xfrm>
          <a:prstGeom prst="ellipse">
            <a:avLst/>
          </a:prstGeom>
          <a:ln w="381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192024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让每节体育课，都被认真回应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让老师的备课有抓手，让学生的进步被看见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7490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 · 公开课共建 · 试用邀请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&lt;公司全称&gt;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 期待合作 · 2026-09-15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1093</Words>
  <Application>Microsoft Office PowerPoint</Application>
  <PresentationFormat>全屏显示(16:9)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智丽 殷</cp:lastModifiedBy>
  <cp:revision>2</cp:revision>
  <dcterms:created xsi:type="dcterms:W3CDTF">2026-09-15T08:18:50Z</dcterms:created>
  <dcterms:modified xsi:type="dcterms:W3CDTF">2026-09-15T14:19:43Z</dcterms:modified>
</cp:coreProperties>
</file>
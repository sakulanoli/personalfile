
<file path=[Content_Types].xml><?xml version="1.0" encoding="utf-8"?>
<Types xmlns="http://schemas.openxmlformats.org/package/2006/content-types">
  <Default Extension="jpeg" ContentType="image/jpeg"/>
  <Default Extension="rels" ContentType="application/vnd.openxmlformats-package.relationships+xml"/>
  <Default Extension="xml" ContentType="application/xml"/>
  <Override PartName="/ppt/presentation.xml" ContentType="application/vnd.openxmlformats-officedocument.presentationml.presentation.main+xml"/>
  <Override PartName="/ppt/slideMasters/slideMaster1.xml" ContentType="application/vnd.openxmlformats-officedocument.presentationml.slideMaster+xml"/>
  <Override PartName="/ppt/slides/slide1.xml" ContentType="application/vnd.openxmlformats-officedocument.presentationml.slide+xml"/>
  <Override PartName="/ppt/slides/slide2.xml" ContentType="application/vnd.openxmlformats-officedocument.presentationml.slide+xml"/>
  <Override PartName="/ppt/slides/slide3.xml" ContentType="application/vnd.openxmlformats-officedocument.presentationml.slide+xml"/>
  <Override PartName="/ppt/slides/slide4.xml" ContentType="application/vnd.openxmlformats-officedocument.presentationml.slide+xml"/>
  <Override PartName="/ppt/slides/slide5.xml" ContentType="application/vnd.openxmlformats-officedocument.presentationml.slide+xml"/>
  <Override PartName="/ppt/slides/slide6.xml" ContentType="application/vnd.openxmlformats-officedocument.presentationml.slide+xml"/>
  <Override PartName="/ppt/slides/slide7.xml" ContentType="application/vnd.openxmlformats-officedocument.presentationml.slide+xml"/>
  <Override PartName="/ppt/notesMasters/notesMaster1.xml" ContentType="application/vnd.openxmlformats-officedocument.presentationml.notesMaster+xml"/>
  <Override PartName="/ppt/presProps.xml" ContentType="application/vnd.openxmlformats-officedocument.presentationml.presProps+xml"/>
  <Override PartName="/ppt/viewProps.xml" ContentType="application/vnd.openxmlformats-officedocument.presentationml.viewProps+xml"/>
  <Override PartName="/ppt/theme/theme1.xml" ContentType="application/vnd.openxmlformats-officedocument.theme+xml"/>
  <Override PartName="/ppt/tableStyles.xml" ContentType="application/vnd.openxmlformats-officedocument.presentationml.tableStyles+xml"/>
  <Override PartName="/ppt/slideLayouts/slideLayout1.xml" ContentType="application/vnd.openxmlformats-officedocument.presentationml.slideLayout+xml"/>
  <Override PartName="/ppt/slideLayouts/slideLayout2.xml" ContentType="application/vnd.openxmlformats-officedocument.presentationml.slideLayout+xml"/>
  <Override PartName="/ppt/slideLayouts/slideLayout3.xml" ContentType="application/vnd.openxmlformats-officedocument.presentationml.slideLayout+xml"/>
  <Override PartName="/ppt/slideLayouts/slideLayout4.xml" ContentType="application/vnd.openxmlformats-officedocument.presentationml.slideLayout+xml"/>
  <Override PartName="/ppt/slideLayouts/slideLayout5.xml" ContentType="application/vnd.openxmlformats-officedocument.presentationml.slideLayout+xml"/>
  <Override PartName="/ppt/slideLayouts/slideLayout6.xml" ContentType="application/vnd.openxmlformats-officedocument.presentationml.slideLayout+xml"/>
  <Override PartName="/ppt/slideLayouts/slideLayout7.xml" ContentType="application/vnd.openxmlformats-officedocument.presentationml.slideLayout+xml"/>
  <Override PartName="/ppt/slideLayouts/slideLayout8.xml" ContentType="application/vnd.openxmlformats-officedocument.presentationml.slideLayout+xml"/>
  <Override PartName="/ppt/slideLayouts/slideLayout9.xml" ContentType="application/vnd.openxmlformats-officedocument.presentationml.slideLayout+xml"/>
  <Override PartName="/ppt/slideLayouts/slideLayout10.xml" ContentType="application/vnd.openxmlformats-officedocument.presentationml.slideLayout+xml"/>
  <Override PartName="/ppt/slideLayouts/slideLayout11.xml" ContentType="application/vnd.openxmlformats-officedocument.presentationml.slideLayout+xml"/>
  <Override PartName="/ppt/theme/theme2.xml" ContentType="application/vnd.openxmlformats-officedocument.theme+xml"/>
  <Override PartName="/ppt/notesSlides/notesSlide1.xml" ContentType="application/vnd.openxmlformats-officedocument.presentationml.notesSlide+xml"/>
  <Override PartName="/ppt/notesSlides/notesSlide2.xml" ContentType="application/vnd.openxmlformats-officedocument.presentationml.notesSlide+xml"/>
  <Override PartName="/ppt/notesSlides/notesSlide3.xml" ContentType="application/vnd.openxmlformats-officedocument.presentationml.notesSlide+xml"/>
  <Override PartName="/ppt/notesSlides/notesSlide4.xml" ContentType="application/vnd.openxmlformats-officedocument.presentationml.notesSlide+xml"/>
  <Override PartName="/ppt/notesSlides/notesSlide5.xml" ContentType="application/vnd.openxmlformats-officedocument.presentationml.notesSlide+xml"/>
  <Override PartName="/ppt/notesSlides/notesSlide6.xml" ContentType="application/vnd.openxmlformats-officedocument.presentationml.notesSlide+xml"/>
  <Override PartName="/ppt/notesSlides/notesSlide7.xml" ContentType="application/vnd.openxmlformats-officedocument.presentationml.notesSlide+xml"/>
  <Override PartName="/docProps/core.xml" ContentType="application/vnd.openxmlformats-package.core-properties+xml"/>
  <Override PartName="/docProps/app.xml" ContentType="application/vnd.openxmlformats-officedocument.extended-properties+xml"/>
</Types>
</file>

<file path=_rels/.rels><?xml version="1.0" encoding="UTF-8" standalone="yes"?>
<Relationships xmlns="http://schemas.openxmlformats.org/package/2006/relationships"><Relationship Id="rId3" Type="http://schemas.openxmlformats.org/package/2006/relationships/metadata/core-properties" Target="docProps/core.xml"/><Relationship Id="rId2" Type="http://schemas.openxmlformats.org/package/2006/relationships/metadata/thumbnail" Target="docProps/thumbnail.jpeg"/><Relationship Id="rId1" Type="http://schemas.openxmlformats.org/officeDocument/2006/relationships/officeDocument" Target="ppt/presentation.xml"/><Relationship Id="rId4" Type="http://schemas.openxmlformats.org/officeDocument/2006/relationships/extended-properties" Target="docProps/app.xml"/></Relationships>
</file>

<file path=ppt/presentation.xml><?xml version="1.0" encoding="utf-8"?>
<p:presentation xmlns:a="http://schemas.openxmlformats.org/drawingml/2006/main" xmlns:r="http://schemas.openxmlformats.org/officeDocument/2006/relationships" xmlns:p="http://schemas.openxmlformats.org/presentationml/2006/main" saveSubsetFonts="1" autoCompressPictures="0">
  <p:sldMasterIdLst>
    <p:sldMasterId id="2147483648" r:id="rId1"/>
  </p:sldMasterIdLst>
  <p:notesMasterIdLst>
    <p:notesMasterId r:id="rId9"/>
  </p:notesMasterIdLst>
  <p:sldIdLst>
    <p:sldId id="256" r:id="rId2"/>
    <p:sldId id="259" r:id="rId3"/>
    <p:sldId id="260" r:id="rId4"/>
    <p:sldId id="258" r:id="rId5"/>
    <p:sldId id="262" r:id="rId6"/>
    <p:sldId id="263" r:id="rId7"/>
    <p:sldId id="264" r:id="rId8"/>
  </p:sldIdLst>
  <p:sldSz cx="12192000" cy="6858000"/>
  <p:notesSz cx="6858000" cy="9144000"/>
  <p:defaultTextStyle>
    <a:defPPr>
      <a:defRPr lang="en-US"/>
    </a:defPPr>
    <a:lvl1pPr marL="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1pPr>
    <a:lvl2pPr marL="4572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2pPr>
    <a:lvl3pPr marL="9144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3pPr>
    <a:lvl4pPr marL="13716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4pPr>
    <a:lvl5pPr marL="18288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5pPr>
    <a:lvl6pPr marL="22860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6pPr>
    <a:lvl7pPr marL="27432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7pPr>
    <a:lvl8pPr marL="32004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8pPr>
    <a:lvl9pPr marL="36576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9pPr>
  </p:defaultTextStyle>
  <p:extLst>
    <p:ext uri="{EFAFB233-063F-42B5-8137-9DF3F51BA10A}">
      <p15:sldGuideLst xmlns:p15="http://schemas.microsoft.com/office/powerpoint/2012/main">
        <p15:guide id="1" orient="horz" pos="2160">
          <p15:clr>
            <a:srgbClr val="A4A3A4"/>
          </p15:clr>
        </p15:guide>
        <p15:guide id="2" pos="2880">
          <p15:clr>
            <a:srgbClr val="A4A3A4"/>
          </p15:clr>
        </p15:guide>
      </p15:sldGuideLst>
    </p:ext>
  </p:extLst>
</p:presentation>
</file>

<file path=ppt/presProps.xml><?xml version="1.0" encoding="utf-8"?>
<p:presentationPr xmlns:a="http://schemas.openxmlformats.org/drawingml/2006/main" xmlns:r="http://schemas.openxmlformats.org/officeDocument/2006/relationships" xmlns:p="http://schemas.openxmlformats.org/presentationml/2006/main">
  <p:extLst>
    <p:ext uri="{E76CE94A-603C-4142-B9EB-6D1370010A27}">
      <p14:discardImageEditData xmlns:p14="http://schemas.microsoft.com/office/powerpoint/2010/main" val="0"/>
    </p:ext>
    <p:ext uri="{D31A062A-798A-4329-ABDD-BBA856620510}">
      <p14:defaultImageDpi xmlns:p14="http://schemas.microsoft.com/office/powerpoint/2010/main" val="0"/>
    </p:ext>
    <p:ext uri="{FD5EFAAD-0ECE-453E-9831-46B23BE46B34}">
      <p15:chartTrackingRefBased xmlns:p15="http://schemas.microsoft.com/office/powerpoint/2012/main" val="0"/>
    </p:ext>
  </p:extLst>
</p:presentationPr>
</file>

<file path=ppt/tableStyles.xml><?xml version="1.0" encoding="utf-8"?>
<a:tblStyleLst xmlns:a="http://schemas.openxmlformats.org/drawingml/2006/main" def="{5C22544A-7EE6-4342-B048-85BDC9FD1C3A}"/>
</file>

<file path=ppt/viewProps.xml><?xml version="1.0" encoding="utf-8"?>
<p:viewPr xmlns:a="http://schemas.openxmlformats.org/drawingml/2006/main" xmlns:r="http://schemas.openxmlformats.org/officeDocument/2006/relationships" xmlns:p="http://schemas.openxmlformats.org/presentationml/2006/main" lastView="sldThumbnailView">
  <p:normalViewPr>
    <p:restoredLeft sz="15620"/>
    <p:restoredTop sz="94660"/>
  </p:normalViewPr>
  <p:slideViewPr>
    <p:cSldViewPr snapToGrid="0" snapToObjects="1">
      <p:cViewPr varScale="1">
        <p:scale>
          <a:sx n="108" d="100"/>
          <a:sy n="108" d="100"/>
        </p:scale>
        <p:origin x="600" y="39"/>
      </p:cViewPr>
      <p:guideLst>
        <p:guide orient="horz" pos="2160"/>
        <p:guide pos="2880"/>
      </p:guideLst>
    </p:cSldViewPr>
  </p:slideViewPr>
  <p:notesTextViewPr>
    <p:cViewPr>
      <p:scale>
        <a:sx n="100" d="100"/>
        <a:sy n="100" d="100"/>
      </p:scale>
      <p:origin x="0" y="0"/>
    </p:cViewPr>
  </p:notesTextViewPr>
  <p:gridSpacing cx="76200" cy="76200"/>
</p:viewPr>
</file>

<file path=ppt/_rels/presentation.xml.rels><?xml version="1.0" encoding="UTF-8" standalone="yes"?>
<Relationships xmlns="http://schemas.openxmlformats.org/package/2006/relationships"><Relationship Id="rId8" Type="http://schemas.openxmlformats.org/officeDocument/2006/relationships/slide" Target="slides/slide7.xml"/><Relationship Id="rId13" Type="http://schemas.openxmlformats.org/officeDocument/2006/relationships/tableStyles" Target="tableStyles.xml"/><Relationship Id="rId3" Type="http://schemas.openxmlformats.org/officeDocument/2006/relationships/slide" Target="slides/slide2.xml"/><Relationship Id="rId7" Type="http://schemas.openxmlformats.org/officeDocument/2006/relationships/slide" Target="slides/slide6.xml"/><Relationship Id="rId12" Type="http://schemas.openxmlformats.org/officeDocument/2006/relationships/theme" Target="theme/theme1.xml"/><Relationship Id="rId2" Type="http://schemas.openxmlformats.org/officeDocument/2006/relationships/slide" Target="slides/slide1.xml"/><Relationship Id="rId1" Type="http://schemas.openxmlformats.org/officeDocument/2006/relationships/slideMaster" Target="slideMasters/slideMaster1.xml"/><Relationship Id="rId6" Type="http://schemas.openxmlformats.org/officeDocument/2006/relationships/slide" Target="slides/slide5.xml"/><Relationship Id="rId11" Type="http://schemas.openxmlformats.org/officeDocument/2006/relationships/viewProps" Target="viewProps.xml"/><Relationship Id="rId5" Type="http://schemas.openxmlformats.org/officeDocument/2006/relationships/slide" Target="slides/slide4.xml"/><Relationship Id="rId10" Type="http://schemas.openxmlformats.org/officeDocument/2006/relationships/presProps" Target="presProps.xml"/><Relationship Id="rId4" Type="http://schemas.openxmlformats.org/officeDocument/2006/relationships/slide" Target="slides/slide3.xml"/><Relationship Id="rId9" Type="http://schemas.openxmlformats.org/officeDocument/2006/relationships/notesMaster" Target="notesMasters/notesMaster1.xml"/></Relationships>
</file>

<file path=ppt/notesMasters/_rels/notesMaster1.xml.rels><?xml version="1.0" encoding="UTF-8" standalone="yes"?>
<Relationships xmlns="http://schemas.openxmlformats.org/package/2006/relationships"><Relationship Id="rId1" Type="http://schemas.openxmlformats.org/officeDocument/2006/relationships/theme" Target="../theme/theme2.xml"/></Relationships>
</file>

<file path=ppt/notesMasters/notesMaster1.xml><?xml version="1.0" encoding="utf-8"?>
<p:notesMaster xmlns:a="http://schemas.openxmlformats.org/drawingml/2006/main" xmlns:r="http://schemas.openxmlformats.org/officeDocument/2006/relationships" xmlns:p="http://schemas.openxmlformats.org/presentationml/2006/main">
  <p:cSld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页眉占位符 1"/>
          <p:cNvSpPr>
            <a:spLocks noGrp="1"/>
          </p:cNvSpPr>
          <p:nvPr>
            <p:ph type="hdr" sz="quarter"/>
          </p:nvPr>
        </p:nvSpPr>
        <p:spPr>
          <a:xfrm>
            <a:off x="0" y="0"/>
            <a:ext cx="2971800" cy="458788"/>
          </a:xfrm>
          <a:prstGeom prst="rect">
            <a:avLst/>
          </a:prstGeom>
        </p:spPr>
        <p:txBody>
          <a:bodyPr vert="horz" lIns="91440" tIns="45720" rIns="91440" bIns="45720" rtlCol="0"/>
          <a:lstStyle>
            <a:lvl1pPr algn="l">
              <a:defRPr sz="1200"/>
            </a:lvl1pPr>
          </a:lstStyle>
          <a:p>
            <a:endParaRPr lang="zh-CN" altLang="en-US"/>
          </a:p>
        </p:txBody>
      </p:sp>
      <p:sp>
        <p:nvSpPr>
          <p:cNvPr id="3" name="日期占位符 2"/>
          <p:cNvSpPr>
            <a:spLocks noGrp="1"/>
          </p:cNvSpPr>
          <p:nvPr>
            <p:ph type="dt" idx="1"/>
          </p:nvPr>
        </p:nvSpPr>
        <p:spPr>
          <a:xfrm>
            <a:off x="3884613" y="0"/>
            <a:ext cx="2971800" cy="458788"/>
          </a:xfrm>
          <a:prstGeom prst="rect">
            <a:avLst/>
          </a:prstGeom>
        </p:spPr>
        <p:txBody>
          <a:bodyPr vert="horz" lIns="91440" tIns="45720" rIns="91440" bIns="45720" rtlCol="0"/>
          <a:lstStyle>
            <a:lvl1pPr algn="r">
              <a:defRPr sz="1200"/>
            </a:lvl1pPr>
          </a:lstStyle>
          <a:p>
            <a:fld id="{20D8CA7A-81C0-428C-A1AE-7C3E75DD9852}" type="datetimeFigureOut">
              <a:rPr lang="zh-CN" altLang="en-US" smtClean="0"/>
              <a:t>2026/9/23</a:t>
            </a:fld>
            <a:endParaRPr lang="zh-CN" altLang="en-US"/>
          </a:p>
        </p:txBody>
      </p:sp>
      <p:sp>
        <p:nvSpPr>
          <p:cNvPr id="4" name="幻灯片图像占位符 3"/>
          <p:cNvSpPr>
            <a:spLocks noGrp="1" noRot="1" noChangeAspect="1"/>
          </p:cNvSpPr>
          <p:nvPr>
            <p:ph type="sldImg" idx="2"/>
          </p:nvPr>
        </p:nvSpPr>
        <p:spPr>
          <a:xfrm>
            <a:off x="685800" y="1143000"/>
            <a:ext cx="5486400" cy="3086100"/>
          </a:xfrm>
          <a:prstGeom prst="rect">
            <a:avLst/>
          </a:prstGeom>
          <a:noFill/>
          <a:ln w="12700">
            <a:solidFill>
              <a:prstClr val="black"/>
            </a:solidFill>
          </a:ln>
        </p:spPr>
        <p:txBody>
          <a:bodyPr vert="horz" lIns="91440" tIns="45720" rIns="91440" bIns="45720" rtlCol="0" anchor="ctr"/>
          <a:lstStyle/>
          <a:p>
            <a:endParaRPr lang="zh-CN" altLang="en-US"/>
          </a:p>
        </p:txBody>
      </p:sp>
      <p:sp>
        <p:nvSpPr>
          <p:cNvPr id="5" name="备注占位符 4"/>
          <p:cNvSpPr>
            <a:spLocks noGrp="1"/>
          </p:cNvSpPr>
          <p:nvPr>
            <p:ph type="body" sz="quarter" idx="3"/>
          </p:nvPr>
        </p:nvSpPr>
        <p:spPr>
          <a:xfrm>
            <a:off x="685800" y="4400550"/>
            <a:ext cx="5486400" cy="3600450"/>
          </a:xfrm>
          <a:prstGeom prst="rect">
            <a:avLst/>
          </a:prstGeom>
        </p:spPr>
        <p:txBody>
          <a:bodyPr vert="horz" lIns="91440" tIns="45720" rIns="91440" bIns="45720" rtlCol="0"/>
          <a:lstStyle/>
          <a:p>
            <a:pPr lvl="0"/>
            <a:r>
              <a:rPr lang="zh-CN" altLang="en-US"/>
              <a:t>单击此处编辑母版文本样式</a:t>
            </a:r>
          </a:p>
          <a:p>
            <a:pPr lvl="1"/>
            <a:r>
              <a:rPr lang="zh-CN" altLang="en-US"/>
              <a:t>二级</a:t>
            </a:r>
          </a:p>
          <a:p>
            <a:pPr lvl="2"/>
            <a:r>
              <a:rPr lang="zh-CN" altLang="en-US"/>
              <a:t>三级</a:t>
            </a:r>
          </a:p>
          <a:p>
            <a:pPr lvl="3"/>
            <a:r>
              <a:rPr lang="zh-CN" altLang="en-US"/>
              <a:t>四级</a:t>
            </a:r>
          </a:p>
          <a:p>
            <a:pPr lvl="4"/>
            <a:r>
              <a:rPr lang="zh-CN" altLang="en-US"/>
              <a:t>五级</a:t>
            </a:r>
          </a:p>
        </p:txBody>
      </p:sp>
      <p:sp>
        <p:nvSpPr>
          <p:cNvPr id="6" name="页脚占位符 5"/>
          <p:cNvSpPr>
            <a:spLocks noGrp="1"/>
          </p:cNvSpPr>
          <p:nvPr>
            <p:ph type="ftr" sz="quarter" idx="4"/>
          </p:nvPr>
        </p:nvSpPr>
        <p:spPr>
          <a:xfrm>
            <a:off x="0" y="8685213"/>
            <a:ext cx="2971800" cy="458787"/>
          </a:xfrm>
          <a:prstGeom prst="rect">
            <a:avLst/>
          </a:prstGeom>
        </p:spPr>
        <p:txBody>
          <a:bodyPr vert="horz" lIns="91440" tIns="45720" rIns="91440" bIns="45720" rtlCol="0" anchor="b"/>
          <a:lstStyle>
            <a:lvl1pPr algn="l">
              <a:defRPr sz="1200"/>
            </a:lvl1pPr>
          </a:lstStyle>
          <a:p>
            <a:endParaRPr lang="zh-CN" altLang="en-US"/>
          </a:p>
        </p:txBody>
      </p:sp>
      <p:sp>
        <p:nvSpPr>
          <p:cNvPr id="7" name="灯片编号占位符 6"/>
          <p:cNvSpPr>
            <a:spLocks noGrp="1"/>
          </p:cNvSpPr>
          <p:nvPr>
            <p:ph type="sldNum" sz="quarter" idx="5"/>
          </p:nvPr>
        </p:nvSpPr>
        <p:spPr>
          <a:xfrm>
            <a:off x="3884613" y="8685213"/>
            <a:ext cx="2971800" cy="458787"/>
          </a:xfrm>
          <a:prstGeom prst="rect">
            <a:avLst/>
          </a:prstGeom>
        </p:spPr>
        <p:txBody>
          <a:bodyPr vert="horz" lIns="91440" tIns="45720" rIns="91440" bIns="45720" rtlCol="0" anchor="b"/>
          <a:lstStyle>
            <a:lvl1pPr algn="r">
              <a:defRPr sz="1200"/>
            </a:lvl1pPr>
          </a:lstStyle>
          <a:p>
            <a:fld id="{F6D88E16-0D90-43F4-BA45-606D52FB82BF}" type="slidenum">
              <a:rPr lang="zh-CN" altLang="en-US" smtClean="0"/>
              <a:t>‹#›</a:t>
            </a:fld>
            <a:endParaRPr lang="zh-CN" altLang="en-US"/>
          </a:p>
        </p:txBody>
      </p:sp>
    </p:spTree>
    <p:extLst>
      <p:ext uri="{BB962C8B-B14F-4D97-AF65-F5344CB8AC3E}">
        <p14:creationId xmlns:p14="http://schemas.microsoft.com/office/powerpoint/2010/main" val="3752827275"/>
      </p:ext>
    </p:extLst>
  </p:cSld>
  <p:clrMap bg1="lt1" tx1="dk1" bg2="lt2" tx2="dk2" accent1="accent1" accent2="accent2" accent3="accent3" accent4="accent4" accent5="accent5" accent6="accent6" hlink="hlink" folHlink="folHlink"/>
  <p:notesStyle>
    <a:lvl1pPr marL="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1pPr>
    <a:lvl2pPr marL="4572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2pPr>
    <a:lvl3pPr marL="9144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3pPr>
    <a:lvl4pPr marL="13716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4pPr>
    <a:lvl5pPr marL="18288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5pPr>
    <a:lvl6pPr marL="22860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6pPr>
    <a:lvl7pPr marL="27432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7pPr>
    <a:lvl8pPr marL="32004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8pPr>
    <a:lvl9pPr marL="36576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9pPr>
  </p:notesStyle>
</p:notesMaster>
</file>

<file path=ppt/notesSlides/_rels/notesSlide1.xml.rels><?xml version="1.0" encoding="UTF-8" standalone="yes"?>
<Relationships xmlns="http://schemas.openxmlformats.org/package/2006/relationships"><Relationship Id="rId2" Type="http://schemas.openxmlformats.org/officeDocument/2006/relationships/slide" Target="../slides/slide1.xml"/><Relationship Id="rId1" Type="http://schemas.openxmlformats.org/officeDocument/2006/relationships/notesMaster" Target="../notesMasters/notesMaster1.xml"/></Relationships>
</file>

<file path=ppt/notesSlides/_rels/notesSlide2.xml.rels><?xml version="1.0" encoding="UTF-8" standalone="yes"?>
<Relationships xmlns="http://schemas.openxmlformats.org/package/2006/relationships"><Relationship Id="rId2" Type="http://schemas.openxmlformats.org/officeDocument/2006/relationships/slide" Target="../slides/slide2.xml"/><Relationship Id="rId1" Type="http://schemas.openxmlformats.org/officeDocument/2006/relationships/notesMaster" Target="../notesMasters/notesMaster1.xml"/></Relationships>
</file>

<file path=ppt/notesSlides/_rels/notesSlide3.xml.rels><?xml version="1.0" encoding="UTF-8" standalone="yes"?>
<Relationships xmlns="http://schemas.openxmlformats.org/package/2006/relationships"><Relationship Id="rId2" Type="http://schemas.openxmlformats.org/officeDocument/2006/relationships/slide" Target="../slides/slide3.xml"/><Relationship Id="rId1" Type="http://schemas.openxmlformats.org/officeDocument/2006/relationships/notesMaster" Target="../notesMasters/notesMaster1.xml"/></Relationships>
</file>

<file path=ppt/notesSlides/_rels/notesSlide4.xml.rels><?xml version="1.0" encoding="UTF-8" standalone="yes"?>
<Relationships xmlns="http://schemas.openxmlformats.org/package/2006/relationships"><Relationship Id="rId2" Type="http://schemas.openxmlformats.org/officeDocument/2006/relationships/slide" Target="../slides/slide4.xml"/><Relationship Id="rId1" Type="http://schemas.openxmlformats.org/officeDocument/2006/relationships/notesMaster" Target="../notesMasters/notesMaster1.xml"/></Relationships>
</file>

<file path=ppt/notesSlides/_rels/notesSlide5.xml.rels><?xml version="1.0" encoding="UTF-8" standalone="yes"?>
<Relationships xmlns="http://schemas.openxmlformats.org/package/2006/relationships"><Relationship Id="rId2" Type="http://schemas.openxmlformats.org/officeDocument/2006/relationships/slide" Target="../slides/slide5.xml"/><Relationship Id="rId1" Type="http://schemas.openxmlformats.org/officeDocument/2006/relationships/notesMaster" Target="../notesMasters/notesMaster1.xml"/></Relationships>
</file>

<file path=ppt/notesSlides/_rels/notesSlide6.xml.rels><?xml version="1.0" encoding="UTF-8" standalone="yes"?>
<Relationships xmlns="http://schemas.openxmlformats.org/package/2006/relationships"><Relationship Id="rId2" Type="http://schemas.openxmlformats.org/officeDocument/2006/relationships/slide" Target="../slides/slide6.xml"/><Relationship Id="rId1" Type="http://schemas.openxmlformats.org/officeDocument/2006/relationships/notesMaster" Target="../notesMasters/notesMaster1.xml"/></Relationships>
</file>

<file path=ppt/notesSlides/_rels/notesSlide7.xml.rels><?xml version="1.0" encoding="UTF-8" standalone="yes"?>
<Relationships xmlns="http://schemas.openxmlformats.org/package/2006/relationships"><Relationship Id="rId2" Type="http://schemas.openxmlformats.org/officeDocument/2006/relationships/slide" Target="../slides/slide7.xml"/><Relationship Id="rId1" Type="http://schemas.openxmlformats.org/officeDocument/2006/relationships/notesMaster" Target="../notesMasters/notesMaster1.xml"/></Relationships>
</file>

<file path=ppt/notesSlides/notesSlide1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幻灯片图像占位符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备注占位符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zh-CN" altLang="zh-CN" sz="1200" b="0" i="0" kern="1200" dirty="0">
                <a:solidFill>
                  <a:schemeClr val="tx1"/>
                </a:solidFill>
                <a:effectLst/>
                <a:latin typeface="+mn-lt"/>
                <a:ea typeface="+mn-ea"/>
                <a:cs typeface="+mn-cs"/>
              </a:rPr>
              <a:t>“今天不聊 AI 会不会取代我们，聊一个更现实的问题——</a:t>
            </a:r>
            <a:r>
              <a:rPr lang="zh-CN" altLang="zh-CN" sz="1200" b="1" i="0" kern="1200" dirty="0">
                <a:solidFill>
                  <a:schemeClr val="tx1"/>
                </a:solidFill>
                <a:effectLst/>
                <a:latin typeface="+mn-lt"/>
                <a:ea typeface="+mn-ea"/>
                <a:cs typeface="+mn-cs"/>
              </a:rPr>
              <a:t>AI 是不是正在让我们每个人都长得越来越像？</a:t>
            </a:r>
            <a:r>
              <a:rPr lang="zh-CN" altLang="zh-CN" sz="1200" b="0" i="0" kern="1200" dirty="0">
                <a:solidFill>
                  <a:schemeClr val="tx1"/>
                </a:solidFill>
                <a:effectLst/>
                <a:latin typeface="+mn-lt"/>
                <a:ea typeface="+mn-ea"/>
                <a:cs typeface="+mn-cs"/>
              </a:rPr>
              <a:t> 我会给你 6 个观点、</a:t>
            </a:r>
            <a:r>
              <a:rPr lang="zh-CN" altLang="en-US" sz="1200" b="0" i="0" kern="1200" dirty="0">
                <a:solidFill>
                  <a:schemeClr val="tx1"/>
                </a:solidFill>
                <a:effectLst/>
                <a:latin typeface="+mn-lt"/>
                <a:ea typeface="+mn-ea"/>
                <a:cs typeface="+mn-cs"/>
              </a:rPr>
              <a:t>教育场景的</a:t>
            </a:r>
            <a:r>
              <a:rPr lang="zh-CN" altLang="zh-CN" sz="1200" b="0" i="0" kern="1200" dirty="0">
                <a:solidFill>
                  <a:schemeClr val="tx1"/>
                </a:solidFill>
                <a:effectLst/>
                <a:latin typeface="+mn-lt"/>
                <a:ea typeface="+mn-ea"/>
                <a:cs typeface="+mn-cs"/>
              </a:rPr>
              <a:t>三类立场</a:t>
            </a:r>
            <a:endParaRPr lang="zh-CN" altLang="en-US" dirty="0"/>
          </a:p>
        </p:txBody>
      </p:sp>
      <p:sp>
        <p:nvSpPr>
          <p:cNvPr id="4" name="灯片编号占位符 3"/>
          <p:cNvSpPr>
            <a:spLocks noGrp="1"/>
          </p:cNvSpPr>
          <p:nvPr>
            <p:ph type="sldNum" sz="quarter" idx="5"/>
          </p:nvPr>
        </p:nvSpPr>
        <p:spPr/>
        <p:txBody>
          <a:bodyPr/>
          <a:lstStyle/>
          <a:p>
            <a:fld id="{F6D88E16-0D90-43F4-BA45-606D52FB82BF}" type="slidenum">
              <a:rPr lang="zh-CN" altLang="en-US" smtClean="0"/>
              <a:t>1</a:t>
            </a:fld>
            <a:endParaRPr lang="zh-CN" altLang="en-US"/>
          </a:p>
        </p:txBody>
      </p:sp>
    </p:spTree>
    <p:extLst>
      <p:ext uri="{BB962C8B-B14F-4D97-AF65-F5344CB8AC3E}">
        <p14:creationId xmlns:p14="http://schemas.microsoft.com/office/powerpoint/2010/main" val="3672258961"/>
      </p:ext>
    </p:extLst>
  </p:cSld>
  <p:clrMapOvr>
    <a:masterClrMapping/>
  </p:clrMapOvr>
</p:notes>
</file>

<file path=ppt/notesSlides/notesSlide2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幻灯片图像占位符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备注占位符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endParaRPr lang="zh-CN" altLang="en-US"/>
          </a:p>
        </p:txBody>
      </p:sp>
      <p:sp>
        <p:nvSpPr>
          <p:cNvPr id="4" name="灯片编号占位符 3"/>
          <p:cNvSpPr>
            <a:spLocks noGrp="1"/>
          </p:cNvSpPr>
          <p:nvPr>
            <p:ph type="sldNum" sz="quarter" idx="5"/>
          </p:nvPr>
        </p:nvSpPr>
        <p:spPr/>
        <p:txBody>
          <a:bodyPr/>
          <a:lstStyle/>
          <a:p>
            <a:fld id="{F6D88E16-0D90-43F4-BA45-606D52FB82BF}" type="slidenum">
              <a:rPr lang="zh-CN" altLang="en-US" smtClean="0"/>
              <a:t>2</a:t>
            </a:fld>
            <a:endParaRPr lang="zh-CN" altLang="en-US"/>
          </a:p>
        </p:txBody>
      </p:sp>
    </p:spTree>
    <p:extLst>
      <p:ext uri="{BB962C8B-B14F-4D97-AF65-F5344CB8AC3E}">
        <p14:creationId xmlns:p14="http://schemas.microsoft.com/office/powerpoint/2010/main" val="1509486460"/>
      </p:ext>
    </p:extLst>
  </p:cSld>
  <p:clrMapOvr>
    <a:masterClrMapping/>
  </p:clrMapOvr>
</p:notes>
</file>

<file path=ppt/notesSlides/notesSlide3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幻灯片图像占位符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备注占位符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endParaRPr lang="zh-CN" altLang="en-US"/>
          </a:p>
        </p:txBody>
      </p:sp>
      <p:sp>
        <p:nvSpPr>
          <p:cNvPr id="4" name="灯片编号占位符 3"/>
          <p:cNvSpPr>
            <a:spLocks noGrp="1"/>
          </p:cNvSpPr>
          <p:nvPr>
            <p:ph type="sldNum" sz="quarter" idx="5"/>
          </p:nvPr>
        </p:nvSpPr>
        <p:spPr/>
        <p:txBody>
          <a:bodyPr/>
          <a:lstStyle/>
          <a:p>
            <a:fld id="{F6D88E16-0D90-43F4-BA45-606D52FB82BF}" type="slidenum">
              <a:rPr lang="zh-CN" altLang="en-US" smtClean="0"/>
              <a:t>3</a:t>
            </a:fld>
            <a:endParaRPr lang="zh-CN" altLang="en-US"/>
          </a:p>
        </p:txBody>
      </p:sp>
    </p:spTree>
    <p:extLst>
      <p:ext uri="{BB962C8B-B14F-4D97-AF65-F5344CB8AC3E}">
        <p14:creationId xmlns:p14="http://schemas.microsoft.com/office/powerpoint/2010/main" val="3808322603"/>
      </p:ext>
    </p:extLst>
  </p:cSld>
  <p:clrMapOvr>
    <a:masterClrMapping/>
  </p:clrMapOvr>
</p:notes>
</file>

<file path=ppt/notesSlides/notesSlide4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幻灯片图像占位符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备注占位符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endParaRPr lang="zh-CN" altLang="en-US"/>
          </a:p>
        </p:txBody>
      </p:sp>
      <p:sp>
        <p:nvSpPr>
          <p:cNvPr id="4" name="灯片编号占位符 3"/>
          <p:cNvSpPr>
            <a:spLocks noGrp="1"/>
          </p:cNvSpPr>
          <p:nvPr>
            <p:ph type="sldNum" sz="quarter" idx="5"/>
          </p:nvPr>
        </p:nvSpPr>
        <p:spPr/>
        <p:txBody>
          <a:bodyPr/>
          <a:lstStyle/>
          <a:p>
            <a:fld id="{F6D88E16-0D90-43F4-BA45-606D52FB82BF}" type="slidenum">
              <a:rPr lang="zh-CN" altLang="en-US" smtClean="0"/>
              <a:t>4</a:t>
            </a:fld>
            <a:endParaRPr lang="zh-CN" altLang="en-US"/>
          </a:p>
        </p:txBody>
      </p:sp>
    </p:spTree>
    <p:extLst>
      <p:ext uri="{BB962C8B-B14F-4D97-AF65-F5344CB8AC3E}">
        <p14:creationId xmlns:p14="http://schemas.microsoft.com/office/powerpoint/2010/main" val="3156284975"/>
      </p:ext>
    </p:extLst>
  </p:cSld>
  <p:clrMapOvr>
    <a:masterClrMapping/>
  </p:clrMapOvr>
</p:notes>
</file>

<file path=ppt/notesSlides/notesSlide5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幻灯片图像占位符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备注占位符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zh-CN" altLang="zh-CN" sz="1200" b="1" i="0" kern="1200" dirty="0">
                <a:solidFill>
                  <a:schemeClr val="tx1"/>
                </a:solidFill>
                <a:effectLst/>
                <a:latin typeface="+mn-lt"/>
                <a:ea typeface="+mn-ea"/>
                <a:cs typeface="+mn-cs"/>
              </a:rPr>
              <a:t>先 AI 后自己</a:t>
            </a:r>
            <a:r>
              <a:rPr lang="zh-CN" altLang="zh-CN" sz="1200" b="0" i="0" kern="1200" dirty="0">
                <a:solidFill>
                  <a:schemeClr val="tx1"/>
                </a:solidFill>
                <a:effectLst/>
                <a:latin typeface="+mn-lt"/>
                <a:ea typeface="+mn-ea"/>
                <a:cs typeface="+mn-cs"/>
              </a:rPr>
              <a:t>拐杖替你走路——你不动，AI 替你动</a:t>
            </a:r>
          </a:p>
          <a:p>
            <a:r>
              <a:rPr lang="zh-CN" altLang="zh-CN" sz="1200" b="1" i="0" kern="1200" dirty="0">
                <a:solidFill>
                  <a:schemeClr val="tx1"/>
                </a:solidFill>
                <a:effectLst/>
                <a:latin typeface="+mn-lt"/>
                <a:ea typeface="+mn-ea"/>
                <a:cs typeface="+mn-cs"/>
              </a:rPr>
              <a:t>先自己想再 AI 校验</a:t>
            </a:r>
            <a:r>
              <a:rPr lang="zh-CN" altLang="zh-CN" sz="1200" b="0" i="0" kern="1200" dirty="0">
                <a:solidFill>
                  <a:schemeClr val="tx1"/>
                </a:solidFill>
                <a:effectLst/>
                <a:latin typeface="+mn-lt"/>
                <a:ea typeface="+mn-ea"/>
                <a:cs typeface="+mn-cs"/>
              </a:rPr>
              <a:t>教练在旁边看——你跑，AI 帮你纠错和提升</a:t>
            </a:r>
          </a:p>
          <a:p>
            <a:endParaRPr lang="zh-CN" altLang="en-US" dirty="0"/>
          </a:p>
        </p:txBody>
      </p:sp>
      <p:sp>
        <p:nvSpPr>
          <p:cNvPr id="4" name="灯片编号占位符 3"/>
          <p:cNvSpPr>
            <a:spLocks noGrp="1"/>
          </p:cNvSpPr>
          <p:nvPr>
            <p:ph type="sldNum" sz="quarter" idx="5"/>
          </p:nvPr>
        </p:nvSpPr>
        <p:spPr/>
        <p:txBody>
          <a:bodyPr/>
          <a:lstStyle/>
          <a:p>
            <a:fld id="{F6D88E16-0D90-43F4-BA45-606D52FB82BF}" type="slidenum">
              <a:rPr lang="zh-CN" altLang="en-US" smtClean="0"/>
              <a:t>5</a:t>
            </a:fld>
            <a:endParaRPr lang="zh-CN" altLang="en-US"/>
          </a:p>
        </p:txBody>
      </p:sp>
    </p:spTree>
    <p:extLst>
      <p:ext uri="{BB962C8B-B14F-4D97-AF65-F5344CB8AC3E}">
        <p14:creationId xmlns:p14="http://schemas.microsoft.com/office/powerpoint/2010/main" val="3624616343"/>
      </p:ext>
    </p:extLst>
  </p:cSld>
  <p:clrMapOvr>
    <a:masterClrMapping/>
  </p:clrMapOvr>
</p:notes>
</file>

<file path=ppt/notesSlides/notesSlide6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幻灯片图像占位符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备注占位符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endParaRPr lang="zh-CN" altLang="en-US" dirty="0"/>
          </a:p>
        </p:txBody>
      </p:sp>
      <p:sp>
        <p:nvSpPr>
          <p:cNvPr id="4" name="灯片编号占位符 3"/>
          <p:cNvSpPr>
            <a:spLocks noGrp="1"/>
          </p:cNvSpPr>
          <p:nvPr>
            <p:ph type="sldNum" sz="quarter" idx="5"/>
          </p:nvPr>
        </p:nvSpPr>
        <p:spPr/>
        <p:txBody>
          <a:bodyPr/>
          <a:lstStyle/>
          <a:p>
            <a:fld id="{F6D88E16-0D90-43F4-BA45-606D52FB82BF}" type="slidenum">
              <a:rPr lang="zh-CN" altLang="en-US" smtClean="0"/>
              <a:t>6</a:t>
            </a:fld>
            <a:endParaRPr lang="zh-CN" altLang="en-US"/>
          </a:p>
        </p:txBody>
      </p:sp>
    </p:spTree>
    <p:extLst>
      <p:ext uri="{BB962C8B-B14F-4D97-AF65-F5344CB8AC3E}">
        <p14:creationId xmlns:p14="http://schemas.microsoft.com/office/powerpoint/2010/main" val="1997079921"/>
      </p:ext>
    </p:extLst>
  </p:cSld>
  <p:clrMapOvr>
    <a:masterClrMapping/>
  </p:clrMapOvr>
</p:notes>
</file>

<file path=ppt/notesSlides/notesSlide7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幻灯片图像占位符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备注占位符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endParaRPr lang="zh-CN" altLang="en-US"/>
          </a:p>
        </p:txBody>
      </p:sp>
      <p:sp>
        <p:nvSpPr>
          <p:cNvPr id="4" name="灯片编号占位符 3"/>
          <p:cNvSpPr>
            <a:spLocks noGrp="1"/>
          </p:cNvSpPr>
          <p:nvPr>
            <p:ph type="sldNum" sz="quarter" idx="5"/>
          </p:nvPr>
        </p:nvSpPr>
        <p:spPr/>
        <p:txBody>
          <a:bodyPr/>
          <a:lstStyle/>
          <a:p>
            <a:fld id="{F6D88E16-0D90-43F4-BA45-606D52FB82BF}" type="slidenum">
              <a:rPr lang="zh-CN" altLang="en-US" smtClean="0"/>
              <a:t>7</a:t>
            </a:fld>
            <a:endParaRPr lang="zh-CN" altLang="en-US"/>
          </a:p>
        </p:txBody>
      </p:sp>
    </p:spTree>
    <p:extLst>
      <p:ext uri="{BB962C8B-B14F-4D97-AF65-F5344CB8AC3E}">
        <p14:creationId xmlns:p14="http://schemas.microsoft.com/office/powerpoint/2010/main" val="2476513576"/>
      </p:ext>
    </p:extLst>
  </p:cSld>
  <p:clrMapOvr>
    <a:masterClrMapping/>
  </p:clrMapOvr>
</p:notes>
</file>

<file path=ppt/slideLayouts/_rels/slideLayout1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2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3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4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5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6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7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8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9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0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1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slideLayout1.xml><?xml version="1.0" encoding="utf-8"?>
<p:sldLayout xmlns:a="http://schemas.openxmlformats.org/drawingml/2006/main" xmlns:r="http://schemas.openxmlformats.org/officeDocument/2006/relationships" xmlns:p="http://schemas.openxmlformats.org/presentationml/2006/main" type="title" preserve="1">
  <p:cSld name="Title Slide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ctrTitle"/>
          </p:nvPr>
        </p:nvSpPr>
        <p:spPr>
          <a:xfrm>
            <a:off x="685800" y="2130425"/>
            <a:ext cx="7772400" cy="1470025"/>
          </a:xfrm>
        </p:spPr>
        <p:txBody>
          <a:bodyPr/>
          <a:lstStyle/>
          <a:p>
            <a:r>
              <a:rPr lang="en-US"/>
              <a:t>Click to edit Master title style</a:t>
            </a:r>
          </a:p>
        </p:txBody>
      </p:sp>
      <p:sp>
        <p:nvSpPr>
          <p:cNvPr id="3" name="Subtitle 2"/>
          <p:cNvSpPr>
            <a:spLocks noGrp="1"/>
          </p:cNvSpPr>
          <p:nvPr>
            <p:ph type="subTitle" idx="1"/>
          </p:nvPr>
        </p:nvSpPr>
        <p:spPr>
          <a:xfrm>
            <a:off x="1371600" y="3886200"/>
            <a:ext cx="6400800" cy="1752600"/>
          </a:xfrm>
        </p:spPr>
        <p:txBody>
          <a:bodyPr/>
          <a:lstStyle>
            <a:lvl1pPr marL="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1pPr>
            <a:lvl2pPr marL="4572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2pPr>
            <a:lvl3pPr marL="9144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3pPr>
            <a:lvl4pPr marL="13716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4pPr>
            <a:lvl5pPr marL="18288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5pPr>
            <a:lvl6pPr marL="22860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6pPr>
            <a:lvl7pPr marL="27432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7pPr>
            <a:lvl8pPr marL="32004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8pPr>
            <a:lvl9pPr marL="36576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9pPr>
          </a:lstStyle>
          <a:p>
            <a:r>
              <a:rPr lang="en-US"/>
              <a:t>Click to edit Master subtitle style</a:t>
            </a:r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9/23/2026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3168075583"/>
      </p:ext>
    </p:extLst>
  </p:cSld>
  <p:clrMapOvr>
    <a:masterClrMapping/>
  </p:clrMapOvr>
</p:sldLayout>
</file>

<file path=ppt/slideLayouts/slideLayout2.xml><?xml version="1.0" encoding="utf-8"?>
<p:sldLayout xmlns:a="http://schemas.openxmlformats.org/drawingml/2006/main" xmlns:r="http://schemas.openxmlformats.org/officeDocument/2006/relationships" xmlns:p="http://schemas.openxmlformats.org/presentationml/2006/main" type="obj" preserve="1">
  <p:cSld name="Title and Conten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/>
              <a:t>Click to edit Master title style</a:t>
            </a:r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/>
        <p:txBody>
          <a:bodyPr/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9/23/2026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614314258"/>
      </p:ext>
    </p:extLst>
  </p:cSld>
  <p:clrMapOvr>
    <a:masterClrMapping/>
  </p:clrMapOvr>
</p:sldLayout>
</file>

<file path=ppt/slideLayouts/slideLayout3.xml><?xml version="1.0" encoding="utf-8"?>
<p:sldLayout xmlns:a="http://schemas.openxmlformats.org/drawingml/2006/main" xmlns:r="http://schemas.openxmlformats.org/officeDocument/2006/relationships" xmlns:p="http://schemas.openxmlformats.org/presentationml/2006/main" type="secHead" preserve="1">
  <p:cSld name="Section Header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722313" y="4406900"/>
            <a:ext cx="7772400" cy="1362075"/>
          </a:xfrm>
        </p:spPr>
        <p:txBody>
          <a:bodyPr anchor="t"/>
          <a:lstStyle>
            <a:lvl1pPr algn="l">
              <a:defRPr sz="4000" b="1" cap="all"/>
            </a:lvl1pPr>
          </a:lstStyle>
          <a:p>
            <a:r>
              <a:rPr lang="en-US"/>
              <a:t>Click to edit Master title style</a:t>
            </a:r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722313" y="2906713"/>
            <a:ext cx="7772400" cy="1500187"/>
          </a:xfrm>
        </p:spPr>
        <p:txBody>
          <a:bodyPr anchor="b"/>
          <a:lstStyle>
            <a:lvl1pPr marL="0" indent="0">
              <a:buNone/>
              <a:defRPr sz="2000">
                <a:solidFill>
                  <a:schemeClr val="tx1">
                    <a:tint val="75000"/>
                  </a:schemeClr>
                </a:solidFill>
              </a:defRPr>
            </a:lvl1pPr>
            <a:lvl2pPr marL="457200" indent="0">
              <a:buNone/>
              <a:defRPr sz="1800">
                <a:solidFill>
                  <a:schemeClr val="tx1">
                    <a:tint val="75000"/>
                  </a:schemeClr>
                </a:solidFill>
              </a:defRPr>
            </a:lvl2pPr>
            <a:lvl3pPr marL="914400" indent="0">
              <a:buNone/>
              <a:defRPr sz="1600">
                <a:solidFill>
                  <a:schemeClr val="tx1">
                    <a:tint val="75000"/>
                  </a:schemeClr>
                </a:solidFill>
              </a:defRPr>
            </a:lvl3pPr>
            <a:lvl4pPr marL="13716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4pPr>
            <a:lvl5pPr marL="18288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5pPr>
            <a:lvl6pPr marL="22860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6pPr>
            <a:lvl7pPr marL="27432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7pPr>
            <a:lvl8pPr marL="32004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8pPr>
            <a:lvl9pPr marL="36576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9pPr>
          </a:lstStyle>
          <a:p>
            <a:pPr lvl="0"/>
            <a:r>
              <a:rPr lang="en-US"/>
              <a:t>Click to edit Master text styles</a:t>
            </a:r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9/23/2026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960648375"/>
      </p:ext>
    </p:extLst>
  </p:cSld>
  <p:clrMapOvr>
    <a:masterClrMapping/>
  </p:clrMapOvr>
</p:sldLayout>
</file>

<file path=ppt/slideLayouts/slideLayout4.xml><?xml version="1.0" encoding="utf-8"?>
<p:sldLayout xmlns:a="http://schemas.openxmlformats.org/drawingml/2006/main" xmlns:r="http://schemas.openxmlformats.org/officeDocument/2006/relationships" xmlns:p="http://schemas.openxmlformats.org/presentationml/2006/main" type="twoObj" preserve="1">
  <p:cSld name="Two Conten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/>
              <a:t>Click to edit Master title style</a:t>
            </a:r>
          </a:p>
        </p:txBody>
      </p:sp>
      <p:sp>
        <p:nvSpPr>
          <p:cNvPr id="3" name="Content Placeholder 2"/>
          <p:cNvSpPr>
            <a:spLocks noGrp="1"/>
          </p:cNvSpPr>
          <p:nvPr>
            <p:ph sz="half" idx="1"/>
          </p:nvPr>
        </p:nvSpPr>
        <p:spPr>
          <a:xfrm>
            <a:off x="457200" y="1600200"/>
            <a:ext cx="4038600" cy="4525963"/>
          </a:xfrm>
        </p:spPr>
        <p:txBody>
          <a:bodyPr/>
          <a:lstStyle>
            <a:lvl1pPr>
              <a:defRPr sz="2800"/>
            </a:lvl1pPr>
            <a:lvl2pPr>
              <a:defRPr sz="2400"/>
            </a:lvl2pPr>
            <a:lvl3pPr>
              <a:defRPr sz="2000"/>
            </a:lvl3pPr>
            <a:lvl4pPr>
              <a:defRPr sz="1800"/>
            </a:lvl4pPr>
            <a:lvl5pPr>
              <a:defRPr sz="1800"/>
            </a:lvl5pPr>
            <a:lvl6pPr>
              <a:defRPr sz="1800"/>
            </a:lvl6pPr>
            <a:lvl7pPr>
              <a:defRPr sz="1800"/>
            </a:lvl7pPr>
            <a:lvl8pPr>
              <a:defRPr sz="1800"/>
            </a:lvl8pPr>
            <a:lvl9pPr>
              <a:defRPr sz="1800"/>
            </a:lvl9pPr>
          </a:lstStyle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</a:p>
        </p:txBody>
      </p:sp>
      <p:sp>
        <p:nvSpPr>
          <p:cNvPr id="4" name="Content Placeholder 3"/>
          <p:cNvSpPr>
            <a:spLocks noGrp="1"/>
          </p:cNvSpPr>
          <p:nvPr>
            <p:ph sz="half" idx="2"/>
          </p:nvPr>
        </p:nvSpPr>
        <p:spPr>
          <a:xfrm>
            <a:off x="4648200" y="1600200"/>
            <a:ext cx="4038600" cy="4525963"/>
          </a:xfrm>
        </p:spPr>
        <p:txBody>
          <a:bodyPr/>
          <a:lstStyle>
            <a:lvl1pPr>
              <a:defRPr sz="2800"/>
            </a:lvl1pPr>
            <a:lvl2pPr>
              <a:defRPr sz="2400"/>
            </a:lvl2pPr>
            <a:lvl3pPr>
              <a:defRPr sz="2000"/>
            </a:lvl3pPr>
            <a:lvl4pPr>
              <a:defRPr sz="1800"/>
            </a:lvl4pPr>
            <a:lvl5pPr>
              <a:defRPr sz="1800"/>
            </a:lvl5pPr>
            <a:lvl6pPr>
              <a:defRPr sz="1800"/>
            </a:lvl6pPr>
            <a:lvl7pPr>
              <a:defRPr sz="1800"/>
            </a:lvl7pPr>
            <a:lvl8pPr>
              <a:defRPr sz="1800"/>
            </a:lvl8pPr>
            <a:lvl9pPr>
              <a:defRPr sz="1800"/>
            </a:lvl9pPr>
          </a:lstStyle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</a:p>
        </p:txBody>
      </p:sp>
      <p:sp>
        <p:nvSpPr>
          <p:cNvPr id="5" name="Date Placeholder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9/23/2026</a:t>
            </a:fld>
            <a:endParaRPr lang="en-US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782244947"/>
      </p:ext>
    </p:extLst>
  </p:cSld>
  <p:clrMapOvr>
    <a:masterClrMapping/>
  </p:clrMapOvr>
</p:sldLayout>
</file>

<file path=ppt/slideLayouts/slideLayout5.xml><?xml version="1.0" encoding="utf-8"?>
<p:sldLayout xmlns:a="http://schemas.openxmlformats.org/drawingml/2006/main" xmlns:r="http://schemas.openxmlformats.org/officeDocument/2006/relationships" xmlns:p="http://schemas.openxmlformats.org/presentationml/2006/main" type="twoTxTwoObj" preserve="1">
  <p:cSld name="Comparis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>
            <a:lvl1pPr>
              <a:defRPr/>
            </a:lvl1pPr>
          </a:lstStyle>
          <a:p>
            <a:r>
              <a:rPr lang="en-US"/>
              <a:t>Click to edit Master title style</a:t>
            </a:r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457200" y="1535113"/>
            <a:ext cx="4040188" cy="639762"/>
          </a:xfrm>
        </p:spPr>
        <p:txBody>
          <a:bodyPr anchor="b"/>
          <a:lstStyle>
            <a:lvl1pPr marL="0" indent="0">
              <a:buNone/>
              <a:defRPr sz="2400" b="1"/>
            </a:lvl1pPr>
            <a:lvl2pPr marL="457200" indent="0">
              <a:buNone/>
              <a:defRPr sz="2000" b="1"/>
            </a:lvl2pPr>
            <a:lvl3pPr marL="914400" indent="0">
              <a:buNone/>
              <a:defRPr sz="1800" b="1"/>
            </a:lvl3pPr>
            <a:lvl4pPr marL="1371600" indent="0">
              <a:buNone/>
              <a:defRPr sz="1600" b="1"/>
            </a:lvl4pPr>
            <a:lvl5pPr marL="1828800" indent="0">
              <a:buNone/>
              <a:defRPr sz="1600" b="1"/>
            </a:lvl5pPr>
            <a:lvl6pPr marL="2286000" indent="0">
              <a:buNone/>
              <a:defRPr sz="1600" b="1"/>
            </a:lvl6pPr>
            <a:lvl7pPr marL="2743200" indent="0">
              <a:buNone/>
              <a:defRPr sz="1600" b="1"/>
            </a:lvl7pPr>
            <a:lvl8pPr marL="3200400" indent="0">
              <a:buNone/>
              <a:defRPr sz="1600" b="1"/>
            </a:lvl8pPr>
            <a:lvl9pPr marL="3657600" indent="0">
              <a:buNone/>
              <a:defRPr sz="1600" b="1"/>
            </a:lvl9pPr>
          </a:lstStyle>
          <a:p>
            <a:pPr lvl="0"/>
            <a:r>
              <a:rPr lang="en-US"/>
              <a:t>Click to edit Master text styles</a:t>
            </a:r>
          </a:p>
        </p:txBody>
      </p:sp>
      <p:sp>
        <p:nvSpPr>
          <p:cNvPr id="4" name="Content Placeholder 3"/>
          <p:cNvSpPr>
            <a:spLocks noGrp="1"/>
          </p:cNvSpPr>
          <p:nvPr>
            <p:ph sz="half" idx="2"/>
          </p:nvPr>
        </p:nvSpPr>
        <p:spPr>
          <a:xfrm>
            <a:off x="457200" y="2174875"/>
            <a:ext cx="4040188" cy="3951288"/>
          </a:xfrm>
        </p:spPr>
        <p:txBody>
          <a:bodyPr/>
          <a:lstStyle>
            <a:lvl1pPr>
              <a:defRPr sz="2400"/>
            </a:lvl1pPr>
            <a:lvl2pPr>
              <a:defRPr sz="2000"/>
            </a:lvl2pPr>
            <a:lvl3pPr>
              <a:defRPr sz="1800"/>
            </a:lvl3pPr>
            <a:lvl4pPr>
              <a:defRPr sz="1600"/>
            </a:lvl4pPr>
            <a:lvl5pPr>
              <a:defRPr sz="1600"/>
            </a:lvl5pPr>
            <a:lvl6pPr>
              <a:defRPr sz="1600"/>
            </a:lvl6pPr>
            <a:lvl7pPr>
              <a:defRPr sz="1600"/>
            </a:lvl7pPr>
            <a:lvl8pPr>
              <a:defRPr sz="1600"/>
            </a:lvl8pPr>
            <a:lvl9pPr>
              <a:defRPr sz="1600"/>
            </a:lvl9pPr>
          </a:lstStyle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</a:p>
        </p:txBody>
      </p:sp>
      <p:sp>
        <p:nvSpPr>
          <p:cNvPr id="5" name="Text Placeholder 4"/>
          <p:cNvSpPr>
            <a:spLocks noGrp="1"/>
          </p:cNvSpPr>
          <p:nvPr>
            <p:ph type="body" sz="quarter" idx="3"/>
          </p:nvPr>
        </p:nvSpPr>
        <p:spPr>
          <a:xfrm>
            <a:off x="4645025" y="1535113"/>
            <a:ext cx="4041775" cy="639762"/>
          </a:xfrm>
        </p:spPr>
        <p:txBody>
          <a:bodyPr anchor="b"/>
          <a:lstStyle>
            <a:lvl1pPr marL="0" indent="0">
              <a:buNone/>
              <a:defRPr sz="2400" b="1"/>
            </a:lvl1pPr>
            <a:lvl2pPr marL="457200" indent="0">
              <a:buNone/>
              <a:defRPr sz="2000" b="1"/>
            </a:lvl2pPr>
            <a:lvl3pPr marL="914400" indent="0">
              <a:buNone/>
              <a:defRPr sz="1800" b="1"/>
            </a:lvl3pPr>
            <a:lvl4pPr marL="1371600" indent="0">
              <a:buNone/>
              <a:defRPr sz="1600" b="1"/>
            </a:lvl4pPr>
            <a:lvl5pPr marL="1828800" indent="0">
              <a:buNone/>
              <a:defRPr sz="1600" b="1"/>
            </a:lvl5pPr>
            <a:lvl6pPr marL="2286000" indent="0">
              <a:buNone/>
              <a:defRPr sz="1600" b="1"/>
            </a:lvl6pPr>
            <a:lvl7pPr marL="2743200" indent="0">
              <a:buNone/>
              <a:defRPr sz="1600" b="1"/>
            </a:lvl7pPr>
            <a:lvl8pPr marL="3200400" indent="0">
              <a:buNone/>
              <a:defRPr sz="1600" b="1"/>
            </a:lvl8pPr>
            <a:lvl9pPr marL="3657600" indent="0">
              <a:buNone/>
              <a:defRPr sz="1600" b="1"/>
            </a:lvl9pPr>
          </a:lstStyle>
          <a:p>
            <a:pPr lvl="0"/>
            <a:r>
              <a:rPr lang="en-US"/>
              <a:t>Click to edit Master text styles</a:t>
            </a:r>
          </a:p>
        </p:txBody>
      </p:sp>
      <p:sp>
        <p:nvSpPr>
          <p:cNvPr id="6" name="Content Placeholder 5"/>
          <p:cNvSpPr>
            <a:spLocks noGrp="1"/>
          </p:cNvSpPr>
          <p:nvPr>
            <p:ph sz="quarter" idx="4"/>
          </p:nvPr>
        </p:nvSpPr>
        <p:spPr>
          <a:xfrm>
            <a:off x="4645025" y="2174875"/>
            <a:ext cx="4041775" cy="3951288"/>
          </a:xfrm>
        </p:spPr>
        <p:txBody>
          <a:bodyPr/>
          <a:lstStyle>
            <a:lvl1pPr>
              <a:defRPr sz="2400"/>
            </a:lvl1pPr>
            <a:lvl2pPr>
              <a:defRPr sz="2000"/>
            </a:lvl2pPr>
            <a:lvl3pPr>
              <a:defRPr sz="1800"/>
            </a:lvl3pPr>
            <a:lvl4pPr>
              <a:defRPr sz="1600"/>
            </a:lvl4pPr>
            <a:lvl5pPr>
              <a:defRPr sz="1600"/>
            </a:lvl5pPr>
            <a:lvl6pPr>
              <a:defRPr sz="1600"/>
            </a:lvl6pPr>
            <a:lvl7pPr>
              <a:defRPr sz="1600"/>
            </a:lvl7pPr>
            <a:lvl8pPr>
              <a:defRPr sz="1600"/>
            </a:lvl8pPr>
            <a:lvl9pPr>
              <a:defRPr sz="1600"/>
            </a:lvl9pPr>
          </a:lstStyle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</a:p>
        </p:txBody>
      </p:sp>
      <p:sp>
        <p:nvSpPr>
          <p:cNvPr id="7" name="Date Placeholder 6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9/23/2026</a:t>
            </a:fld>
            <a:endParaRPr lang="en-US"/>
          </a:p>
        </p:txBody>
      </p:sp>
      <p:sp>
        <p:nvSpPr>
          <p:cNvPr id="8" name="Footer Placeholder 7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9" name="Slide Number Placeholder 8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990158736"/>
      </p:ext>
    </p:extLst>
  </p:cSld>
  <p:clrMapOvr>
    <a:masterClrMapping/>
  </p:clrMapOvr>
</p:sldLayout>
</file>

<file path=ppt/slideLayouts/slideLayout6.xml><?xml version="1.0" encoding="utf-8"?>
<p:sldLayout xmlns:a="http://schemas.openxmlformats.org/drawingml/2006/main" xmlns:r="http://schemas.openxmlformats.org/officeDocument/2006/relationships" xmlns:p="http://schemas.openxmlformats.org/presentationml/2006/main" type="titleOnly" preserve="1">
  <p:cSld name="Title Only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/>
              <a:t>Click to edit Master title style</a:t>
            </a:r>
          </a:p>
        </p:txBody>
      </p:sp>
      <p:sp>
        <p:nvSpPr>
          <p:cNvPr id="3" name="Date Placeholder 2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9/23/2026</a:t>
            </a:fld>
            <a:endParaRPr lang="en-US"/>
          </a:p>
        </p:txBody>
      </p:sp>
      <p:sp>
        <p:nvSpPr>
          <p:cNvPr id="4" name="Footer Placeholder 3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5" name="Slide Number Placeholder 4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727027711"/>
      </p:ext>
    </p:extLst>
  </p:cSld>
  <p:clrMapOvr>
    <a:masterClrMapping/>
  </p:clrMapOvr>
</p:sldLayout>
</file>

<file path=ppt/slideLayouts/slideLayout7.xml><?xml version="1.0" encoding="utf-8"?>
<p:sldLayout xmlns:a="http://schemas.openxmlformats.org/drawingml/2006/main" xmlns:r="http://schemas.openxmlformats.org/officeDocument/2006/relationships" xmlns:p="http://schemas.openxmlformats.org/presentationml/2006/main" type="blank" preserve="1">
  <p:cSld name="Blank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Date Placeholder 1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9/23/2026</a:t>
            </a:fld>
            <a:endParaRPr lang="en-US"/>
          </a:p>
        </p:txBody>
      </p:sp>
      <p:sp>
        <p:nvSpPr>
          <p:cNvPr id="3" name="Footer Placeholder 2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212999818"/>
      </p:ext>
    </p:extLst>
  </p:cSld>
  <p:clrMapOvr>
    <a:masterClrMapping/>
  </p:clrMapOvr>
</p:sldLayout>
</file>

<file path=ppt/slideLayouts/slideLayout8.xml><?xml version="1.0" encoding="utf-8"?>
<p:sldLayout xmlns:a="http://schemas.openxmlformats.org/drawingml/2006/main" xmlns:r="http://schemas.openxmlformats.org/officeDocument/2006/relationships" xmlns:p="http://schemas.openxmlformats.org/presentationml/2006/main" type="objTx" preserve="1">
  <p:cSld name="Content with Capti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457200" y="273050"/>
            <a:ext cx="3008313" cy="1162050"/>
          </a:xfrm>
        </p:spPr>
        <p:txBody>
          <a:bodyPr anchor="b"/>
          <a:lstStyle>
            <a:lvl1pPr algn="l">
              <a:defRPr sz="2000" b="1"/>
            </a:lvl1pPr>
          </a:lstStyle>
          <a:p>
            <a:r>
              <a:rPr lang="en-US"/>
              <a:t>Click to edit Master title style</a:t>
            </a:r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>
          <a:xfrm>
            <a:off x="3575050" y="273050"/>
            <a:ext cx="5111750" cy="5853113"/>
          </a:xfrm>
        </p:spPr>
        <p:txBody>
          <a:bodyPr/>
          <a:lstStyle>
            <a:lvl1pPr>
              <a:defRPr sz="3200"/>
            </a:lvl1pPr>
            <a:lvl2pPr>
              <a:defRPr sz="2800"/>
            </a:lvl2pPr>
            <a:lvl3pPr>
              <a:defRPr sz="2400"/>
            </a:lvl3pPr>
            <a:lvl4pPr>
              <a:defRPr sz="2000"/>
            </a:lvl4pPr>
            <a:lvl5pPr>
              <a:defRPr sz="2000"/>
            </a:lvl5pPr>
            <a:lvl6pPr>
              <a:defRPr sz="2000"/>
            </a:lvl6pPr>
            <a:lvl7pPr>
              <a:defRPr sz="2000"/>
            </a:lvl7pPr>
            <a:lvl8pPr>
              <a:defRPr sz="2000"/>
            </a:lvl8pPr>
            <a:lvl9pPr>
              <a:defRPr sz="2000"/>
            </a:lvl9pPr>
          </a:lstStyle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</a:p>
        </p:txBody>
      </p:sp>
      <p:sp>
        <p:nvSpPr>
          <p:cNvPr id="4" name="Text Placeholder 3"/>
          <p:cNvSpPr>
            <a:spLocks noGrp="1"/>
          </p:cNvSpPr>
          <p:nvPr>
            <p:ph type="body" sz="half" idx="2"/>
          </p:nvPr>
        </p:nvSpPr>
        <p:spPr>
          <a:xfrm>
            <a:off x="457200" y="1435100"/>
            <a:ext cx="3008313" cy="4691063"/>
          </a:xfrm>
        </p:spPr>
        <p:txBody>
          <a:bodyPr/>
          <a:lstStyle>
            <a:lvl1pPr marL="0" indent="0">
              <a:buNone/>
              <a:defRPr sz="1400"/>
            </a:lvl1pPr>
            <a:lvl2pPr marL="457200" indent="0">
              <a:buNone/>
              <a:defRPr sz="1200"/>
            </a:lvl2pPr>
            <a:lvl3pPr marL="914400" indent="0">
              <a:buNone/>
              <a:defRPr sz="1000"/>
            </a:lvl3pPr>
            <a:lvl4pPr marL="1371600" indent="0">
              <a:buNone/>
              <a:defRPr sz="900"/>
            </a:lvl4pPr>
            <a:lvl5pPr marL="1828800" indent="0">
              <a:buNone/>
              <a:defRPr sz="900"/>
            </a:lvl5pPr>
            <a:lvl6pPr marL="2286000" indent="0">
              <a:buNone/>
              <a:defRPr sz="900"/>
            </a:lvl6pPr>
            <a:lvl7pPr marL="2743200" indent="0">
              <a:buNone/>
              <a:defRPr sz="900"/>
            </a:lvl7pPr>
            <a:lvl8pPr marL="3200400" indent="0">
              <a:buNone/>
              <a:defRPr sz="900"/>
            </a:lvl8pPr>
            <a:lvl9pPr marL="3657600" indent="0">
              <a:buNone/>
              <a:defRPr sz="900"/>
            </a:lvl9pPr>
          </a:lstStyle>
          <a:p>
            <a:pPr lvl="0"/>
            <a:r>
              <a:rPr lang="en-US"/>
              <a:t>Click to edit Master text styles</a:t>
            </a:r>
          </a:p>
        </p:txBody>
      </p:sp>
      <p:sp>
        <p:nvSpPr>
          <p:cNvPr id="5" name="Date Placeholder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9/23/2026</a:t>
            </a:fld>
            <a:endParaRPr lang="en-US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840726560"/>
      </p:ext>
    </p:extLst>
  </p:cSld>
  <p:clrMapOvr>
    <a:masterClrMapping/>
  </p:clrMapOvr>
</p:sldLayout>
</file>

<file path=ppt/slideLayouts/slideLayout9.xml><?xml version="1.0" encoding="utf-8"?>
<p:sldLayout xmlns:a="http://schemas.openxmlformats.org/drawingml/2006/main" xmlns:r="http://schemas.openxmlformats.org/officeDocument/2006/relationships" xmlns:p="http://schemas.openxmlformats.org/presentationml/2006/main" type="picTx" preserve="1">
  <p:cSld name="Picture with Capti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1792288" y="4800600"/>
            <a:ext cx="5486400" cy="566738"/>
          </a:xfrm>
        </p:spPr>
        <p:txBody>
          <a:bodyPr anchor="b"/>
          <a:lstStyle>
            <a:lvl1pPr algn="l">
              <a:defRPr sz="2000" b="1"/>
            </a:lvl1pPr>
          </a:lstStyle>
          <a:p>
            <a:r>
              <a:rPr lang="en-US"/>
              <a:t>Click to edit Master title style</a:t>
            </a:r>
          </a:p>
        </p:txBody>
      </p:sp>
      <p:sp>
        <p:nvSpPr>
          <p:cNvPr id="3" name="Picture Placeholder 2"/>
          <p:cNvSpPr>
            <a:spLocks noGrp="1"/>
          </p:cNvSpPr>
          <p:nvPr>
            <p:ph type="pic" idx="1"/>
          </p:nvPr>
        </p:nvSpPr>
        <p:spPr>
          <a:xfrm>
            <a:off x="1792288" y="612775"/>
            <a:ext cx="5486400" cy="4114800"/>
          </a:xfrm>
        </p:spPr>
        <p:txBody>
          <a:bodyPr/>
          <a:lstStyle>
            <a:lvl1pPr marL="0" indent="0">
              <a:buNone/>
              <a:defRPr sz="3200"/>
            </a:lvl1pPr>
            <a:lvl2pPr marL="457200" indent="0">
              <a:buNone/>
              <a:defRPr sz="2800"/>
            </a:lvl2pPr>
            <a:lvl3pPr marL="914400" indent="0">
              <a:buNone/>
              <a:defRPr sz="2400"/>
            </a:lvl3pPr>
            <a:lvl4pPr marL="1371600" indent="0">
              <a:buNone/>
              <a:defRPr sz="2000"/>
            </a:lvl4pPr>
            <a:lvl5pPr marL="1828800" indent="0">
              <a:buNone/>
              <a:defRPr sz="2000"/>
            </a:lvl5pPr>
            <a:lvl6pPr marL="2286000" indent="0">
              <a:buNone/>
              <a:defRPr sz="2000"/>
            </a:lvl6pPr>
            <a:lvl7pPr marL="2743200" indent="0">
              <a:buNone/>
              <a:defRPr sz="2000"/>
            </a:lvl7pPr>
            <a:lvl8pPr marL="3200400" indent="0">
              <a:buNone/>
              <a:defRPr sz="2000"/>
            </a:lvl8pPr>
            <a:lvl9pPr marL="3657600" indent="0">
              <a:buNone/>
              <a:defRPr sz="2000"/>
            </a:lvl9pPr>
          </a:lstStyle>
          <a:p>
            <a:endParaRPr lang="en-US"/>
          </a:p>
        </p:txBody>
      </p:sp>
      <p:sp>
        <p:nvSpPr>
          <p:cNvPr id="4" name="Text Placeholder 3"/>
          <p:cNvSpPr>
            <a:spLocks noGrp="1"/>
          </p:cNvSpPr>
          <p:nvPr>
            <p:ph type="body" sz="half" idx="2"/>
          </p:nvPr>
        </p:nvSpPr>
        <p:spPr>
          <a:xfrm>
            <a:off x="1792288" y="5367338"/>
            <a:ext cx="5486400" cy="804862"/>
          </a:xfrm>
        </p:spPr>
        <p:txBody>
          <a:bodyPr/>
          <a:lstStyle>
            <a:lvl1pPr marL="0" indent="0">
              <a:buNone/>
              <a:defRPr sz="1400"/>
            </a:lvl1pPr>
            <a:lvl2pPr marL="457200" indent="0">
              <a:buNone/>
              <a:defRPr sz="1200"/>
            </a:lvl2pPr>
            <a:lvl3pPr marL="914400" indent="0">
              <a:buNone/>
              <a:defRPr sz="1000"/>
            </a:lvl3pPr>
            <a:lvl4pPr marL="1371600" indent="0">
              <a:buNone/>
              <a:defRPr sz="900"/>
            </a:lvl4pPr>
            <a:lvl5pPr marL="1828800" indent="0">
              <a:buNone/>
              <a:defRPr sz="900"/>
            </a:lvl5pPr>
            <a:lvl6pPr marL="2286000" indent="0">
              <a:buNone/>
              <a:defRPr sz="900"/>
            </a:lvl6pPr>
            <a:lvl7pPr marL="2743200" indent="0">
              <a:buNone/>
              <a:defRPr sz="900"/>
            </a:lvl7pPr>
            <a:lvl8pPr marL="3200400" indent="0">
              <a:buNone/>
              <a:defRPr sz="900"/>
            </a:lvl8pPr>
            <a:lvl9pPr marL="3657600" indent="0">
              <a:buNone/>
              <a:defRPr sz="900"/>
            </a:lvl9pPr>
          </a:lstStyle>
          <a:p>
            <a:pPr lvl="0"/>
            <a:r>
              <a:rPr lang="en-US"/>
              <a:t>Click to edit Master text styles</a:t>
            </a:r>
          </a:p>
        </p:txBody>
      </p:sp>
      <p:sp>
        <p:nvSpPr>
          <p:cNvPr id="5" name="Date Placeholder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9/23/2026</a:t>
            </a:fld>
            <a:endParaRPr lang="en-US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3889236939"/>
      </p:ext>
    </p:extLst>
  </p:cSld>
  <p:clrMapOvr>
    <a:masterClrMapping/>
  </p:clrMapOvr>
</p:sldLayout>
</file>

<file path=ppt/slideLayouts/slideLayout10.xml><?xml version="1.0" encoding="utf-8"?>
<p:sldLayout xmlns:a="http://schemas.openxmlformats.org/drawingml/2006/main" xmlns:r="http://schemas.openxmlformats.org/officeDocument/2006/relationships" xmlns:p="http://schemas.openxmlformats.org/presentationml/2006/main" type="vertTx" preserve="1">
  <p:cSld name="Title and Vertical Tex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/>
              <a:t>Click to edit Master title style</a:t>
            </a:r>
          </a:p>
        </p:txBody>
      </p:sp>
      <p:sp>
        <p:nvSpPr>
          <p:cNvPr id="3" name="Vertical Text Placeholder 2"/>
          <p:cNvSpPr>
            <a:spLocks noGrp="1"/>
          </p:cNvSpPr>
          <p:nvPr>
            <p:ph type="body" orient="vert" idx="1"/>
          </p:nvPr>
        </p:nvSpPr>
        <p:spPr/>
        <p:txBody>
          <a:bodyPr vert="eaVert"/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9/23/2026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910927964"/>
      </p:ext>
    </p:extLst>
  </p:cSld>
  <p:clrMapOvr>
    <a:masterClrMapping/>
  </p:clrMapOvr>
</p:sldLayout>
</file>

<file path=ppt/slideLayouts/slideLayout11.xml><?xml version="1.0" encoding="utf-8"?>
<p:sldLayout xmlns:a="http://schemas.openxmlformats.org/drawingml/2006/main" xmlns:r="http://schemas.openxmlformats.org/officeDocument/2006/relationships" xmlns:p="http://schemas.openxmlformats.org/presentationml/2006/main" type="vertTitleAndTx" preserve="1">
  <p:cSld name="Vertical Title and Tex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Vertical Title 1"/>
          <p:cNvSpPr>
            <a:spLocks noGrp="1"/>
          </p:cNvSpPr>
          <p:nvPr>
            <p:ph type="title" orient="vert"/>
          </p:nvPr>
        </p:nvSpPr>
        <p:spPr>
          <a:xfrm>
            <a:off x="6629400" y="274638"/>
            <a:ext cx="2057400" cy="5851525"/>
          </a:xfrm>
        </p:spPr>
        <p:txBody>
          <a:bodyPr vert="eaVert"/>
          <a:lstStyle/>
          <a:p>
            <a:r>
              <a:rPr lang="en-US"/>
              <a:t>Click to edit Master title style</a:t>
            </a:r>
          </a:p>
        </p:txBody>
      </p:sp>
      <p:sp>
        <p:nvSpPr>
          <p:cNvPr id="3" name="Vertical Text Placeholder 2"/>
          <p:cNvSpPr>
            <a:spLocks noGrp="1"/>
          </p:cNvSpPr>
          <p:nvPr>
            <p:ph type="body" orient="vert" idx="1"/>
          </p:nvPr>
        </p:nvSpPr>
        <p:spPr>
          <a:xfrm>
            <a:off x="457200" y="274638"/>
            <a:ext cx="6019800" cy="5851525"/>
          </a:xfrm>
        </p:spPr>
        <p:txBody>
          <a:bodyPr vert="eaVert"/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9/23/2026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3612223792"/>
      </p:ext>
    </p:extLst>
  </p:cSld>
  <p:clrMapOvr>
    <a:masterClrMapping/>
  </p:clrMapOvr>
</p:sldLayout>
</file>

<file path=ppt/slideMasters/_rels/slideMaster1.xml.rels><?xml version="1.0" encoding="UTF-8" standalone="yes"?>
<Relationships xmlns="http://schemas.openxmlformats.org/package/2006/relationships"><Relationship Id="rId8" Type="http://schemas.openxmlformats.org/officeDocument/2006/relationships/slideLayout" Target="../slideLayouts/slideLayout8.xml"/><Relationship Id="rId3" Type="http://schemas.openxmlformats.org/officeDocument/2006/relationships/slideLayout" Target="../slideLayouts/slideLayout3.xml"/><Relationship Id="rId7" Type="http://schemas.openxmlformats.org/officeDocument/2006/relationships/slideLayout" Target="../slideLayouts/slideLayout7.xml"/><Relationship Id="rId12" Type="http://schemas.openxmlformats.org/officeDocument/2006/relationships/theme" Target="../theme/theme1.xml"/><Relationship Id="rId2" Type="http://schemas.openxmlformats.org/officeDocument/2006/relationships/slideLayout" Target="../slideLayouts/slideLayout2.xml"/><Relationship Id="rId1" Type="http://schemas.openxmlformats.org/officeDocument/2006/relationships/slideLayout" Target="../slideLayouts/slideLayout1.xml"/><Relationship Id="rId6" Type="http://schemas.openxmlformats.org/officeDocument/2006/relationships/slideLayout" Target="../slideLayouts/slideLayout6.xml"/><Relationship Id="rId11" Type="http://schemas.openxmlformats.org/officeDocument/2006/relationships/slideLayout" Target="../slideLayouts/slideLayout11.xml"/><Relationship Id="rId5" Type="http://schemas.openxmlformats.org/officeDocument/2006/relationships/slideLayout" Target="../slideLayouts/slideLayout5.xml"/><Relationship Id="rId10" Type="http://schemas.openxmlformats.org/officeDocument/2006/relationships/slideLayout" Target="../slideLayouts/slideLayout10.xml"/><Relationship Id="rId4" Type="http://schemas.openxmlformats.org/officeDocument/2006/relationships/slideLayout" Target="../slideLayouts/slideLayout4.xml"/><Relationship Id="rId9" Type="http://schemas.openxmlformats.org/officeDocument/2006/relationships/slideLayout" Target="../slideLayouts/slideLayout9.xml"/></Relationships>
</file>

<file path=ppt/slideMasters/slideMaster1.xml><?xml version="1.0" encoding="utf-8"?>
<p:sldMaster xmlns:a="http://schemas.openxmlformats.org/drawingml/2006/main" xmlns:r="http://schemas.openxmlformats.org/officeDocument/2006/relationships" xmlns:p="http://schemas.openxmlformats.org/presentationml/2006/main">
  <p:cSld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Placeholder 1"/>
          <p:cNvSpPr>
            <a:spLocks noGrp="1"/>
          </p:cNvSpPr>
          <p:nvPr>
            <p:ph type="title"/>
          </p:nvPr>
        </p:nvSpPr>
        <p:spPr>
          <a:xfrm>
            <a:off x="457200" y="274638"/>
            <a:ext cx="8229600" cy="1143000"/>
          </a:xfrm>
          <a:prstGeom prst="rect">
            <a:avLst/>
          </a:prstGeom>
        </p:spPr>
        <p:txBody>
          <a:bodyPr vert="horz" lIns="91440" tIns="45720" rIns="91440" bIns="45720" rtlCol="0" anchor="ctr">
            <a:normAutofit/>
          </a:bodyPr>
          <a:lstStyle/>
          <a:p>
            <a:r>
              <a:rPr lang="en-US"/>
              <a:t>Click to edit Master title style</a:t>
            </a:r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457200" y="1600200"/>
            <a:ext cx="8229600" cy="4525963"/>
          </a:xfrm>
          <a:prstGeom prst="rect">
            <a:avLst/>
          </a:prstGeom>
        </p:spPr>
        <p:txBody>
          <a:bodyPr vert="horz" lIns="91440" tIns="45720" rIns="91440" bIns="45720" rtlCol="0">
            <a:normAutofit/>
          </a:bodyPr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2"/>
          </p:nvPr>
        </p:nvSpPr>
        <p:spPr>
          <a:xfrm>
            <a:off x="457200" y="6356350"/>
            <a:ext cx="21336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l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fld id="{5BCAD085-E8A6-8845-BD4E-CB4CCA059FC4}" type="datetimeFigureOut">
              <a:rPr lang="en-US" smtClean="0"/>
              <a:t>9/23/2026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3"/>
          </p:nvPr>
        </p:nvSpPr>
        <p:spPr>
          <a:xfrm>
            <a:off x="3124200" y="6356350"/>
            <a:ext cx="28956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ctr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4"/>
          </p:nvPr>
        </p:nvSpPr>
        <p:spPr>
          <a:xfrm>
            <a:off x="6553200" y="6356350"/>
            <a:ext cx="21336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r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209977519"/>
      </p:ext>
    </p:extLst>
  </p:cSld>
  <p:clrMap bg1="lt1" tx1="dk1" bg2="lt2" tx2="dk2" accent1="accent1" accent2="accent2" accent3="accent3" accent4="accent4" accent5="accent5" accent6="accent6" hlink="hlink" folHlink="folHlink"/>
  <p:sldLayoutIdLst>
    <p:sldLayoutId id="2147483649" r:id="rId1"/>
    <p:sldLayoutId id="2147483650" r:id="rId2"/>
    <p:sldLayoutId id="2147483651" r:id="rId3"/>
    <p:sldLayoutId id="2147483652" r:id="rId4"/>
    <p:sldLayoutId id="2147483653" r:id="rId5"/>
    <p:sldLayoutId id="2147483654" r:id="rId6"/>
    <p:sldLayoutId id="2147483655" r:id="rId7"/>
    <p:sldLayoutId id="2147483656" r:id="rId8"/>
    <p:sldLayoutId id="2147483657" r:id="rId9"/>
    <p:sldLayoutId id="2147483658" r:id="rId10"/>
    <p:sldLayoutId id="2147483659" r:id="rId11"/>
  </p:sldLayoutIdLst>
  <p:txStyles>
    <p:titleStyle>
      <a:lvl1pPr algn="ctr" defTabSz="457200" rtl="0" eaLnBrk="1" latinLnBrk="0" hangingPunct="1">
        <a:spcBef>
          <a:spcPct val="0"/>
        </a:spcBef>
        <a:buNone/>
        <a:defRPr sz="4400" kern="1200">
          <a:solidFill>
            <a:schemeClr val="tx1"/>
          </a:solidFill>
          <a:latin typeface="+mj-lt"/>
          <a:ea typeface="+mj-ea"/>
          <a:cs typeface="+mj-cs"/>
        </a:defRPr>
      </a:lvl1pPr>
    </p:titleStyle>
    <p:bodyStyle>
      <a:lvl1pPr marL="342900" indent="-342900" algn="l" defTabSz="457200" rtl="0" eaLnBrk="1" latinLnBrk="0" hangingPunct="1">
        <a:spcBef>
          <a:spcPct val="20000"/>
        </a:spcBef>
        <a:buFont typeface="Arial"/>
        <a:buChar char="•"/>
        <a:defRPr sz="3200" kern="1200">
          <a:solidFill>
            <a:schemeClr val="tx1"/>
          </a:solidFill>
          <a:latin typeface="+mn-lt"/>
          <a:ea typeface="+mn-ea"/>
          <a:cs typeface="+mn-cs"/>
        </a:defRPr>
      </a:lvl1pPr>
      <a:lvl2pPr marL="742950" indent="-285750" algn="l" defTabSz="457200" rtl="0" eaLnBrk="1" latinLnBrk="0" hangingPunct="1">
        <a:spcBef>
          <a:spcPct val="20000"/>
        </a:spcBef>
        <a:buFont typeface="Arial"/>
        <a:buChar char="–"/>
        <a:defRPr sz="2800" kern="1200">
          <a:solidFill>
            <a:schemeClr val="tx1"/>
          </a:solidFill>
          <a:latin typeface="+mn-lt"/>
          <a:ea typeface="+mn-ea"/>
          <a:cs typeface="+mn-cs"/>
        </a:defRPr>
      </a:lvl2pPr>
      <a:lvl3pPr marL="1143000" indent="-228600" algn="l" defTabSz="457200" rtl="0" eaLnBrk="1" latinLnBrk="0" hangingPunct="1">
        <a:spcBef>
          <a:spcPct val="20000"/>
        </a:spcBef>
        <a:buFont typeface="Arial"/>
        <a:buChar char="•"/>
        <a:defRPr sz="2400" kern="1200">
          <a:solidFill>
            <a:schemeClr val="tx1"/>
          </a:solidFill>
          <a:latin typeface="+mn-lt"/>
          <a:ea typeface="+mn-ea"/>
          <a:cs typeface="+mn-cs"/>
        </a:defRPr>
      </a:lvl3pPr>
      <a:lvl4pPr marL="1600200" indent="-228600" algn="l" defTabSz="457200" rtl="0" eaLnBrk="1" latinLnBrk="0" hangingPunct="1">
        <a:spcBef>
          <a:spcPct val="20000"/>
        </a:spcBef>
        <a:buFont typeface="Arial"/>
        <a:buChar char="–"/>
        <a:defRPr sz="2000" kern="1200">
          <a:solidFill>
            <a:schemeClr val="tx1"/>
          </a:solidFill>
          <a:latin typeface="+mn-lt"/>
          <a:ea typeface="+mn-ea"/>
          <a:cs typeface="+mn-cs"/>
        </a:defRPr>
      </a:lvl4pPr>
      <a:lvl5pPr marL="2057400" indent="-228600" algn="l" defTabSz="457200" rtl="0" eaLnBrk="1" latinLnBrk="0" hangingPunct="1">
        <a:spcBef>
          <a:spcPct val="20000"/>
        </a:spcBef>
        <a:buFont typeface="Arial"/>
        <a:buChar char="»"/>
        <a:defRPr sz="2000" kern="1200">
          <a:solidFill>
            <a:schemeClr val="tx1"/>
          </a:solidFill>
          <a:latin typeface="+mn-lt"/>
          <a:ea typeface="+mn-ea"/>
          <a:cs typeface="+mn-cs"/>
        </a:defRPr>
      </a:lvl5pPr>
      <a:lvl6pPr marL="2514600" indent="-228600" algn="l" defTabSz="457200" rtl="0" eaLnBrk="1" latinLnBrk="0" hangingPunct="1">
        <a:spcBef>
          <a:spcPct val="20000"/>
        </a:spcBef>
        <a:buFont typeface="Arial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6pPr>
      <a:lvl7pPr marL="2971800" indent="-228600" algn="l" defTabSz="457200" rtl="0" eaLnBrk="1" latinLnBrk="0" hangingPunct="1">
        <a:spcBef>
          <a:spcPct val="20000"/>
        </a:spcBef>
        <a:buFont typeface="Arial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7pPr>
      <a:lvl8pPr marL="3429000" indent="-228600" algn="l" defTabSz="457200" rtl="0" eaLnBrk="1" latinLnBrk="0" hangingPunct="1">
        <a:spcBef>
          <a:spcPct val="20000"/>
        </a:spcBef>
        <a:buFont typeface="Arial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8pPr>
      <a:lvl9pPr marL="3886200" indent="-228600" algn="l" defTabSz="457200" rtl="0" eaLnBrk="1" latinLnBrk="0" hangingPunct="1">
        <a:spcBef>
          <a:spcPct val="20000"/>
        </a:spcBef>
        <a:buFont typeface="Arial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9pPr>
    </p:bodyStyle>
    <p:otherStyle>
      <a:defPPr>
        <a:defRPr lang="en-US"/>
      </a:defPPr>
      <a:lvl1pPr marL="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1pPr>
      <a:lvl2pPr marL="4572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2pPr>
      <a:lvl3pPr marL="9144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3pPr>
      <a:lvl4pPr marL="13716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4pPr>
      <a:lvl5pPr marL="18288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5pPr>
      <a:lvl6pPr marL="22860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6pPr>
      <a:lvl7pPr marL="27432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7pPr>
      <a:lvl8pPr marL="32004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8pPr>
      <a:lvl9pPr marL="36576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9pPr>
    </p:otherStyle>
  </p:txStyles>
</p:sldMaster>
</file>

<file path=ppt/slides/_rels/slide1.xml.rels><?xml version="1.0" encoding="UTF-8" standalone="yes"?>
<Relationships xmlns="http://schemas.openxmlformats.org/package/2006/relationships"><Relationship Id="rId2" Type="http://schemas.openxmlformats.org/officeDocument/2006/relationships/notesSlide" Target="../notesSlides/notesSlide1.xml"/><Relationship Id="rId1" Type="http://schemas.openxmlformats.org/officeDocument/2006/relationships/slideLayout" Target="../slideLayouts/slideLayout7.xml"/></Relationships>
</file>

<file path=ppt/slides/_rels/slide2.xml.rels><?xml version="1.0" encoding="UTF-8" standalone="yes"?>
<Relationships xmlns="http://schemas.openxmlformats.org/package/2006/relationships"><Relationship Id="rId2" Type="http://schemas.openxmlformats.org/officeDocument/2006/relationships/notesSlide" Target="../notesSlides/notesSlide2.xml"/><Relationship Id="rId1" Type="http://schemas.openxmlformats.org/officeDocument/2006/relationships/slideLayout" Target="../slideLayouts/slideLayout7.xml"/></Relationships>
</file>

<file path=ppt/slides/_rels/slide3.xml.rels><?xml version="1.0" encoding="UTF-8" standalone="yes"?>
<Relationships xmlns="http://schemas.openxmlformats.org/package/2006/relationships"><Relationship Id="rId2" Type="http://schemas.openxmlformats.org/officeDocument/2006/relationships/notesSlide" Target="../notesSlides/notesSlide3.xml"/><Relationship Id="rId1" Type="http://schemas.openxmlformats.org/officeDocument/2006/relationships/slideLayout" Target="../slideLayouts/slideLayout7.xml"/></Relationships>
</file>

<file path=ppt/slides/_rels/slide4.xml.rels><?xml version="1.0" encoding="UTF-8" standalone="yes"?>
<Relationships xmlns="http://schemas.openxmlformats.org/package/2006/relationships"><Relationship Id="rId2" Type="http://schemas.openxmlformats.org/officeDocument/2006/relationships/notesSlide" Target="../notesSlides/notesSlide4.xml"/><Relationship Id="rId1" Type="http://schemas.openxmlformats.org/officeDocument/2006/relationships/slideLayout" Target="../slideLayouts/slideLayout7.xml"/></Relationships>
</file>

<file path=ppt/slides/_rels/slide5.xml.rels><?xml version="1.0" encoding="UTF-8" standalone="yes"?>
<Relationships xmlns="http://schemas.openxmlformats.org/package/2006/relationships"><Relationship Id="rId2" Type="http://schemas.openxmlformats.org/officeDocument/2006/relationships/notesSlide" Target="../notesSlides/notesSlide5.xml"/><Relationship Id="rId1" Type="http://schemas.openxmlformats.org/officeDocument/2006/relationships/slideLayout" Target="../slideLayouts/slideLayout7.xml"/></Relationships>
</file>

<file path=ppt/slides/_rels/slide6.xml.rels><?xml version="1.0" encoding="UTF-8" standalone="yes"?>
<Relationships xmlns="http://schemas.openxmlformats.org/package/2006/relationships"><Relationship Id="rId2" Type="http://schemas.openxmlformats.org/officeDocument/2006/relationships/notesSlide" Target="../notesSlides/notesSlide6.xml"/><Relationship Id="rId1" Type="http://schemas.openxmlformats.org/officeDocument/2006/relationships/slideLayout" Target="../slideLayouts/slideLayout7.xml"/></Relationships>
</file>

<file path=ppt/slides/_rels/slide7.xml.rels><?xml version="1.0" encoding="UTF-8" standalone="yes"?>
<Relationships xmlns="http://schemas.openxmlformats.org/package/2006/relationships"><Relationship Id="rId2" Type="http://schemas.openxmlformats.org/officeDocument/2006/relationships/notesSlide" Target="../notesSlides/notesSlide7.xml"/><Relationship Id="rId1" Type="http://schemas.openxmlformats.org/officeDocument/2006/relationships/slideLayout" Target="../slideLayouts/slideLayout7.xml"/></Relationships>
</file>

<file path=ppt/slides/slide1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Rectangle 1"/>
          <p:cNvSpPr/>
          <p:nvPr/>
        </p:nvSpPr>
        <p:spPr>
          <a:xfrm>
            <a:off x="0" y="0"/>
            <a:ext cx="12191695" cy="6858000"/>
          </a:xfrm>
          <a:prstGeom prst="rect">
            <a:avLst/>
          </a:prstGeom>
          <a:solidFill>
            <a:srgbClr val="FAF4EA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3" name="Rectangle 2"/>
          <p:cNvSpPr/>
          <p:nvPr/>
        </p:nvSpPr>
        <p:spPr>
          <a:xfrm>
            <a:off x="0" y="0"/>
            <a:ext cx="5669280" cy="6858000"/>
          </a:xfrm>
          <a:prstGeom prst="rect">
            <a:avLst/>
          </a:prstGeom>
          <a:solidFill>
            <a:srgbClr val="1F2A44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4" name="Rectangle 3"/>
          <p:cNvSpPr/>
          <p:nvPr/>
        </p:nvSpPr>
        <p:spPr>
          <a:xfrm>
            <a:off x="5669280" y="0"/>
            <a:ext cx="36576" cy="6858000"/>
          </a:xfrm>
          <a:prstGeom prst="rect">
            <a:avLst/>
          </a:prstGeom>
          <a:solidFill>
            <a:srgbClr val="E06A5C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5" name="TextBox 4"/>
          <p:cNvSpPr txBox="1"/>
          <p:nvPr/>
        </p:nvSpPr>
        <p:spPr>
          <a:xfrm>
            <a:off x="548640" y="502920"/>
            <a:ext cx="2743200" cy="365760"/>
          </a:xfrm>
          <a:prstGeom prst="rect">
            <a:avLst/>
          </a:prstGeom>
          <a:noFill/>
          <a:effectLst/>
        </p:spPr>
        <p:txBody>
          <a:bodyPr wrap="square" lIns="0" tIns="0" rIns="0" bIns="0" anchor="t">
            <a:spAutoFit/>
          </a:bodyPr>
          <a:lstStyle/>
          <a:p>
            <a:pPr algn="l">
              <a:lnSpc>
                <a:spcPct val="120000"/>
              </a:lnSpc>
            </a:pPr>
            <a:r>
              <a:rPr sz="1100" b="1" i="0" spc="4">
                <a:solidFill>
                  <a:srgbClr val="F2C94B"/>
                </a:solidFill>
                <a:latin typeface="Source Han Sans SC"/>
                <a:ea typeface="Source Han Sans SC"/>
              </a:rPr>
              <a:t>VOL. 01  /  AI · OPEN MIKE</a:t>
            </a:r>
          </a:p>
        </p:txBody>
      </p:sp>
      <p:sp>
        <p:nvSpPr>
          <p:cNvPr id="6" name="TextBox 5"/>
          <p:cNvSpPr txBox="1"/>
          <p:nvPr/>
        </p:nvSpPr>
        <p:spPr>
          <a:xfrm>
            <a:off x="548640" y="1005840"/>
            <a:ext cx="4937760" cy="365760"/>
          </a:xfrm>
          <a:prstGeom prst="rect">
            <a:avLst/>
          </a:prstGeom>
          <a:noFill/>
          <a:effectLst/>
        </p:spPr>
        <p:txBody>
          <a:bodyPr wrap="square" lIns="0" tIns="0" rIns="0" bIns="0" anchor="t">
            <a:spAutoFit/>
          </a:bodyPr>
          <a:lstStyle/>
          <a:p>
            <a:pPr algn="l">
              <a:lnSpc>
                <a:spcPct val="120000"/>
              </a:lnSpc>
            </a:pPr>
            <a:r>
              <a:rPr sz="1300" b="0" i="1">
                <a:solidFill>
                  <a:srgbClr val="E8E2D2"/>
                </a:solidFill>
                <a:latin typeface="Source Han Sans SC"/>
                <a:ea typeface="Source Han Sans SC"/>
              </a:rPr>
              <a:t>江南在田野 · 小红书讨论梳理</a:t>
            </a:r>
          </a:p>
        </p:txBody>
      </p:sp>
      <p:sp>
        <p:nvSpPr>
          <p:cNvPr id="7" name="TextBox 6"/>
          <p:cNvSpPr txBox="1"/>
          <p:nvPr/>
        </p:nvSpPr>
        <p:spPr>
          <a:xfrm>
            <a:off x="548640" y="1828800"/>
            <a:ext cx="4937760" cy="2449517"/>
          </a:xfrm>
          <a:prstGeom prst="rect">
            <a:avLst/>
          </a:prstGeom>
          <a:noFill/>
          <a:effectLst/>
        </p:spPr>
        <p:txBody>
          <a:bodyPr wrap="square" lIns="0" tIns="0" rIns="0" bIns="0" anchor="t">
            <a:spAutoFit/>
          </a:bodyPr>
          <a:lstStyle/>
          <a:p>
            <a:pPr algn="l">
              <a:lnSpc>
                <a:spcPct val="118000"/>
              </a:lnSpc>
            </a:pPr>
            <a:r>
              <a:rPr sz="4600" b="1" i="0" spc="2" dirty="0">
                <a:solidFill>
                  <a:srgbClr val="FFFFFF"/>
                </a:solidFill>
                <a:latin typeface="Source Han Serif SC"/>
                <a:ea typeface="Source Han Serif SC"/>
              </a:rPr>
              <a:t>AI 让</a:t>
            </a:r>
            <a:r>
              <a:rPr lang="zh-CN" altLang="en-US" sz="4600" b="1" i="0" spc="2" dirty="0">
                <a:solidFill>
                  <a:srgbClr val="FFFFFF"/>
                </a:solidFill>
                <a:latin typeface="Source Han Serif SC"/>
                <a:ea typeface="Source Han Serif SC"/>
              </a:rPr>
              <a:t>我们</a:t>
            </a:r>
            <a:endParaRPr sz="4600" b="1" i="0" spc="2" dirty="0">
              <a:solidFill>
                <a:srgbClr val="FFFFFF"/>
              </a:solidFill>
              <a:latin typeface="Source Han Serif SC"/>
              <a:ea typeface="Source Han Serif SC"/>
            </a:endParaRPr>
          </a:p>
          <a:p>
            <a:pPr algn="l">
              <a:lnSpc>
                <a:spcPct val="118000"/>
              </a:lnSpc>
            </a:pPr>
            <a:r>
              <a:rPr sz="4600" b="1" i="0" spc="2" dirty="0" err="1">
                <a:solidFill>
                  <a:srgbClr val="FFFFFF"/>
                </a:solidFill>
                <a:latin typeface="Source Han Serif SC"/>
                <a:ea typeface="Source Han Serif SC"/>
              </a:rPr>
              <a:t>变得越来越</a:t>
            </a:r>
            <a:endParaRPr sz="4600" b="1" i="0" spc="2" dirty="0">
              <a:solidFill>
                <a:srgbClr val="FFFFFF"/>
              </a:solidFill>
              <a:latin typeface="Source Han Serif SC"/>
              <a:ea typeface="Source Han Serif SC"/>
            </a:endParaRPr>
          </a:p>
          <a:p>
            <a:pPr algn="l">
              <a:lnSpc>
                <a:spcPct val="118000"/>
              </a:lnSpc>
            </a:pPr>
            <a:r>
              <a:rPr sz="4600" b="1" i="0" spc="2" dirty="0" err="1">
                <a:solidFill>
                  <a:srgbClr val="FFFFFF"/>
                </a:solidFill>
                <a:latin typeface="Source Han Serif SC"/>
                <a:ea typeface="Source Han Serif SC"/>
              </a:rPr>
              <a:t>同质化了吗</a:t>
            </a:r>
            <a:r>
              <a:rPr sz="4600" b="1" i="0" spc="2" dirty="0">
                <a:solidFill>
                  <a:srgbClr val="FFFFFF"/>
                </a:solidFill>
                <a:latin typeface="Source Han Serif SC"/>
                <a:ea typeface="Source Han Serif SC"/>
              </a:rPr>
              <a:t>？</a:t>
            </a:r>
          </a:p>
        </p:txBody>
      </p:sp>
      <p:sp>
        <p:nvSpPr>
          <p:cNvPr id="8" name="Rectangle 7"/>
          <p:cNvSpPr/>
          <p:nvPr/>
        </p:nvSpPr>
        <p:spPr>
          <a:xfrm>
            <a:off x="548640" y="4526280"/>
            <a:ext cx="548640" cy="45720"/>
          </a:xfrm>
          <a:prstGeom prst="rect">
            <a:avLst/>
          </a:prstGeom>
          <a:solidFill>
            <a:srgbClr val="E06A5C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9" name="TextBox 8"/>
          <p:cNvSpPr txBox="1"/>
          <p:nvPr/>
        </p:nvSpPr>
        <p:spPr>
          <a:xfrm>
            <a:off x="548640" y="4663440"/>
            <a:ext cx="4937760" cy="365760"/>
          </a:xfrm>
          <a:prstGeom prst="rect">
            <a:avLst/>
          </a:prstGeom>
          <a:noFill/>
          <a:effectLst/>
        </p:spPr>
        <p:txBody>
          <a:bodyPr wrap="square" lIns="0" tIns="0" rIns="0" bIns="0" anchor="t">
            <a:spAutoFit/>
          </a:bodyPr>
          <a:lstStyle/>
          <a:p>
            <a:pPr algn="l">
              <a:lnSpc>
                <a:spcPct val="120000"/>
              </a:lnSpc>
            </a:pPr>
            <a:r>
              <a:rPr sz="1400" b="1" i="0" spc="2">
                <a:solidFill>
                  <a:srgbClr val="F2C94B"/>
                </a:solidFill>
                <a:latin typeface="Source Han Sans SC"/>
                <a:ea typeface="Source Han Sans SC"/>
              </a:rPr>
              <a:t>从一次网络讨论出发</a:t>
            </a:r>
          </a:p>
        </p:txBody>
      </p:sp>
      <p:sp>
        <p:nvSpPr>
          <p:cNvPr id="10" name="TextBox 9"/>
          <p:cNvSpPr txBox="1"/>
          <p:nvPr/>
        </p:nvSpPr>
        <p:spPr>
          <a:xfrm>
            <a:off x="548640" y="5029200"/>
            <a:ext cx="4937760" cy="801501"/>
          </a:xfrm>
          <a:prstGeom prst="rect">
            <a:avLst/>
          </a:prstGeom>
          <a:noFill/>
          <a:effectLst/>
        </p:spPr>
        <p:txBody>
          <a:bodyPr wrap="square" lIns="0" tIns="0" rIns="0" bIns="0" anchor="t">
            <a:spAutoFit/>
          </a:bodyPr>
          <a:lstStyle/>
          <a:p>
            <a:pPr algn="l">
              <a:lnSpc>
                <a:spcPct val="150000"/>
              </a:lnSpc>
            </a:pPr>
            <a:r>
              <a:rPr sz="1200" b="0" i="0" dirty="0">
                <a:solidFill>
                  <a:srgbClr val="CBC2A8"/>
                </a:solidFill>
                <a:latin typeface="Source Han Sans SC"/>
                <a:ea typeface="Source Han Sans SC"/>
              </a:rPr>
              <a:t>6 </a:t>
            </a:r>
            <a:r>
              <a:rPr sz="1200" b="0" i="0" dirty="0" err="1">
                <a:solidFill>
                  <a:srgbClr val="CBC2A8"/>
                </a:solidFill>
                <a:latin typeface="Source Han Sans SC"/>
                <a:ea typeface="Source Han Sans SC"/>
              </a:rPr>
              <a:t>个主要观点</a:t>
            </a:r>
            <a:r>
              <a:rPr sz="1200" b="0" i="0" dirty="0">
                <a:solidFill>
                  <a:srgbClr val="CBC2A8"/>
                </a:solidFill>
                <a:latin typeface="Source Han Sans SC"/>
                <a:ea typeface="Source Han Sans SC"/>
              </a:rPr>
              <a:t> · 3 </a:t>
            </a:r>
            <a:r>
              <a:rPr sz="1200" b="0" i="0" dirty="0" err="1">
                <a:solidFill>
                  <a:srgbClr val="CBC2A8"/>
                </a:solidFill>
                <a:latin typeface="Source Han Sans SC"/>
                <a:ea typeface="Source Han Sans SC"/>
              </a:rPr>
              <a:t>类立场</a:t>
            </a:r>
            <a:r>
              <a:rPr sz="1200" b="0" i="0" dirty="0">
                <a:solidFill>
                  <a:srgbClr val="CBC2A8"/>
                </a:solidFill>
                <a:latin typeface="Source Han Sans SC"/>
                <a:ea typeface="Source Han Sans SC"/>
              </a:rPr>
              <a:t> · 1 </a:t>
            </a:r>
            <a:r>
              <a:rPr sz="1200" b="0" i="0" dirty="0" err="1">
                <a:solidFill>
                  <a:srgbClr val="CBC2A8"/>
                </a:solidFill>
                <a:latin typeface="Source Han Sans SC"/>
                <a:ea typeface="Source Han Sans SC"/>
              </a:rPr>
              <a:t>份行动清单</a:t>
            </a:r>
            <a:endParaRPr sz="1200" b="0" i="0" dirty="0">
              <a:solidFill>
                <a:srgbClr val="CBC2A8"/>
              </a:solidFill>
              <a:latin typeface="Source Han Sans SC"/>
              <a:ea typeface="Source Han Sans SC"/>
            </a:endParaRPr>
          </a:p>
          <a:p>
            <a:pPr algn="l">
              <a:lnSpc>
                <a:spcPct val="150000"/>
              </a:lnSpc>
            </a:pPr>
            <a:r>
              <a:rPr sz="1200" b="0" i="0" dirty="0" err="1">
                <a:solidFill>
                  <a:srgbClr val="CBC2A8"/>
                </a:solidFill>
                <a:latin typeface="Source Han Sans SC"/>
                <a:ea typeface="Source Han Sans SC"/>
              </a:rPr>
              <a:t>梳理热点帖下的真实讨论，看见</a:t>
            </a:r>
            <a:r>
              <a:rPr sz="1200" b="0" i="0" dirty="0">
                <a:solidFill>
                  <a:srgbClr val="CBC2A8"/>
                </a:solidFill>
                <a:latin typeface="Source Han Sans SC"/>
                <a:ea typeface="Source Han Sans SC"/>
              </a:rPr>
              <a:t> AI </a:t>
            </a:r>
            <a:r>
              <a:rPr sz="1200" b="0" i="0" dirty="0" err="1">
                <a:solidFill>
                  <a:srgbClr val="CBC2A8"/>
                </a:solidFill>
                <a:latin typeface="Source Han Sans SC"/>
                <a:ea typeface="Source Han Sans SC"/>
              </a:rPr>
              <a:t>时代</a:t>
            </a:r>
            <a:endParaRPr sz="1200" b="0" i="0" dirty="0">
              <a:solidFill>
                <a:srgbClr val="CBC2A8"/>
              </a:solidFill>
              <a:latin typeface="Source Han Sans SC"/>
              <a:ea typeface="Source Han Sans SC"/>
            </a:endParaRPr>
          </a:p>
          <a:p>
            <a:pPr algn="l">
              <a:lnSpc>
                <a:spcPct val="150000"/>
              </a:lnSpc>
            </a:pPr>
            <a:r>
              <a:rPr lang="zh-CN" altLang="en-US" sz="1200" dirty="0">
                <a:solidFill>
                  <a:srgbClr val="CBC2A8"/>
                </a:solidFill>
                <a:latin typeface="Source Han Sans SC"/>
                <a:ea typeface="Source Han Sans SC"/>
              </a:rPr>
              <a:t>我们</a:t>
            </a:r>
            <a:r>
              <a:rPr sz="1200" b="0" i="0" dirty="0" err="1">
                <a:solidFill>
                  <a:srgbClr val="CBC2A8"/>
                </a:solidFill>
                <a:latin typeface="Source Han Sans SC"/>
                <a:ea typeface="Source Han Sans SC"/>
              </a:rPr>
              <a:t>的学习、表达与创造力正在发生什么</a:t>
            </a:r>
            <a:r>
              <a:rPr sz="1200" b="0" i="0" dirty="0">
                <a:solidFill>
                  <a:srgbClr val="CBC2A8"/>
                </a:solidFill>
                <a:latin typeface="Source Han Sans SC"/>
                <a:ea typeface="Source Han Sans SC"/>
              </a:rPr>
              <a:t>。</a:t>
            </a:r>
          </a:p>
        </p:txBody>
      </p:sp>
      <p:sp>
        <p:nvSpPr>
          <p:cNvPr id="12" name="TextBox 11"/>
          <p:cNvSpPr txBox="1"/>
          <p:nvPr/>
        </p:nvSpPr>
        <p:spPr>
          <a:xfrm>
            <a:off x="6400800" y="502920"/>
            <a:ext cx="5029200" cy="365760"/>
          </a:xfrm>
          <a:prstGeom prst="rect">
            <a:avLst/>
          </a:prstGeom>
          <a:noFill/>
          <a:effectLst/>
        </p:spPr>
        <p:txBody>
          <a:bodyPr wrap="square" lIns="0" tIns="0" rIns="0" bIns="0" anchor="t">
            <a:spAutoFit/>
          </a:bodyPr>
          <a:lstStyle/>
          <a:p>
            <a:pPr algn="l">
              <a:lnSpc>
                <a:spcPct val="120000"/>
              </a:lnSpc>
            </a:pPr>
            <a:r>
              <a:rPr sz="1100" b="1" i="0" spc="4">
                <a:solidFill>
                  <a:srgbClr val="555E73"/>
                </a:solidFill>
                <a:latin typeface="Source Han Sans SC"/>
                <a:ea typeface="Source Han Sans SC"/>
              </a:rPr>
              <a:t>CASE  ·  XIAOHONGSHU</a:t>
            </a:r>
          </a:p>
        </p:txBody>
      </p:sp>
      <p:sp>
        <p:nvSpPr>
          <p:cNvPr id="13" name="TextBox 12"/>
          <p:cNvSpPr txBox="1"/>
          <p:nvPr/>
        </p:nvSpPr>
        <p:spPr>
          <a:xfrm>
            <a:off x="6400800" y="1097280"/>
            <a:ext cx="5303520" cy="4114800"/>
          </a:xfrm>
          <a:prstGeom prst="rect">
            <a:avLst/>
          </a:prstGeom>
          <a:noFill/>
          <a:effectLst/>
        </p:spPr>
        <p:txBody>
          <a:bodyPr wrap="square" lIns="0" tIns="0" rIns="0" bIns="0" anchor="t">
            <a:spAutoFit/>
          </a:bodyPr>
          <a:lstStyle/>
          <a:p>
            <a:pPr algn="l">
              <a:lnSpc>
                <a:spcPct val="100000"/>
              </a:lnSpc>
            </a:pPr>
            <a:r>
              <a:rPr sz="30000" b="1" i="0" spc="-4">
                <a:solidFill>
                  <a:srgbClr val="E06A5C"/>
                </a:solidFill>
                <a:latin typeface="Source Han Serif SC"/>
                <a:ea typeface="Source Han Serif SC"/>
              </a:rPr>
              <a:t>AI</a:t>
            </a:r>
          </a:p>
        </p:txBody>
      </p:sp>
      <p:sp>
        <p:nvSpPr>
          <p:cNvPr id="14" name="TextBox 13"/>
          <p:cNvSpPr txBox="1"/>
          <p:nvPr/>
        </p:nvSpPr>
        <p:spPr>
          <a:xfrm>
            <a:off x="6583680" y="5303520"/>
            <a:ext cx="5120640" cy="457200"/>
          </a:xfrm>
          <a:prstGeom prst="rect">
            <a:avLst/>
          </a:prstGeom>
          <a:noFill/>
          <a:effectLst/>
        </p:spPr>
        <p:txBody>
          <a:bodyPr wrap="square" lIns="0" tIns="0" rIns="0" bIns="0" anchor="t">
            <a:spAutoFit/>
          </a:bodyPr>
          <a:lstStyle/>
          <a:p>
            <a:pPr algn="l">
              <a:lnSpc>
                <a:spcPct val="120000"/>
              </a:lnSpc>
            </a:pPr>
            <a:r>
              <a:rPr sz="1600" b="1" i="0" spc="2">
                <a:solidFill>
                  <a:srgbClr val="1F2A44"/>
                </a:solidFill>
                <a:latin typeface="Source Han Sans SC"/>
                <a:ea typeface="Source Han Sans SC"/>
              </a:rPr>
              <a:t>Artificial Intelligence × Education</a:t>
            </a:r>
          </a:p>
        </p:txBody>
      </p:sp>
      <p:sp>
        <p:nvSpPr>
          <p:cNvPr id="15" name="TextBox 14"/>
          <p:cNvSpPr txBox="1"/>
          <p:nvPr/>
        </p:nvSpPr>
        <p:spPr>
          <a:xfrm>
            <a:off x="6583680" y="5715000"/>
            <a:ext cx="5120640" cy="457200"/>
          </a:xfrm>
          <a:prstGeom prst="rect">
            <a:avLst/>
          </a:prstGeom>
          <a:noFill/>
          <a:effectLst/>
        </p:spPr>
        <p:txBody>
          <a:bodyPr wrap="square" lIns="0" tIns="0" rIns="0" bIns="0" anchor="t">
            <a:spAutoFit/>
          </a:bodyPr>
          <a:lstStyle/>
          <a:p>
            <a:pPr algn="l">
              <a:lnSpc>
                <a:spcPct val="120000"/>
              </a:lnSpc>
            </a:pPr>
            <a:r>
              <a:rPr sz="1200" b="0" i="1" dirty="0" err="1">
                <a:solidFill>
                  <a:srgbClr val="555E73"/>
                </a:solidFill>
                <a:latin typeface="Source Han Sans SC"/>
                <a:ea typeface="Source Han Sans SC"/>
              </a:rPr>
              <a:t>一份来自一线的网络观察笔记</a:t>
            </a:r>
            <a:endParaRPr sz="1200" b="0" i="1" dirty="0">
              <a:solidFill>
                <a:srgbClr val="555E73"/>
              </a:solidFill>
              <a:latin typeface="Source Han Sans SC"/>
              <a:ea typeface="Source Han Sans SC"/>
            </a:endParaRPr>
          </a:p>
        </p:txBody>
      </p:sp>
      <p:sp>
        <p:nvSpPr>
          <p:cNvPr id="16" name="Rounded Rectangle 15"/>
          <p:cNvSpPr/>
          <p:nvPr/>
        </p:nvSpPr>
        <p:spPr>
          <a:xfrm>
            <a:off x="6583680" y="6263640"/>
            <a:ext cx="2194560" cy="320040"/>
          </a:xfrm>
          <a:prstGeom prst="roundRect">
            <a:avLst>
              <a:gd name="adj" fmla="val 50000"/>
            </a:avLst>
          </a:prstGeom>
          <a:solidFill>
            <a:srgbClr val="1F2A44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lIns="0" tIns="0" rIns="0" bIns="0" rtlCol="0" anchor="ctr"/>
          <a:lstStyle/>
          <a:p>
            <a:pPr algn="ctr"/>
            <a:r>
              <a:rPr sz="1000" b="1">
                <a:solidFill>
                  <a:srgbClr val="FFFFFF"/>
                </a:solidFill>
                <a:latin typeface="Source Han Sans SC"/>
                <a:ea typeface="Source Han Sans SC"/>
              </a:rPr>
              <a:t>#AI  ·  #教育  ·  #创造力</a:t>
            </a:r>
          </a:p>
        </p:txBody>
      </p:sp>
    </p:spTree>
  </p:cSld>
  <p:clrMapOvr>
    <a:masterClrMapping/>
  </p:clrMapOvr>
</p:sld>
</file>

<file path=ppt/slides/slide2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Rectangle 1"/>
          <p:cNvSpPr/>
          <p:nvPr/>
        </p:nvSpPr>
        <p:spPr>
          <a:xfrm>
            <a:off x="0" y="0"/>
            <a:ext cx="12191695" cy="6858000"/>
          </a:xfrm>
          <a:prstGeom prst="rect">
            <a:avLst/>
          </a:prstGeom>
          <a:solidFill>
            <a:srgbClr val="FAF4EA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3" name="TextBox 2"/>
          <p:cNvSpPr txBox="1"/>
          <p:nvPr/>
        </p:nvSpPr>
        <p:spPr>
          <a:xfrm>
            <a:off x="548640" y="502920"/>
            <a:ext cx="5486400" cy="365760"/>
          </a:xfrm>
          <a:prstGeom prst="rect">
            <a:avLst/>
          </a:prstGeom>
          <a:noFill/>
          <a:effectLst/>
        </p:spPr>
        <p:txBody>
          <a:bodyPr wrap="square" lIns="0" tIns="0" rIns="0" bIns="0" anchor="t">
            <a:spAutoFit/>
          </a:bodyPr>
          <a:lstStyle/>
          <a:p>
            <a:pPr algn="l">
              <a:lnSpc>
                <a:spcPct val="120000"/>
              </a:lnSpc>
            </a:pPr>
            <a:r>
              <a:rPr sz="1100" b="1" i="0" spc="5">
                <a:solidFill>
                  <a:srgbClr val="E06A5C"/>
                </a:solidFill>
                <a:latin typeface="Source Han Sans SC"/>
                <a:ea typeface="Source Han Sans SC"/>
              </a:rPr>
              <a:t>02  /  观点梳理  ·  上篇</a:t>
            </a:r>
          </a:p>
        </p:txBody>
      </p:sp>
      <p:sp>
        <p:nvSpPr>
          <p:cNvPr id="4" name="TextBox 3"/>
          <p:cNvSpPr txBox="1"/>
          <p:nvPr/>
        </p:nvSpPr>
        <p:spPr>
          <a:xfrm>
            <a:off x="548640" y="914400"/>
            <a:ext cx="10972800" cy="514885"/>
          </a:xfrm>
          <a:prstGeom prst="rect">
            <a:avLst/>
          </a:prstGeom>
          <a:noFill/>
          <a:effectLst/>
        </p:spPr>
        <p:txBody>
          <a:bodyPr wrap="square" lIns="0" tIns="0" rIns="0" bIns="0" anchor="t">
            <a:spAutoFit/>
          </a:bodyPr>
          <a:lstStyle/>
          <a:p>
            <a:pPr algn="l">
              <a:lnSpc>
                <a:spcPct val="120000"/>
              </a:lnSpc>
            </a:pPr>
            <a:r>
              <a:rPr sz="3000" b="1" i="0" spc="2" dirty="0" err="1">
                <a:solidFill>
                  <a:srgbClr val="1F2A44"/>
                </a:solidFill>
                <a:latin typeface="Source Han Serif SC"/>
                <a:ea typeface="Source Han Serif SC"/>
              </a:rPr>
              <a:t>担忧：AI</a:t>
            </a:r>
            <a:r>
              <a:rPr sz="3000" b="1" i="0" spc="2" dirty="0">
                <a:solidFill>
                  <a:srgbClr val="1F2A44"/>
                </a:solidFill>
                <a:latin typeface="Source Han Serif SC"/>
                <a:ea typeface="Source Han Serif SC"/>
              </a:rPr>
              <a:t> </a:t>
            </a:r>
            <a:r>
              <a:rPr sz="3000" b="1" i="0" spc="2" dirty="0" err="1">
                <a:solidFill>
                  <a:srgbClr val="1F2A44"/>
                </a:solidFill>
                <a:latin typeface="Source Han Serif SC"/>
                <a:ea typeface="Source Han Serif SC"/>
              </a:rPr>
              <a:t>正在悄悄抹平差异</a:t>
            </a:r>
            <a:endParaRPr sz="3000" b="1" i="0" spc="2" dirty="0">
              <a:solidFill>
                <a:srgbClr val="1F2A44"/>
              </a:solidFill>
              <a:latin typeface="Source Han Serif SC"/>
              <a:ea typeface="Source Han Serif SC"/>
            </a:endParaRPr>
          </a:p>
        </p:txBody>
      </p:sp>
      <p:sp>
        <p:nvSpPr>
          <p:cNvPr id="6" name="Rectangle 5"/>
          <p:cNvSpPr/>
          <p:nvPr/>
        </p:nvSpPr>
        <p:spPr>
          <a:xfrm>
            <a:off x="548640" y="2377440"/>
            <a:ext cx="1463040" cy="1143000"/>
          </a:xfrm>
          <a:prstGeom prst="rect">
            <a:avLst/>
          </a:prstGeom>
          <a:solidFill>
            <a:srgbClr val="1F2A44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7" name="TextBox 6"/>
          <p:cNvSpPr txBox="1"/>
          <p:nvPr/>
        </p:nvSpPr>
        <p:spPr>
          <a:xfrm>
            <a:off x="548640" y="2377440"/>
            <a:ext cx="1463040" cy="457200"/>
          </a:xfrm>
          <a:prstGeom prst="rect">
            <a:avLst/>
          </a:prstGeom>
          <a:noFill/>
          <a:effectLst/>
        </p:spPr>
        <p:txBody>
          <a:bodyPr wrap="square" lIns="0" tIns="0" rIns="0" bIns="0" anchor="b">
            <a:spAutoFit/>
          </a:bodyPr>
          <a:lstStyle/>
          <a:p>
            <a:pPr algn="ctr">
              <a:lnSpc>
                <a:spcPct val="120000"/>
              </a:lnSpc>
            </a:pPr>
            <a:r>
              <a:rPr sz="1100" b="1" i="0" spc="3">
                <a:solidFill>
                  <a:srgbClr val="F2C94B"/>
                </a:solidFill>
                <a:latin typeface="Source Han Sans SC"/>
                <a:ea typeface="Source Han Sans SC"/>
              </a:rPr>
              <a:t>观点 1</a:t>
            </a:r>
          </a:p>
        </p:txBody>
      </p:sp>
      <p:sp>
        <p:nvSpPr>
          <p:cNvPr id="8" name="TextBox 7"/>
          <p:cNvSpPr txBox="1"/>
          <p:nvPr/>
        </p:nvSpPr>
        <p:spPr>
          <a:xfrm>
            <a:off x="548640" y="2834640"/>
            <a:ext cx="1463040" cy="640080"/>
          </a:xfrm>
          <a:prstGeom prst="rect">
            <a:avLst/>
          </a:prstGeom>
          <a:noFill/>
          <a:effectLst/>
        </p:spPr>
        <p:txBody>
          <a:bodyPr wrap="square" lIns="0" tIns="0" rIns="0" bIns="0" anchor="t">
            <a:spAutoFit/>
          </a:bodyPr>
          <a:lstStyle/>
          <a:p>
            <a:pPr algn="ctr">
              <a:lnSpc>
                <a:spcPct val="120000"/>
              </a:lnSpc>
            </a:pPr>
            <a:r>
              <a:rPr sz="3400" b="1" i="0" spc="2">
                <a:solidFill>
                  <a:srgbClr val="FFFFFF"/>
                </a:solidFill>
                <a:latin typeface="Source Han Serif SC"/>
                <a:ea typeface="Source Han Serif SC"/>
              </a:rPr>
              <a:t>01</a:t>
            </a:r>
          </a:p>
        </p:txBody>
      </p:sp>
      <p:sp>
        <p:nvSpPr>
          <p:cNvPr id="9" name="Rectangle 8"/>
          <p:cNvSpPr/>
          <p:nvPr/>
        </p:nvSpPr>
        <p:spPr>
          <a:xfrm>
            <a:off x="2103120" y="2377440"/>
            <a:ext cx="9601200" cy="1143000"/>
          </a:xfrm>
          <a:prstGeom prst="rect">
            <a:avLst/>
          </a:prstGeom>
          <a:solidFill>
            <a:srgbClr val="FFFFFF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10" name="TextBox 9"/>
          <p:cNvSpPr txBox="1"/>
          <p:nvPr/>
        </p:nvSpPr>
        <p:spPr>
          <a:xfrm>
            <a:off x="2377440" y="2560320"/>
            <a:ext cx="9144000" cy="411480"/>
          </a:xfrm>
          <a:prstGeom prst="rect">
            <a:avLst/>
          </a:prstGeom>
          <a:noFill/>
          <a:effectLst/>
        </p:spPr>
        <p:txBody>
          <a:bodyPr wrap="square" lIns="0" tIns="0" rIns="0" bIns="0" anchor="t">
            <a:spAutoFit/>
          </a:bodyPr>
          <a:lstStyle/>
          <a:p>
            <a:pPr algn="l">
              <a:lnSpc>
                <a:spcPct val="120000"/>
              </a:lnSpc>
            </a:pPr>
            <a:r>
              <a:rPr sz="1800" b="1" i="0" spc="1" dirty="0" err="1">
                <a:solidFill>
                  <a:srgbClr val="1F2A44"/>
                </a:solidFill>
                <a:latin typeface="Source Han Serif SC"/>
                <a:ea typeface="Source Han Serif SC"/>
              </a:rPr>
              <a:t>表达风格被「平均化</a:t>
            </a:r>
            <a:r>
              <a:rPr sz="1800" b="1" i="0" spc="1" dirty="0">
                <a:solidFill>
                  <a:srgbClr val="1F2A44"/>
                </a:solidFill>
                <a:latin typeface="Source Han Serif SC"/>
                <a:ea typeface="Source Han Serif SC"/>
              </a:rPr>
              <a:t>」</a:t>
            </a:r>
          </a:p>
        </p:txBody>
      </p:sp>
      <p:sp>
        <p:nvSpPr>
          <p:cNvPr id="11" name="TextBox 10"/>
          <p:cNvSpPr txBox="1"/>
          <p:nvPr/>
        </p:nvSpPr>
        <p:spPr>
          <a:xfrm>
            <a:off x="2377440" y="2971800"/>
            <a:ext cx="9144000" cy="257827"/>
          </a:xfrm>
          <a:prstGeom prst="rect">
            <a:avLst/>
          </a:prstGeom>
          <a:noFill/>
          <a:effectLst/>
        </p:spPr>
        <p:txBody>
          <a:bodyPr wrap="square" lIns="0" tIns="0" rIns="0" bIns="0" anchor="t">
            <a:spAutoFit/>
          </a:bodyPr>
          <a:lstStyle/>
          <a:p>
            <a:pPr algn="l">
              <a:lnSpc>
                <a:spcPct val="150000"/>
              </a:lnSpc>
            </a:pPr>
            <a:r>
              <a:rPr sz="1250" b="0" i="0" dirty="0">
                <a:solidFill>
                  <a:srgbClr val="222A3A"/>
                </a:solidFill>
                <a:latin typeface="Source Han Sans SC"/>
                <a:ea typeface="Source Han Sans SC"/>
              </a:rPr>
              <a:t>AI </a:t>
            </a:r>
            <a:r>
              <a:rPr sz="1250" b="0" i="0" dirty="0" err="1">
                <a:solidFill>
                  <a:srgbClr val="222A3A"/>
                </a:solidFill>
                <a:latin typeface="Source Han Sans SC"/>
                <a:ea typeface="Source Han Sans SC"/>
              </a:rPr>
              <a:t>模型基于统计概率生成内容，输出偏向主流语言、主流观点</a:t>
            </a:r>
            <a:r>
              <a:rPr sz="1250" b="0" i="0" dirty="0">
                <a:solidFill>
                  <a:srgbClr val="222A3A"/>
                </a:solidFill>
                <a:latin typeface="Source Han Sans SC"/>
                <a:ea typeface="Source Han Sans SC"/>
              </a:rPr>
              <a:t>。</a:t>
            </a:r>
            <a:r>
              <a:rPr lang="zh-CN" altLang="en-US" sz="1250" b="0" i="0" dirty="0">
                <a:solidFill>
                  <a:srgbClr val="222A3A"/>
                </a:solidFill>
                <a:latin typeface="Source Han Sans SC"/>
                <a:ea typeface="Source Han Sans SC"/>
              </a:rPr>
              <a:t>人们</a:t>
            </a:r>
            <a:r>
              <a:rPr sz="1250" b="0" i="0" dirty="0" err="1">
                <a:solidFill>
                  <a:srgbClr val="222A3A"/>
                </a:solidFill>
                <a:latin typeface="Source Han Sans SC"/>
                <a:ea typeface="Source Han Sans SC"/>
              </a:rPr>
              <a:t>长期模仿与引用，表达风格趋同</a:t>
            </a:r>
            <a:endParaRPr sz="1250" b="0" i="0" dirty="0">
              <a:solidFill>
                <a:srgbClr val="222A3A"/>
              </a:solidFill>
              <a:latin typeface="Source Han Sans SC"/>
              <a:ea typeface="Source Han Sans SC"/>
            </a:endParaRPr>
          </a:p>
        </p:txBody>
      </p:sp>
      <p:sp>
        <p:nvSpPr>
          <p:cNvPr id="12" name="Rectangle 11"/>
          <p:cNvSpPr/>
          <p:nvPr/>
        </p:nvSpPr>
        <p:spPr>
          <a:xfrm>
            <a:off x="548640" y="3703320"/>
            <a:ext cx="1463040" cy="1143000"/>
          </a:xfrm>
          <a:prstGeom prst="rect">
            <a:avLst/>
          </a:prstGeom>
          <a:solidFill>
            <a:srgbClr val="1F2A44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13" name="TextBox 12"/>
          <p:cNvSpPr txBox="1"/>
          <p:nvPr/>
        </p:nvSpPr>
        <p:spPr>
          <a:xfrm>
            <a:off x="548640" y="3703320"/>
            <a:ext cx="1463040" cy="457200"/>
          </a:xfrm>
          <a:prstGeom prst="rect">
            <a:avLst/>
          </a:prstGeom>
          <a:noFill/>
          <a:effectLst/>
        </p:spPr>
        <p:txBody>
          <a:bodyPr wrap="square" lIns="0" tIns="0" rIns="0" bIns="0" anchor="b">
            <a:spAutoFit/>
          </a:bodyPr>
          <a:lstStyle/>
          <a:p>
            <a:pPr algn="ctr">
              <a:lnSpc>
                <a:spcPct val="120000"/>
              </a:lnSpc>
            </a:pPr>
            <a:r>
              <a:rPr sz="1100" b="1" i="0" spc="3">
                <a:solidFill>
                  <a:srgbClr val="F2C94B"/>
                </a:solidFill>
                <a:latin typeface="Source Han Sans SC"/>
                <a:ea typeface="Source Han Sans SC"/>
              </a:rPr>
              <a:t>观点 2</a:t>
            </a:r>
          </a:p>
        </p:txBody>
      </p:sp>
      <p:sp>
        <p:nvSpPr>
          <p:cNvPr id="14" name="TextBox 13"/>
          <p:cNvSpPr txBox="1"/>
          <p:nvPr/>
        </p:nvSpPr>
        <p:spPr>
          <a:xfrm>
            <a:off x="548640" y="4160520"/>
            <a:ext cx="1463040" cy="640080"/>
          </a:xfrm>
          <a:prstGeom prst="rect">
            <a:avLst/>
          </a:prstGeom>
          <a:noFill/>
          <a:effectLst/>
        </p:spPr>
        <p:txBody>
          <a:bodyPr wrap="square" lIns="0" tIns="0" rIns="0" bIns="0" anchor="t">
            <a:spAutoFit/>
          </a:bodyPr>
          <a:lstStyle/>
          <a:p>
            <a:pPr algn="ctr">
              <a:lnSpc>
                <a:spcPct val="120000"/>
              </a:lnSpc>
            </a:pPr>
            <a:r>
              <a:rPr sz="3400" b="1" i="0" spc="2">
                <a:solidFill>
                  <a:srgbClr val="FFFFFF"/>
                </a:solidFill>
                <a:latin typeface="Source Han Serif SC"/>
                <a:ea typeface="Source Han Serif SC"/>
              </a:rPr>
              <a:t>02</a:t>
            </a:r>
          </a:p>
        </p:txBody>
      </p:sp>
      <p:sp>
        <p:nvSpPr>
          <p:cNvPr id="15" name="Rectangle 14"/>
          <p:cNvSpPr/>
          <p:nvPr/>
        </p:nvSpPr>
        <p:spPr>
          <a:xfrm>
            <a:off x="2103120" y="3703320"/>
            <a:ext cx="9601200" cy="1143000"/>
          </a:xfrm>
          <a:prstGeom prst="rect">
            <a:avLst/>
          </a:prstGeom>
          <a:solidFill>
            <a:srgbClr val="FFFFFF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16" name="TextBox 15"/>
          <p:cNvSpPr txBox="1"/>
          <p:nvPr/>
        </p:nvSpPr>
        <p:spPr>
          <a:xfrm>
            <a:off x="2377440" y="3886200"/>
            <a:ext cx="9144000" cy="411480"/>
          </a:xfrm>
          <a:prstGeom prst="rect">
            <a:avLst/>
          </a:prstGeom>
          <a:noFill/>
          <a:effectLst/>
        </p:spPr>
        <p:txBody>
          <a:bodyPr wrap="square" lIns="0" tIns="0" rIns="0" bIns="0" anchor="t">
            <a:spAutoFit/>
          </a:bodyPr>
          <a:lstStyle/>
          <a:p>
            <a:pPr algn="l">
              <a:lnSpc>
                <a:spcPct val="120000"/>
              </a:lnSpc>
            </a:pPr>
            <a:r>
              <a:rPr sz="1800" b="1" i="0" spc="1" dirty="0" err="1">
                <a:solidFill>
                  <a:srgbClr val="1F2A44"/>
                </a:solidFill>
                <a:latin typeface="Source Han Serif SC"/>
                <a:ea typeface="Source Han Serif SC"/>
              </a:rPr>
              <a:t>思考方式被「标准化</a:t>
            </a:r>
            <a:r>
              <a:rPr sz="1800" b="1" i="0" spc="1" dirty="0">
                <a:solidFill>
                  <a:srgbClr val="1F2A44"/>
                </a:solidFill>
                <a:latin typeface="Source Han Serif SC"/>
                <a:ea typeface="Source Han Serif SC"/>
              </a:rPr>
              <a:t>」</a:t>
            </a:r>
          </a:p>
        </p:txBody>
      </p:sp>
      <p:sp>
        <p:nvSpPr>
          <p:cNvPr id="17" name="TextBox 16"/>
          <p:cNvSpPr txBox="1"/>
          <p:nvPr/>
        </p:nvSpPr>
        <p:spPr>
          <a:xfrm>
            <a:off x="2377440" y="4297680"/>
            <a:ext cx="9144000" cy="257827"/>
          </a:xfrm>
          <a:prstGeom prst="rect">
            <a:avLst/>
          </a:prstGeom>
          <a:noFill/>
          <a:effectLst/>
        </p:spPr>
        <p:txBody>
          <a:bodyPr wrap="square" lIns="0" tIns="0" rIns="0" bIns="0" anchor="t">
            <a:spAutoFit/>
          </a:bodyPr>
          <a:lstStyle/>
          <a:p>
            <a:pPr algn="l">
              <a:lnSpc>
                <a:spcPct val="150000"/>
              </a:lnSpc>
            </a:pPr>
            <a:r>
              <a:rPr sz="1250" b="0" i="0" dirty="0" err="1">
                <a:solidFill>
                  <a:srgbClr val="222A3A"/>
                </a:solidFill>
                <a:latin typeface="Source Han Sans SC"/>
                <a:ea typeface="Source Han Sans SC"/>
              </a:rPr>
              <a:t>先问</a:t>
            </a:r>
            <a:r>
              <a:rPr sz="1250" b="0" i="0" dirty="0">
                <a:solidFill>
                  <a:srgbClr val="222A3A"/>
                </a:solidFill>
                <a:latin typeface="Source Han Sans SC"/>
                <a:ea typeface="Source Han Sans SC"/>
              </a:rPr>
              <a:t> </a:t>
            </a:r>
            <a:r>
              <a:rPr sz="1250" b="0" i="0" dirty="0" err="1">
                <a:solidFill>
                  <a:srgbClr val="222A3A"/>
                </a:solidFill>
                <a:latin typeface="Source Han Sans SC"/>
                <a:ea typeface="Source Han Sans SC"/>
              </a:rPr>
              <a:t>AI、再问自己成为常态。面对开放问题</a:t>
            </a:r>
            <a:r>
              <a:rPr sz="1250" b="0" i="0" dirty="0">
                <a:solidFill>
                  <a:srgbClr val="222A3A"/>
                </a:solidFill>
                <a:latin typeface="Source Han Sans SC"/>
                <a:ea typeface="Source Han Sans SC"/>
              </a:rPr>
              <a:t>，</a:t>
            </a:r>
            <a:r>
              <a:rPr lang="zh-CN" altLang="en-US" sz="1250" dirty="0">
                <a:solidFill>
                  <a:srgbClr val="222A3A"/>
                </a:solidFill>
                <a:latin typeface="Source Han Sans SC"/>
                <a:ea typeface="Source Han Sans SC"/>
              </a:rPr>
              <a:t>人们渐渐</a:t>
            </a:r>
            <a:r>
              <a:rPr sz="1250" b="0" i="0" dirty="0" err="1">
                <a:solidFill>
                  <a:srgbClr val="222A3A"/>
                </a:solidFill>
                <a:latin typeface="Source Han Sans SC"/>
                <a:ea typeface="Source Han Sans SC"/>
              </a:rPr>
              <a:t>更倾向复述</a:t>
            </a:r>
            <a:r>
              <a:rPr sz="1250" b="0" i="0" dirty="0">
                <a:solidFill>
                  <a:srgbClr val="222A3A"/>
                </a:solidFill>
                <a:latin typeface="Source Han Sans SC"/>
                <a:ea typeface="Source Han Sans SC"/>
              </a:rPr>
              <a:t> AI </a:t>
            </a:r>
            <a:r>
              <a:rPr sz="1250" b="0" i="0" dirty="0" err="1">
                <a:solidFill>
                  <a:srgbClr val="222A3A"/>
                </a:solidFill>
                <a:latin typeface="Source Han Sans SC"/>
                <a:ea typeface="Source Han Sans SC"/>
              </a:rPr>
              <a:t>答案，而非提出自己的视角与质疑，独立判断的机会减少</a:t>
            </a:r>
            <a:r>
              <a:rPr sz="1250" b="0" i="0" dirty="0">
                <a:solidFill>
                  <a:srgbClr val="222A3A"/>
                </a:solidFill>
                <a:latin typeface="Source Han Sans SC"/>
                <a:ea typeface="Source Han Sans SC"/>
              </a:rPr>
              <a:t>。</a:t>
            </a:r>
          </a:p>
        </p:txBody>
      </p:sp>
      <p:sp>
        <p:nvSpPr>
          <p:cNvPr id="18" name="Rectangle 17"/>
          <p:cNvSpPr/>
          <p:nvPr/>
        </p:nvSpPr>
        <p:spPr>
          <a:xfrm>
            <a:off x="548640" y="5029200"/>
            <a:ext cx="1463040" cy="1143000"/>
          </a:xfrm>
          <a:prstGeom prst="rect">
            <a:avLst/>
          </a:prstGeom>
          <a:solidFill>
            <a:srgbClr val="1F2A44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19" name="TextBox 18"/>
          <p:cNvSpPr txBox="1"/>
          <p:nvPr/>
        </p:nvSpPr>
        <p:spPr>
          <a:xfrm>
            <a:off x="548640" y="5029200"/>
            <a:ext cx="1463040" cy="457200"/>
          </a:xfrm>
          <a:prstGeom prst="rect">
            <a:avLst/>
          </a:prstGeom>
          <a:noFill/>
          <a:effectLst/>
        </p:spPr>
        <p:txBody>
          <a:bodyPr wrap="square" lIns="0" tIns="0" rIns="0" bIns="0" anchor="b">
            <a:spAutoFit/>
          </a:bodyPr>
          <a:lstStyle/>
          <a:p>
            <a:pPr algn="ctr">
              <a:lnSpc>
                <a:spcPct val="120000"/>
              </a:lnSpc>
            </a:pPr>
            <a:r>
              <a:rPr sz="1100" b="1" i="0" spc="3">
                <a:solidFill>
                  <a:srgbClr val="F2C94B"/>
                </a:solidFill>
                <a:latin typeface="Source Han Sans SC"/>
                <a:ea typeface="Source Han Sans SC"/>
              </a:rPr>
              <a:t>观点 3</a:t>
            </a:r>
          </a:p>
        </p:txBody>
      </p:sp>
      <p:sp>
        <p:nvSpPr>
          <p:cNvPr id="20" name="TextBox 19"/>
          <p:cNvSpPr txBox="1"/>
          <p:nvPr/>
        </p:nvSpPr>
        <p:spPr>
          <a:xfrm>
            <a:off x="548640" y="5486400"/>
            <a:ext cx="1463040" cy="640080"/>
          </a:xfrm>
          <a:prstGeom prst="rect">
            <a:avLst/>
          </a:prstGeom>
          <a:noFill/>
          <a:effectLst/>
        </p:spPr>
        <p:txBody>
          <a:bodyPr wrap="square" lIns="0" tIns="0" rIns="0" bIns="0" anchor="t">
            <a:spAutoFit/>
          </a:bodyPr>
          <a:lstStyle/>
          <a:p>
            <a:pPr algn="ctr">
              <a:lnSpc>
                <a:spcPct val="120000"/>
              </a:lnSpc>
            </a:pPr>
            <a:r>
              <a:rPr sz="3400" b="1" i="0" spc="2">
                <a:solidFill>
                  <a:srgbClr val="FFFFFF"/>
                </a:solidFill>
                <a:latin typeface="Source Han Serif SC"/>
                <a:ea typeface="Source Han Serif SC"/>
              </a:rPr>
              <a:t>03</a:t>
            </a:r>
          </a:p>
        </p:txBody>
      </p:sp>
      <p:sp>
        <p:nvSpPr>
          <p:cNvPr id="21" name="Rectangle 20"/>
          <p:cNvSpPr/>
          <p:nvPr/>
        </p:nvSpPr>
        <p:spPr>
          <a:xfrm>
            <a:off x="2103120" y="5029200"/>
            <a:ext cx="9601200" cy="1143000"/>
          </a:xfrm>
          <a:prstGeom prst="rect">
            <a:avLst/>
          </a:prstGeom>
          <a:solidFill>
            <a:srgbClr val="FFFFFF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22" name="TextBox 21"/>
          <p:cNvSpPr txBox="1"/>
          <p:nvPr/>
        </p:nvSpPr>
        <p:spPr>
          <a:xfrm>
            <a:off x="2377440" y="5212080"/>
            <a:ext cx="9144000" cy="411480"/>
          </a:xfrm>
          <a:prstGeom prst="rect">
            <a:avLst/>
          </a:prstGeom>
          <a:noFill/>
          <a:effectLst/>
        </p:spPr>
        <p:txBody>
          <a:bodyPr wrap="square" lIns="0" tIns="0" rIns="0" bIns="0" anchor="t">
            <a:spAutoFit/>
          </a:bodyPr>
          <a:lstStyle/>
          <a:p>
            <a:pPr algn="l">
              <a:lnSpc>
                <a:spcPct val="120000"/>
              </a:lnSpc>
            </a:pPr>
            <a:r>
              <a:rPr sz="1800" b="1" i="0" spc="1">
                <a:solidFill>
                  <a:srgbClr val="1F2A44"/>
                </a:solidFill>
                <a:latin typeface="Source Han Serif SC"/>
                <a:ea typeface="Source Han Serif SC"/>
              </a:rPr>
              <a:t>创造品质被「一键化」</a:t>
            </a:r>
          </a:p>
        </p:txBody>
      </p:sp>
      <p:sp>
        <p:nvSpPr>
          <p:cNvPr id="23" name="TextBox 22"/>
          <p:cNvSpPr txBox="1"/>
          <p:nvPr/>
        </p:nvSpPr>
        <p:spPr>
          <a:xfrm>
            <a:off x="2377440" y="5623560"/>
            <a:ext cx="9144000" cy="257827"/>
          </a:xfrm>
          <a:prstGeom prst="rect">
            <a:avLst/>
          </a:prstGeom>
          <a:noFill/>
          <a:effectLst/>
        </p:spPr>
        <p:txBody>
          <a:bodyPr wrap="square" lIns="0" tIns="0" rIns="0" bIns="0" anchor="t">
            <a:spAutoFit/>
          </a:bodyPr>
          <a:lstStyle/>
          <a:p>
            <a:pPr algn="l">
              <a:lnSpc>
                <a:spcPct val="150000"/>
              </a:lnSpc>
            </a:pPr>
            <a:r>
              <a:rPr sz="1250" b="0" i="0" dirty="0" err="1">
                <a:solidFill>
                  <a:srgbClr val="222A3A"/>
                </a:solidFill>
                <a:latin typeface="Source Han Sans SC"/>
                <a:ea typeface="Source Han Sans SC"/>
              </a:rPr>
              <a:t>好奇心、冒险精神、坚毅这些创造性品质，在「一键生成」的便利面前被消磨</a:t>
            </a:r>
            <a:r>
              <a:rPr sz="1250" b="0" i="0" dirty="0">
                <a:solidFill>
                  <a:srgbClr val="222A3A"/>
                </a:solidFill>
                <a:latin typeface="Source Han Sans SC"/>
                <a:ea typeface="Source Han Sans SC"/>
              </a:rPr>
              <a:t>。</a:t>
            </a:r>
            <a:r>
              <a:rPr lang="zh-CN" altLang="en-US" sz="1250" dirty="0">
                <a:solidFill>
                  <a:srgbClr val="222A3A"/>
                </a:solidFill>
                <a:latin typeface="Source Han Sans SC"/>
                <a:ea typeface="Source Han Sans SC"/>
              </a:rPr>
              <a:t>人们</a:t>
            </a:r>
            <a:r>
              <a:rPr sz="1250" b="0" i="0" dirty="0" err="1">
                <a:solidFill>
                  <a:srgbClr val="222A3A"/>
                </a:solidFill>
                <a:latin typeface="Source Han Sans SC"/>
                <a:ea typeface="Source Han Sans SC"/>
              </a:rPr>
              <a:t>不再愿意尝试非常规路径，创新无从谈起</a:t>
            </a:r>
            <a:r>
              <a:rPr sz="1250" b="0" i="0" dirty="0">
                <a:solidFill>
                  <a:srgbClr val="222A3A"/>
                </a:solidFill>
                <a:latin typeface="Source Han Sans SC"/>
                <a:ea typeface="Source Han Sans SC"/>
              </a:rPr>
              <a:t>。</a:t>
            </a:r>
          </a:p>
        </p:txBody>
      </p:sp>
    </p:spTree>
  </p:cSld>
  <p:clrMapOvr>
    <a:masterClrMapping/>
  </p:clrMapOvr>
</p:sld>
</file>

<file path=ppt/slides/slide3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Rectangle 1"/>
          <p:cNvSpPr/>
          <p:nvPr/>
        </p:nvSpPr>
        <p:spPr>
          <a:xfrm>
            <a:off x="0" y="0"/>
            <a:ext cx="12191695" cy="6858000"/>
          </a:xfrm>
          <a:prstGeom prst="rect">
            <a:avLst/>
          </a:prstGeom>
          <a:solidFill>
            <a:srgbClr val="FAF4EA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3" name="TextBox 2"/>
          <p:cNvSpPr txBox="1"/>
          <p:nvPr/>
        </p:nvSpPr>
        <p:spPr>
          <a:xfrm>
            <a:off x="548640" y="502920"/>
            <a:ext cx="5486400" cy="365760"/>
          </a:xfrm>
          <a:prstGeom prst="rect">
            <a:avLst/>
          </a:prstGeom>
          <a:noFill/>
          <a:effectLst/>
        </p:spPr>
        <p:txBody>
          <a:bodyPr wrap="square" lIns="0" tIns="0" rIns="0" bIns="0" anchor="t">
            <a:spAutoFit/>
          </a:bodyPr>
          <a:lstStyle/>
          <a:p>
            <a:pPr algn="l">
              <a:lnSpc>
                <a:spcPct val="120000"/>
              </a:lnSpc>
            </a:pPr>
            <a:r>
              <a:rPr sz="1100" b="1" i="0" spc="5">
                <a:solidFill>
                  <a:srgbClr val="E06A5C"/>
                </a:solidFill>
                <a:latin typeface="Source Han Sans SC"/>
                <a:ea typeface="Source Han Sans SC"/>
              </a:rPr>
              <a:t>02  /  观点梳理  ·  下篇</a:t>
            </a:r>
          </a:p>
        </p:txBody>
      </p:sp>
      <p:sp>
        <p:nvSpPr>
          <p:cNvPr id="4" name="TextBox 3"/>
          <p:cNvSpPr txBox="1"/>
          <p:nvPr/>
        </p:nvSpPr>
        <p:spPr>
          <a:xfrm>
            <a:off x="548640" y="914400"/>
            <a:ext cx="10972800" cy="514885"/>
          </a:xfrm>
          <a:prstGeom prst="rect">
            <a:avLst/>
          </a:prstGeom>
          <a:noFill/>
          <a:effectLst/>
        </p:spPr>
        <p:txBody>
          <a:bodyPr wrap="square" lIns="0" tIns="0" rIns="0" bIns="0" anchor="t">
            <a:spAutoFit/>
          </a:bodyPr>
          <a:lstStyle/>
          <a:p>
            <a:pPr algn="l">
              <a:lnSpc>
                <a:spcPct val="120000"/>
              </a:lnSpc>
            </a:pPr>
            <a:r>
              <a:rPr lang="zh-CN" altLang="en-US" sz="3000" b="1" spc="2" dirty="0">
                <a:solidFill>
                  <a:srgbClr val="1F2A44"/>
                </a:solidFill>
                <a:latin typeface="Source Han Serif SC"/>
                <a:ea typeface="Source Han Serif SC"/>
              </a:rPr>
              <a:t>思考</a:t>
            </a:r>
            <a:r>
              <a:rPr sz="3000" b="1" i="0" spc="2" dirty="0">
                <a:solidFill>
                  <a:srgbClr val="1F2A44"/>
                </a:solidFill>
                <a:latin typeface="Source Han Serif SC"/>
                <a:ea typeface="Source Han Serif SC"/>
              </a:rPr>
              <a:t>：</a:t>
            </a:r>
            <a:r>
              <a:rPr sz="3000" b="1" i="0" spc="2" dirty="0" err="1">
                <a:solidFill>
                  <a:srgbClr val="1F2A44"/>
                </a:solidFill>
                <a:latin typeface="Source Han Serif SC"/>
                <a:ea typeface="Source Han Serif SC"/>
              </a:rPr>
              <a:t>同质化不是</a:t>
            </a:r>
            <a:r>
              <a:rPr sz="3000" b="1" i="0" spc="2" dirty="0">
                <a:solidFill>
                  <a:srgbClr val="1F2A44"/>
                </a:solidFill>
                <a:latin typeface="Source Han Serif SC"/>
                <a:ea typeface="Source Han Serif SC"/>
              </a:rPr>
              <a:t> AI </a:t>
            </a:r>
            <a:r>
              <a:rPr sz="3000" b="1" i="0" spc="2" dirty="0" err="1">
                <a:solidFill>
                  <a:srgbClr val="1F2A44"/>
                </a:solidFill>
                <a:latin typeface="Source Han Serif SC"/>
                <a:ea typeface="Source Han Serif SC"/>
              </a:rPr>
              <a:t>的原罪</a:t>
            </a:r>
            <a:endParaRPr sz="3000" b="1" i="0" spc="2" dirty="0">
              <a:solidFill>
                <a:srgbClr val="1F2A44"/>
              </a:solidFill>
              <a:latin typeface="Source Han Serif SC"/>
              <a:ea typeface="Source Han Serif SC"/>
            </a:endParaRPr>
          </a:p>
        </p:txBody>
      </p:sp>
      <p:sp>
        <p:nvSpPr>
          <p:cNvPr id="6" name="Rectangle 5"/>
          <p:cNvSpPr/>
          <p:nvPr/>
        </p:nvSpPr>
        <p:spPr>
          <a:xfrm>
            <a:off x="548640" y="2377440"/>
            <a:ext cx="1463040" cy="1143000"/>
          </a:xfrm>
          <a:prstGeom prst="rect">
            <a:avLst/>
          </a:prstGeom>
          <a:solidFill>
            <a:srgbClr val="E06A5C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7" name="TextBox 6"/>
          <p:cNvSpPr txBox="1"/>
          <p:nvPr/>
        </p:nvSpPr>
        <p:spPr>
          <a:xfrm>
            <a:off x="548640" y="2377440"/>
            <a:ext cx="1463040" cy="457200"/>
          </a:xfrm>
          <a:prstGeom prst="rect">
            <a:avLst/>
          </a:prstGeom>
          <a:noFill/>
          <a:effectLst/>
        </p:spPr>
        <p:txBody>
          <a:bodyPr wrap="square" lIns="0" tIns="0" rIns="0" bIns="0" anchor="b">
            <a:spAutoFit/>
          </a:bodyPr>
          <a:lstStyle/>
          <a:p>
            <a:pPr algn="ctr">
              <a:lnSpc>
                <a:spcPct val="120000"/>
              </a:lnSpc>
            </a:pPr>
            <a:r>
              <a:rPr sz="1100" b="1" i="0" spc="3">
                <a:solidFill>
                  <a:srgbClr val="FAF4EA"/>
                </a:solidFill>
                <a:latin typeface="Source Han Sans SC"/>
                <a:ea typeface="Source Han Sans SC"/>
              </a:rPr>
              <a:t>观点 4</a:t>
            </a:r>
          </a:p>
        </p:txBody>
      </p:sp>
      <p:sp>
        <p:nvSpPr>
          <p:cNvPr id="8" name="TextBox 7"/>
          <p:cNvSpPr txBox="1"/>
          <p:nvPr/>
        </p:nvSpPr>
        <p:spPr>
          <a:xfrm>
            <a:off x="548640" y="2834640"/>
            <a:ext cx="1463040" cy="640080"/>
          </a:xfrm>
          <a:prstGeom prst="rect">
            <a:avLst/>
          </a:prstGeom>
          <a:noFill/>
          <a:effectLst/>
        </p:spPr>
        <p:txBody>
          <a:bodyPr wrap="square" lIns="0" tIns="0" rIns="0" bIns="0" anchor="t">
            <a:spAutoFit/>
          </a:bodyPr>
          <a:lstStyle/>
          <a:p>
            <a:pPr algn="ctr">
              <a:lnSpc>
                <a:spcPct val="120000"/>
              </a:lnSpc>
            </a:pPr>
            <a:r>
              <a:rPr sz="3400" b="1" i="0" spc="2">
                <a:solidFill>
                  <a:srgbClr val="FFFFFF"/>
                </a:solidFill>
                <a:latin typeface="Source Han Serif SC"/>
                <a:ea typeface="Source Han Serif SC"/>
              </a:rPr>
              <a:t>04</a:t>
            </a:r>
          </a:p>
        </p:txBody>
      </p:sp>
      <p:sp>
        <p:nvSpPr>
          <p:cNvPr id="9" name="Rectangle 8"/>
          <p:cNvSpPr/>
          <p:nvPr/>
        </p:nvSpPr>
        <p:spPr>
          <a:xfrm>
            <a:off x="2103120" y="2377440"/>
            <a:ext cx="9601200" cy="1143000"/>
          </a:xfrm>
          <a:prstGeom prst="rect">
            <a:avLst/>
          </a:prstGeom>
          <a:solidFill>
            <a:srgbClr val="FFFFFF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10" name="TextBox 9"/>
          <p:cNvSpPr txBox="1"/>
          <p:nvPr/>
        </p:nvSpPr>
        <p:spPr>
          <a:xfrm>
            <a:off x="2377440" y="2560320"/>
            <a:ext cx="9144000" cy="411480"/>
          </a:xfrm>
          <a:prstGeom prst="rect">
            <a:avLst/>
          </a:prstGeom>
          <a:noFill/>
          <a:effectLst/>
        </p:spPr>
        <p:txBody>
          <a:bodyPr wrap="square" lIns="0" tIns="0" rIns="0" bIns="0" anchor="t">
            <a:spAutoFit/>
          </a:bodyPr>
          <a:lstStyle/>
          <a:p>
            <a:pPr algn="l">
              <a:lnSpc>
                <a:spcPct val="120000"/>
              </a:lnSpc>
            </a:pPr>
            <a:r>
              <a:rPr sz="1800" b="1" i="0" spc="1" dirty="0" err="1">
                <a:solidFill>
                  <a:srgbClr val="1F2A44"/>
                </a:solidFill>
                <a:latin typeface="Source Han Serif SC"/>
                <a:ea typeface="Source Han Serif SC"/>
              </a:rPr>
              <a:t>同质化在</a:t>
            </a:r>
            <a:r>
              <a:rPr sz="1800" b="1" i="0" spc="1" dirty="0">
                <a:solidFill>
                  <a:srgbClr val="1F2A44"/>
                </a:solidFill>
                <a:latin typeface="Source Han Serif SC"/>
                <a:ea typeface="Source Han Serif SC"/>
              </a:rPr>
              <a:t> AI </a:t>
            </a:r>
            <a:r>
              <a:rPr sz="1800" b="1" i="0" spc="1" dirty="0" err="1">
                <a:solidFill>
                  <a:srgbClr val="1F2A44"/>
                </a:solidFill>
                <a:latin typeface="Source Han Serif SC"/>
                <a:ea typeface="Source Han Serif SC"/>
              </a:rPr>
              <a:t>之前就已经存在</a:t>
            </a:r>
            <a:endParaRPr sz="1800" b="1" i="0" spc="1" dirty="0">
              <a:solidFill>
                <a:srgbClr val="1F2A44"/>
              </a:solidFill>
              <a:latin typeface="Source Han Serif SC"/>
              <a:ea typeface="Source Han Serif SC"/>
            </a:endParaRPr>
          </a:p>
        </p:txBody>
      </p:sp>
      <p:sp>
        <p:nvSpPr>
          <p:cNvPr id="11" name="TextBox 10"/>
          <p:cNvSpPr txBox="1"/>
          <p:nvPr/>
        </p:nvSpPr>
        <p:spPr>
          <a:xfrm>
            <a:off x="2377440" y="2971800"/>
            <a:ext cx="9144000" cy="546368"/>
          </a:xfrm>
          <a:prstGeom prst="rect">
            <a:avLst/>
          </a:prstGeom>
          <a:noFill/>
          <a:effectLst/>
        </p:spPr>
        <p:txBody>
          <a:bodyPr wrap="square" lIns="0" tIns="0" rIns="0" bIns="0" anchor="t">
            <a:spAutoFit/>
          </a:bodyPr>
          <a:lstStyle/>
          <a:p>
            <a:pPr algn="l">
              <a:lnSpc>
                <a:spcPct val="150000"/>
              </a:lnSpc>
            </a:pPr>
            <a:r>
              <a:rPr sz="1250" b="0" i="0" dirty="0" err="1">
                <a:solidFill>
                  <a:srgbClr val="222A3A"/>
                </a:solidFill>
                <a:latin typeface="Source Han Sans SC"/>
                <a:ea typeface="Source Han Sans SC"/>
              </a:rPr>
              <a:t>统一教材、统一考试、统一标准答案</a:t>
            </a:r>
            <a:r>
              <a:rPr sz="1250" b="0" i="0" dirty="0">
                <a:solidFill>
                  <a:srgbClr val="222A3A"/>
                </a:solidFill>
                <a:latin typeface="Source Han Sans SC"/>
                <a:ea typeface="Source Han Sans SC"/>
              </a:rPr>
              <a:t>……</a:t>
            </a:r>
            <a:r>
              <a:rPr sz="1250" b="0" i="0" dirty="0" err="1">
                <a:solidFill>
                  <a:srgbClr val="222A3A"/>
                </a:solidFill>
                <a:latin typeface="Source Han Sans SC"/>
                <a:ea typeface="Source Han Sans SC"/>
              </a:rPr>
              <a:t>传统的教育体系本身就是工业化的。把「没个性」全算在</a:t>
            </a:r>
            <a:r>
              <a:rPr sz="1250" b="0" i="0" dirty="0">
                <a:solidFill>
                  <a:srgbClr val="222A3A"/>
                </a:solidFill>
                <a:latin typeface="Source Han Sans SC"/>
                <a:ea typeface="Source Han Sans SC"/>
              </a:rPr>
              <a:t> AI </a:t>
            </a:r>
            <a:r>
              <a:rPr sz="1250" b="0" i="0" dirty="0" err="1">
                <a:solidFill>
                  <a:srgbClr val="222A3A"/>
                </a:solidFill>
                <a:latin typeface="Source Han Sans SC"/>
                <a:ea typeface="Source Han Sans SC"/>
              </a:rPr>
              <a:t>头上，是替旧问题找新替罪羊</a:t>
            </a:r>
            <a:r>
              <a:rPr sz="1250" b="0" i="0" dirty="0">
                <a:solidFill>
                  <a:srgbClr val="222A3A"/>
                </a:solidFill>
                <a:latin typeface="Source Han Sans SC"/>
                <a:ea typeface="Source Han Sans SC"/>
              </a:rPr>
              <a:t>。</a:t>
            </a:r>
          </a:p>
        </p:txBody>
      </p:sp>
      <p:sp>
        <p:nvSpPr>
          <p:cNvPr id="12" name="Rectangle 11"/>
          <p:cNvSpPr/>
          <p:nvPr/>
        </p:nvSpPr>
        <p:spPr>
          <a:xfrm>
            <a:off x="548640" y="3703320"/>
            <a:ext cx="1463040" cy="1143000"/>
          </a:xfrm>
          <a:prstGeom prst="rect">
            <a:avLst/>
          </a:prstGeom>
          <a:solidFill>
            <a:srgbClr val="E06A5C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13" name="TextBox 12"/>
          <p:cNvSpPr txBox="1"/>
          <p:nvPr/>
        </p:nvSpPr>
        <p:spPr>
          <a:xfrm>
            <a:off x="548640" y="3703320"/>
            <a:ext cx="1463040" cy="457200"/>
          </a:xfrm>
          <a:prstGeom prst="rect">
            <a:avLst/>
          </a:prstGeom>
          <a:noFill/>
          <a:effectLst/>
        </p:spPr>
        <p:txBody>
          <a:bodyPr wrap="square" lIns="0" tIns="0" rIns="0" bIns="0" anchor="b">
            <a:spAutoFit/>
          </a:bodyPr>
          <a:lstStyle/>
          <a:p>
            <a:pPr algn="ctr">
              <a:lnSpc>
                <a:spcPct val="120000"/>
              </a:lnSpc>
            </a:pPr>
            <a:r>
              <a:rPr sz="1100" b="1" i="0" spc="3">
                <a:solidFill>
                  <a:srgbClr val="FAF4EA"/>
                </a:solidFill>
                <a:latin typeface="Source Han Sans SC"/>
                <a:ea typeface="Source Han Sans SC"/>
              </a:rPr>
              <a:t>观点 5</a:t>
            </a:r>
          </a:p>
        </p:txBody>
      </p:sp>
      <p:sp>
        <p:nvSpPr>
          <p:cNvPr id="14" name="TextBox 13"/>
          <p:cNvSpPr txBox="1"/>
          <p:nvPr/>
        </p:nvSpPr>
        <p:spPr>
          <a:xfrm>
            <a:off x="548640" y="4160520"/>
            <a:ext cx="1463040" cy="640080"/>
          </a:xfrm>
          <a:prstGeom prst="rect">
            <a:avLst/>
          </a:prstGeom>
          <a:noFill/>
          <a:effectLst/>
        </p:spPr>
        <p:txBody>
          <a:bodyPr wrap="square" lIns="0" tIns="0" rIns="0" bIns="0" anchor="t">
            <a:spAutoFit/>
          </a:bodyPr>
          <a:lstStyle/>
          <a:p>
            <a:pPr algn="ctr">
              <a:lnSpc>
                <a:spcPct val="120000"/>
              </a:lnSpc>
            </a:pPr>
            <a:r>
              <a:rPr sz="3400" b="1" i="0" spc="2">
                <a:solidFill>
                  <a:srgbClr val="FFFFFF"/>
                </a:solidFill>
                <a:latin typeface="Source Han Serif SC"/>
                <a:ea typeface="Source Han Serif SC"/>
              </a:rPr>
              <a:t>05</a:t>
            </a:r>
          </a:p>
        </p:txBody>
      </p:sp>
      <p:sp>
        <p:nvSpPr>
          <p:cNvPr id="15" name="Rectangle 14"/>
          <p:cNvSpPr/>
          <p:nvPr/>
        </p:nvSpPr>
        <p:spPr>
          <a:xfrm>
            <a:off x="2103120" y="3703320"/>
            <a:ext cx="9601200" cy="1143000"/>
          </a:xfrm>
          <a:prstGeom prst="rect">
            <a:avLst/>
          </a:prstGeom>
          <a:solidFill>
            <a:srgbClr val="FFFFFF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16" name="TextBox 15"/>
          <p:cNvSpPr txBox="1"/>
          <p:nvPr/>
        </p:nvSpPr>
        <p:spPr>
          <a:xfrm>
            <a:off x="2377440" y="3886200"/>
            <a:ext cx="9144000" cy="411480"/>
          </a:xfrm>
          <a:prstGeom prst="rect">
            <a:avLst/>
          </a:prstGeom>
          <a:noFill/>
          <a:effectLst/>
        </p:spPr>
        <p:txBody>
          <a:bodyPr wrap="square" lIns="0" tIns="0" rIns="0" bIns="0" anchor="t">
            <a:spAutoFit/>
          </a:bodyPr>
          <a:lstStyle/>
          <a:p>
            <a:pPr algn="l">
              <a:lnSpc>
                <a:spcPct val="120000"/>
              </a:lnSpc>
            </a:pPr>
            <a:r>
              <a:rPr sz="1800" b="1" i="0" spc="1">
                <a:solidFill>
                  <a:srgbClr val="1F2A44"/>
                </a:solidFill>
                <a:latin typeface="Source Han Serif SC"/>
                <a:ea typeface="Source Han Serif SC"/>
              </a:rPr>
              <a:t>AI 也能放大个体差异</a:t>
            </a:r>
          </a:p>
        </p:txBody>
      </p:sp>
      <p:sp>
        <p:nvSpPr>
          <p:cNvPr id="17" name="TextBox 16"/>
          <p:cNvSpPr txBox="1"/>
          <p:nvPr/>
        </p:nvSpPr>
        <p:spPr>
          <a:xfrm>
            <a:off x="2377440" y="4297680"/>
            <a:ext cx="9144000" cy="257827"/>
          </a:xfrm>
          <a:prstGeom prst="rect">
            <a:avLst/>
          </a:prstGeom>
          <a:noFill/>
          <a:effectLst/>
        </p:spPr>
        <p:txBody>
          <a:bodyPr wrap="square" lIns="0" tIns="0" rIns="0" bIns="0" anchor="t">
            <a:spAutoFit/>
          </a:bodyPr>
          <a:lstStyle/>
          <a:p>
            <a:pPr algn="l">
              <a:lnSpc>
                <a:spcPct val="150000"/>
              </a:lnSpc>
            </a:pPr>
            <a:r>
              <a:rPr sz="1250" b="0" i="0" dirty="0" err="1">
                <a:solidFill>
                  <a:srgbClr val="222A3A"/>
                </a:solidFill>
                <a:latin typeface="Source Han Sans SC"/>
                <a:ea typeface="Source Han Sans SC"/>
              </a:rPr>
              <a:t>在小众兴趣、跨学科问题、冷门方向上，AI</a:t>
            </a:r>
            <a:r>
              <a:rPr sz="1250" b="0" i="0" dirty="0">
                <a:solidFill>
                  <a:srgbClr val="222A3A"/>
                </a:solidFill>
                <a:latin typeface="Source Han Sans SC"/>
                <a:ea typeface="Source Han Sans SC"/>
              </a:rPr>
              <a:t> 让</a:t>
            </a:r>
            <a:r>
              <a:rPr lang="zh-CN" altLang="en-US" sz="1250" b="0" i="0" dirty="0">
                <a:solidFill>
                  <a:srgbClr val="222A3A"/>
                </a:solidFill>
                <a:latin typeface="Source Han Sans SC"/>
                <a:ea typeface="Source Han Sans SC"/>
              </a:rPr>
              <a:t>人们</a:t>
            </a:r>
            <a:r>
              <a:rPr sz="1250" b="0" i="0" dirty="0" err="1">
                <a:solidFill>
                  <a:srgbClr val="222A3A"/>
                </a:solidFill>
                <a:latin typeface="Source Han Sans SC"/>
                <a:ea typeface="Source Han Sans SC"/>
              </a:rPr>
              <a:t>也能获得过去只有「天才</a:t>
            </a:r>
            <a:r>
              <a:rPr sz="1250" b="0" i="0" dirty="0">
                <a:solidFill>
                  <a:srgbClr val="222A3A"/>
                </a:solidFill>
                <a:latin typeface="Source Han Sans SC"/>
                <a:ea typeface="Source Han Sans SC"/>
              </a:rPr>
              <a:t>」</a:t>
            </a:r>
            <a:r>
              <a:rPr lang="zh-CN" altLang="en-US" sz="1250" b="0" i="0" dirty="0">
                <a:solidFill>
                  <a:srgbClr val="222A3A"/>
                </a:solidFill>
                <a:latin typeface="Source Han Sans SC"/>
                <a:ea typeface="Source Han Sans SC"/>
              </a:rPr>
              <a:t>才有的资源</a:t>
            </a:r>
            <a:r>
              <a:rPr sz="1250" b="0" i="0" dirty="0">
                <a:solidFill>
                  <a:srgbClr val="222A3A"/>
                </a:solidFill>
                <a:latin typeface="Source Han Sans SC"/>
                <a:ea typeface="Source Han Sans SC"/>
              </a:rPr>
              <a:t>——</a:t>
            </a:r>
            <a:r>
              <a:rPr sz="1250" b="0" i="0" dirty="0" err="1">
                <a:solidFill>
                  <a:srgbClr val="222A3A"/>
                </a:solidFill>
                <a:latin typeface="Source Han Sans SC"/>
                <a:ea typeface="Source Han Sans SC"/>
              </a:rPr>
              <a:t>这恰恰是更公平的个性化</a:t>
            </a:r>
            <a:r>
              <a:rPr sz="1250" b="0" i="0" dirty="0">
                <a:solidFill>
                  <a:srgbClr val="222A3A"/>
                </a:solidFill>
                <a:latin typeface="Source Han Sans SC"/>
                <a:ea typeface="Source Han Sans SC"/>
              </a:rPr>
              <a:t>。</a:t>
            </a:r>
          </a:p>
        </p:txBody>
      </p:sp>
      <p:sp>
        <p:nvSpPr>
          <p:cNvPr id="18" name="Rectangle 17"/>
          <p:cNvSpPr/>
          <p:nvPr/>
        </p:nvSpPr>
        <p:spPr>
          <a:xfrm>
            <a:off x="548640" y="5029200"/>
            <a:ext cx="1463040" cy="1143000"/>
          </a:xfrm>
          <a:prstGeom prst="rect">
            <a:avLst/>
          </a:prstGeom>
          <a:solidFill>
            <a:srgbClr val="E06A5C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19" name="TextBox 18"/>
          <p:cNvSpPr txBox="1"/>
          <p:nvPr/>
        </p:nvSpPr>
        <p:spPr>
          <a:xfrm>
            <a:off x="548640" y="5029200"/>
            <a:ext cx="1463040" cy="457200"/>
          </a:xfrm>
          <a:prstGeom prst="rect">
            <a:avLst/>
          </a:prstGeom>
          <a:noFill/>
          <a:effectLst/>
        </p:spPr>
        <p:txBody>
          <a:bodyPr wrap="square" lIns="0" tIns="0" rIns="0" bIns="0" anchor="b">
            <a:spAutoFit/>
          </a:bodyPr>
          <a:lstStyle/>
          <a:p>
            <a:pPr algn="ctr">
              <a:lnSpc>
                <a:spcPct val="120000"/>
              </a:lnSpc>
            </a:pPr>
            <a:r>
              <a:rPr sz="1100" b="1" i="0" spc="3">
                <a:solidFill>
                  <a:srgbClr val="FAF4EA"/>
                </a:solidFill>
                <a:latin typeface="Source Han Sans SC"/>
                <a:ea typeface="Source Han Sans SC"/>
              </a:rPr>
              <a:t>观点 6</a:t>
            </a:r>
          </a:p>
        </p:txBody>
      </p:sp>
      <p:sp>
        <p:nvSpPr>
          <p:cNvPr id="20" name="TextBox 19"/>
          <p:cNvSpPr txBox="1"/>
          <p:nvPr/>
        </p:nvSpPr>
        <p:spPr>
          <a:xfrm>
            <a:off x="548640" y="5486400"/>
            <a:ext cx="1463040" cy="640080"/>
          </a:xfrm>
          <a:prstGeom prst="rect">
            <a:avLst/>
          </a:prstGeom>
          <a:noFill/>
          <a:effectLst/>
        </p:spPr>
        <p:txBody>
          <a:bodyPr wrap="square" lIns="0" tIns="0" rIns="0" bIns="0" anchor="t">
            <a:spAutoFit/>
          </a:bodyPr>
          <a:lstStyle/>
          <a:p>
            <a:pPr algn="ctr">
              <a:lnSpc>
                <a:spcPct val="120000"/>
              </a:lnSpc>
            </a:pPr>
            <a:r>
              <a:rPr sz="3400" b="1" i="0" spc="2">
                <a:solidFill>
                  <a:srgbClr val="FFFFFF"/>
                </a:solidFill>
                <a:latin typeface="Source Han Serif SC"/>
                <a:ea typeface="Source Han Serif SC"/>
              </a:rPr>
              <a:t>06</a:t>
            </a:r>
          </a:p>
        </p:txBody>
      </p:sp>
      <p:sp>
        <p:nvSpPr>
          <p:cNvPr id="21" name="Rectangle 20"/>
          <p:cNvSpPr/>
          <p:nvPr/>
        </p:nvSpPr>
        <p:spPr>
          <a:xfrm>
            <a:off x="2103120" y="5029200"/>
            <a:ext cx="9601200" cy="1143000"/>
          </a:xfrm>
          <a:prstGeom prst="rect">
            <a:avLst/>
          </a:prstGeom>
          <a:solidFill>
            <a:srgbClr val="FFFFFF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22" name="TextBox 21"/>
          <p:cNvSpPr txBox="1"/>
          <p:nvPr/>
        </p:nvSpPr>
        <p:spPr>
          <a:xfrm>
            <a:off x="2377440" y="5212080"/>
            <a:ext cx="9144000" cy="411480"/>
          </a:xfrm>
          <a:prstGeom prst="rect">
            <a:avLst/>
          </a:prstGeom>
          <a:noFill/>
          <a:effectLst/>
        </p:spPr>
        <p:txBody>
          <a:bodyPr wrap="square" lIns="0" tIns="0" rIns="0" bIns="0" anchor="t">
            <a:spAutoFit/>
          </a:bodyPr>
          <a:lstStyle/>
          <a:p>
            <a:pPr algn="l">
              <a:lnSpc>
                <a:spcPct val="120000"/>
              </a:lnSpc>
            </a:pPr>
            <a:r>
              <a:rPr sz="1800" b="1" i="0" spc="1">
                <a:solidFill>
                  <a:srgbClr val="1F2A44"/>
                </a:solidFill>
                <a:latin typeface="Source Han Serif SC"/>
                <a:ea typeface="Source Han Serif SC"/>
              </a:rPr>
              <a:t>关键在人如何使用</a:t>
            </a:r>
          </a:p>
        </p:txBody>
      </p:sp>
      <p:sp>
        <p:nvSpPr>
          <p:cNvPr id="23" name="TextBox 22"/>
          <p:cNvSpPr txBox="1"/>
          <p:nvPr/>
        </p:nvSpPr>
        <p:spPr>
          <a:xfrm>
            <a:off x="2377440" y="5554980"/>
            <a:ext cx="9144000" cy="546368"/>
          </a:xfrm>
          <a:prstGeom prst="rect">
            <a:avLst/>
          </a:prstGeom>
          <a:noFill/>
          <a:effectLst/>
        </p:spPr>
        <p:txBody>
          <a:bodyPr wrap="square" lIns="0" tIns="0" rIns="0" bIns="0" anchor="t">
            <a:spAutoFit/>
          </a:bodyPr>
          <a:lstStyle/>
          <a:p>
            <a:pPr algn="l">
              <a:lnSpc>
                <a:spcPct val="150000"/>
              </a:lnSpc>
            </a:pPr>
            <a:r>
              <a:rPr sz="1250" b="0" i="0" dirty="0">
                <a:solidFill>
                  <a:srgbClr val="222A3A"/>
                </a:solidFill>
                <a:latin typeface="Source Han Sans SC"/>
                <a:ea typeface="Source Han Sans SC"/>
              </a:rPr>
              <a:t>把 AI </a:t>
            </a:r>
            <a:r>
              <a:rPr sz="1250" b="0" i="0" dirty="0" err="1">
                <a:solidFill>
                  <a:srgbClr val="222A3A"/>
                </a:solidFill>
                <a:latin typeface="Source Han Sans SC"/>
                <a:ea typeface="Source Han Sans SC"/>
              </a:rPr>
              <a:t>当作思考起点而非终点，先独立思考、再用</a:t>
            </a:r>
            <a:r>
              <a:rPr sz="1250" b="0" i="0" dirty="0">
                <a:solidFill>
                  <a:srgbClr val="222A3A"/>
                </a:solidFill>
                <a:latin typeface="Source Han Sans SC"/>
                <a:ea typeface="Source Han Sans SC"/>
              </a:rPr>
              <a:t> AI </a:t>
            </a:r>
            <a:r>
              <a:rPr sz="1250" b="0" i="0" dirty="0" err="1">
                <a:solidFill>
                  <a:srgbClr val="222A3A"/>
                </a:solidFill>
                <a:latin typeface="Source Han Sans SC"/>
                <a:ea typeface="Source Han Sans SC"/>
              </a:rPr>
              <a:t>校验与扩展</a:t>
            </a:r>
            <a:r>
              <a:rPr sz="1250" b="0" i="0" dirty="0">
                <a:solidFill>
                  <a:srgbClr val="222A3A"/>
                </a:solidFill>
                <a:latin typeface="Source Han Sans SC"/>
                <a:ea typeface="Source Han Sans SC"/>
              </a:rPr>
              <a:t>，</a:t>
            </a:r>
            <a:r>
              <a:rPr lang="zh-CN" altLang="en-US" sz="1250" dirty="0">
                <a:solidFill>
                  <a:srgbClr val="222A3A"/>
                </a:solidFill>
                <a:latin typeface="Source Han Sans SC"/>
                <a:ea typeface="Source Han Sans SC"/>
              </a:rPr>
              <a:t>才</a:t>
            </a:r>
            <a:r>
              <a:rPr sz="1250" b="0" i="0" dirty="0" err="1">
                <a:solidFill>
                  <a:srgbClr val="222A3A"/>
                </a:solidFill>
                <a:latin typeface="Source Han Sans SC"/>
                <a:ea typeface="Source Han Sans SC"/>
              </a:rPr>
              <a:t>可以做到「越用越不同</a:t>
            </a:r>
            <a:r>
              <a:rPr sz="1250" b="0" i="0" dirty="0">
                <a:solidFill>
                  <a:srgbClr val="222A3A"/>
                </a:solidFill>
                <a:latin typeface="Source Han Sans SC"/>
                <a:ea typeface="Source Han Sans SC"/>
              </a:rPr>
              <a:t>」。</a:t>
            </a:r>
            <a:r>
              <a:rPr sz="1250" b="0" i="0" dirty="0" err="1">
                <a:solidFill>
                  <a:srgbClr val="222A3A"/>
                </a:solidFill>
                <a:latin typeface="Source Han Sans SC"/>
                <a:ea typeface="Source Han Sans SC"/>
              </a:rPr>
              <a:t>决定同质化的，是使用方式，不是工具本身</a:t>
            </a:r>
            <a:r>
              <a:rPr sz="1250" b="0" i="0" dirty="0">
                <a:solidFill>
                  <a:srgbClr val="222A3A"/>
                </a:solidFill>
                <a:latin typeface="Source Han Sans SC"/>
                <a:ea typeface="Source Han Sans SC"/>
              </a:rPr>
              <a:t>。</a:t>
            </a:r>
          </a:p>
        </p:txBody>
      </p:sp>
      <p:sp>
        <p:nvSpPr>
          <p:cNvPr id="25" name="TextBox 24"/>
          <p:cNvSpPr txBox="1"/>
          <p:nvPr/>
        </p:nvSpPr>
        <p:spPr>
          <a:xfrm>
            <a:off x="10241280" y="6446520"/>
            <a:ext cx="1463040" cy="274320"/>
          </a:xfrm>
          <a:prstGeom prst="rect">
            <a:avLst/>
          </a:prstGeom>
          <a:noFill/>
          <a:effectLst/>
        </p:spPr>
        <p:txBody>
          <a:bodyPr wrap="square" lIns="0" tIns="0" rIns="0" bIns="0" anchor="t">
            <a:spAutoFit/>
          </a:bodyPr>
          <a:lstStyle/>
          <a:p>
            <a:pPr algn="r">
              <a:lnSpc>
                <a:spcPct val="120000"/>
              </a:lnSpc>
            </a:pPr>
            <a:r>
              <a:rPr sz="900" b="0" i="0">
                <a:solidFill>
                  <a:srgbClr val="555E73"/>
                </a:solidFill>
                <a:latin typeface="Source Han Sans SC"/>
                <a:ea typeface="Source Han Sans SC"/>
              </a:rPr>
              <a:t>05 / 08</a:t>
            </a:r>
          </a:p>
        </p:txBody>
      </p:sp>
    </p:spTree>
  </p:cSld>
  <p:clrMapOvr>
    <a:masterClrMapping/>
  </p:clrMapOvr>
</p:sld>
</file>

<file path=ppt/slides/slide4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Rectangle 1"/>
          <p:cNvSpPr/>
          <p:nvPr/>
        </p:nvSpPr>
        <p:spPr>
          <a:xfrm>
            <a:off x="0" y="0"/>
            <a:ext cx="12191695" cy="6858000"/>
          </a:xfrm>
          <a:prstGeom prst="rect">
            <a:avLst/>
          </a:prstGeom>
          <a:solidFill>
            <a:srgbClr val="FAF4EA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3" name="TextBox 2"/>
          <p:cNvSpPr txBox="1"/>
          <p:nvPr/>
        </p:nvSpPr>
        <p:spPr>
          <a:xfrm>
            <a:off x="548640" y="502920"/>
            <a:ext cx="5486400" cy="365760"/>
          </a:xfrm>
          <a:prstGeom prst="rect">
            <a:avLst/>
          </a:prstGeom>
          <a:noFill/>
          <a:effectLst/>
        </p:spPr>
        <p:txBody>
          <a:bodyPr wrap="square" lIns="0" tIns="0" rIns="0" bIns="0" anchor="t">
            <a:spAutoFit/>
          </a:bodyPr>
          <a:lstStyle/>
          <a:p>
            <a:pPr algn="l">
              <a:lnSpc>
                <a:spcPct val="120000"/>
              </a:lnSpc>
            </a:pPr>
            <a:r>
              <a:rPr sz="1100" b="1" i="0" spc="5">
                <a:solidFill>
                  <a:srgbClr val="E06A5C"/>
                </a:solidFill>
                <a:latin typeface="Source Han Sans SC"/>
                <a:ea typeface="Source Han Sans SC"/>
              </a:rPr>
              <a:t>01  /  现象观察</a:t>
            </a:r>
          </a:p>
        </p:txBody>
      </p:sp>
      <p:sp>
        <p:nvSpPr>
          <p:cNvPr id="4" name="TextBox 3"/>
          <p:cNvSpPr txBox="1"/>
          <p:nvPr/>
        </p:nvSpPr>
        <p:spPr>
          <a:xfrm>
            <a:off x="548640" y="914400"/>
            <a:ext cx="10058400" cy="514885"/>
          </a:xfrm>
          <a:prstGeom prst="rect">
            <a:avLst/>
          </a:prstGeom>
          <a:noFill/>
          <a:effectLst/>
        </p:spPr>
        <p:txBody>
          <a:bodyPr wrap="square" lIns="0" tIns="0" rIns="0" bIns="0" anchor="t">
            <a:spAutoFit/>
          </a:bodyPr>
          <a:lstStyle/>
          <a:p>
            <a:pPr algn="l">
              <a:lnSpc>
                <a:spcPct val="120000"/>
              </a:lnSpc>
            </a:pPr>
            <a:r>
              <a:rPr lang="zh-CN" altLang="en-US" sz="3000" b="1" i="0" spc="2" dirty="0">
                <a:solidFill>
                  <a:srgbClr val="1F2A44"/>
                </a:solidFill>
                <a:latin typeface="Source Han Serif SC"/>
                <a:ea typeface="Source Han Serif SC"/>
              </a:rPr>
              <a:t>教育中</a:t>
            </a:r>
            <a:r>
              <a:rPr sz="3000" b="1" i="0" spc="2" dirty="0" err="1">
                <a:solidFill>
                  <a:srgbClr val="1F2A44"/>
                </a:solidFill>
                <a:latin typeface="Source Han Serif SC"/>
                <a:ea typeface="Source Han Serif SC"/>
              </a:rPr>
              <a:t>看见了哪些「同质化</a:t>
            </a:r>
            <a:r>
              <a:rPr sz="3000" b="1" i="0" spc="2" dirty="0">
                <a:solidFill>
                  <a:srgbClr val="1F2A44"/>
                </a:solidFill>
                <a:latin typeface="Source Han Serif SC"/>
                <a:ea typeface="Source Han Serif SC"/>
              </a:rPr>
              <a:t>」？</a:t>
            </a:r>
          </a:p>
        </p:txBody>
      </p:sp>
      <p:sp>
        <p:nvSpPr>
          <p:cNvPr id="5" name="TextBox 4"/>
          <p:cNvSpPr txBox="1"/>
          <p:nvPr/>
        </p:nvSpPr>
        <p:spPr>
          <a:xfrm>
            <a:off x="548640" y="1691640"/>
            <a:ext cx="10058400" cy="365760"/>
          </a:xfrm>
          <a:prstGeom prst="rect">
            <a:avLst/>
          </a:prstGeom>
          <a:noFill/>
          <a:effectLst/>
        </p:spPr>
        <p:txBody>
          <a:bodyPr wrap="square" lIns="0" tIns="0" rIns="0" bIns="0" anchor="t">
            <a:spAutoFit/>
          </a:bodyPr>
          <a:lstStyle/>
          <a:p>
            <a:pPr algn="l">
              <a:lnSpc>
                <a:spcPct val="120000"/>
              </a:lnSpc>
            </a:pPr>
            <a:r>
              <a:rPr sz="1300" b="0" i="1">
                <a:solidFill>
                  <a:srgbClr val="555E73"/>
                </a:solidFill>
                <a:latin typeface="Source Han Sans SC"/>
                <a:ea typeface="Source Han Sans SC"/>
              </a:rPr>
              <a:t>三个最常被提到的具体场景，构成了讨论的起点。</a:t>
            </a:r>
          </a:p>
        </p:txBody>
      </p:sp>
      <p:sp>
        <p:nvSpPr>
          <p:cNvPr id="6" name="Rectangle 5"/>
          <p:cNvSpPr/>
          <p:nvPr/>
        </p:nvSpPr>
        <p:spPr>
          <a:xfrm>
            <a:off x="548640" y="2377440"/>
            <a:ext cx="3515258" cy="3657600"/>
          </a:xfrm>
          <a:prstGeom prst="rect">
            <a:avLst/>
          </a:prstGeom>
          <a:solidFill>
            <a:srgbClr val="FFFFFF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7" name="Rectangle 6"/>
          <p:cNvSpPr/>
          <p:nvPr/>
        </p:nvSpPr>
        <p:spPr>
          <a:xfrm>
            <a:off x="548640" y="2377440"/>
            <a:ext cx="3515258" cy="73152"/>
          </a:xfrm>
          <a:prstGeom prst="rect">
            <a:avLst/>
          </a:prstGeom>
          <a:solidFill>
            <a:srgbClr val="E06A5C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8" name="Rounded Rectangle 7"/>
          <p:cNvSpPr/>
          <p:nvPr/>
        </p:nvSpPr>
        <p:spPr>
          <a:xfrm>
            <a:off x="868680" y="2697480"/>
            <a:ext cx="1371600" cy="292608"/>
          </a:xfrm>
          <a:prstGeom prst="roundRect">
            <a:avLst>
              <a:gd name="adj" fmla="val 50000"/>
            </a:avLst>
          </a:prstGeom>
          <a:solidFill>
            <a:srgbClr val="F1E7D6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lIns="0" tIns="0" rIns="0" bIns="0" rtlCol="0" anchor="ctr"/>
          <a:lstStyle/>
          <a:p>
            <a:pPr algn="ctr"/>
            <a:r>
              <a:rPr sz="1000" b="1">
                <a:solidFill>
                  <a:srgbClr val="1F2A44"/>
                </a:solidFill>
                <a:latin typeface="Source Han Sans SC"/>
                <a:ea typeface="Source Han Sans SC"/>
              </a:rPr>
              <a:t>课堂发言</a:t>
            </a:r>
          </a:p>
        </p:txBody>
      </p:sp>
      <p:sp>
        <p:nvSpPr>
          <p:cNvPr id="9" name="TextBox 8"/>
          <p:cNvSpPr txBox="1"/>
          <p:nvPr/>
        </p:nvSpPr>
        <p:spPr>
          <a:xfrm>
            <a:off x="868680" y="3154680"/>
            <a:ext cx="2875178" cy="548640"/>
          </a:xfrm>
          <a:prstGeom prst="rect">
            <a:avLst/>
          </a:prstGeom>
          <a:noFill/>
          <a:effectLst/>
        </p:spPr>
        <p:txBody>
          <a:bodyPr wrap="square" lIns="0" tIns="0" rIns="0" bIns="0" anchor="t">
            <a:spAutoFit/>
          </a:bodyPr>
          <a:lstStyle/>
          <a:p>
            <a:pPr algn="l">
              <a:lnSpc>
                <a:spcPct val="120000"/>
              </a:lnSpc>
            </a:pPr>
            <a:r>
              <a:rPr sz="4200" b="1" i="0" spc="2">
                <a:solidFill>
                  <a:srgbClr val="F2C94B"/>
                </a:solidFill>
                <a:latin typeface="Source Han Serif SC"/>
                <a:ea typeface="Source Han Serif SC"/>
              </a:rPr>
              <a:t>01</a:t>
            </a:r>
          </a:p>
        </p:txBody>
      </p:sp>
      <p:sp>
        <p:nvSpPr>
          <p:cNvPr id="10" name="TextBox 9"/>
          <p:cNvSpPr txBox="1"/>
          <p:nvPr/>
        </p:nvSpPr>
        <p:spPr>
          <a:xfrm>
            <a:off x="868680" y="3840480"/>
            <a:ext cx="2875178" cy="822960"/>
          </a:xfrm>
          <a:prstGeom prst="rect">
            <a:avLst/>
          </a:prstGeom>
          <a:noFill/>
          <a:effectLst/>
        </p:spPr>
        <p:txBody>
          <a:bodyPr wrap="square" lIns="0" tIns="0" rIns="0" bIns="0" anchor="t">
            <a:spAutoFit/>
          </a:bodyPr>
          <a:lstStyle/>
          <a:p>
            <a:pPr algn="l">
              <a:lnSpc>
                <a:spcPct val="125000"/>
              </a:lnSpc>
            </a:pPr>
            <a:r>
              <a:rPr sz="1800" b="1" i="0" spc="1">
                <a:solidFill>
                  <a:srgbClr val="1F2A44"/>
                </a:solidFill>
                <a:latin typeface="Source Han Serif SC"/>
                <a:ea typeface="Source Han Serif SC"/>
              </a:rPr>
              <a:t>「大家听起来都差不多」</a:t>
            </a:r>
          </a:p>
        </p:txBody>
      </p:sp>
      <p:sp>
        <p:nvSpPr>
          <p:cNvPr id="11" name="Rectangle 10"/>
          <p:cNvSpPr/>
          <p:nvPr/>
        </p:nvSpPr>
        <p:spPr>
          <a:xfrm>
            <a:off x="868680" y="4663440"/>
            <a:ext cx="457200" cy="22860"/>
          </a:xfrm>
          <a:prstGeom prst="rect">
            <a:avLst/>
          </a:prstGeom>
          <a:solidFill>
            <a:srgbClr val="E06A5C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12" name="TextBox 11"/>
          <p:cNvSpPr txBox="1"/>
          <p:nvPr/>
        </p:nvSpPr>
        <p:spPr>
          <a:xfrm>
            <a:off x="868680" y="4846320"/>
            <a:ext cx="2875178" cy="914400"/>
          </a:xfrm>
          <a:prstGeom prst="rect">
            <a:avLst/>
          </a:prstGeom>
          <a:noFill/>
          <a:effectLst/>
        </p:spPr>
        <p:txBody>
          <a:bodyPr wrap="square" lIns="0" tIns="0" rIns="0" bIns="0" anchor="t">
            <a:spAutoFit/>
          </a:bodyPr>
          <a:lstStyle/>
          <a:p>
            <a:pPr algn="l">
              <a:lnSpc>
                <a:spcPct val="155000"/>
              </a:lnSpc>
            </a:pPr>
            <a:r>
              <a:rPr sz="1250" b="0" i="0" dirty="0" err="1">
                <a:solidFill>
                  <a:srgbClr val="222A3A"/>
                </a:solidFill>
                <a:latin typeface="Source Han Sans SC"/>
                <a:ea typeface="Source Han Sans SC"/>
              </a:rPr>
              <a:t>讨论课里，同学准备充分、措辞精緻，但观点越来越像；有人直接向</a:t>
            </a:r>
            <a:r>
              <a:rPr sz="1250" b="0" i="0" dirty="0">
                <a:solidFill>
                  <a:srgbClr val="222A3A"/>
                </a:solidFill>
                <a:latin typeface="Source Han Sans SC"/>
                <a:ea typeface="Source Han Sans SC"/>
              </a:rPr>
              <a:t> AI </a:t>
            </a:r>
            <a:r>
              <a:rPr sz="1250" b="0" i="0" dirty="0" err="1">
                <a:solidFill>
                  <a:srgbClr val="222A3A"/>
                </a:solidFill>
                <a:latin typeface="Source Han Sans SC"/>
                <a:ea typeface="Source Han Sans SC"/>
              </a:rPr>
              <a:t>提问，再用生成内容回答老师</a:t>
            </a:r>
            <a:r>
              <a:rPr sz="1250" b="0" i="0" dirty="0">
                <a:solidFill>
                  <a:srgbClr val="222A3A"/>
                </a:solidFill>
                <a:latin typeface="Source Han Sans SC"/>
                <a:ea typeface="Source Han Sans SC"/>
              </a:rPr>
              <a:t>。</a:t>
            </a:r>
          </a:p>
        </p:txBody>
      </p:sp>
      <p:sp>
        <p:nvSpPr>
          <p:cNvPr id="13" name="Rectangle 12"/>
          <p:cNvSpPr/>
          <p:nvPr/>
        </p:nvSpPr>
        <p:spPr>
          <a:xfrm>
            <a:off x="4338218" y="2377440"/>
            <a:ext cx="3515258" cy="3657600"/>
          </a:xfrm>
          <a:prstGeom prst="rect">
            <a:avLst/>
          </a:prstGeom>
          <a:solidFill>
            <a:srgbClr val="FFFFFF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14" name="Rectangle 13"/>
          <p:cNvSpPr/>
          <p:nvPr/>
        </p:nvSpPr>
        <p:spPr>
          <a:xfrm>
            <a:off x="4338218" y="2377440"/>
            <a:ext cx="3515258" cy="73152"/>
          </a:xfrm>
          <a:prstGeom prst="rect">
            <a:avLst/>
          </a:prstGeom>
          <a:solidFill>
            <a:srgbClr val="E06A5C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15" name="Rounded Rectangle 14"/>
          <p:cNvSpPr/>
          <p:nvPr/>
        </p:nvSpPr>
        <p:spPr>
          <a:xfrm>
            <a:off x="4658258" y="2697480"/>
            <a:ext cx="1371600" cy="292608"/>
          </a:xfrm>
          <a:prstGeom prst="roundRect">
            <a:avLst>
              <a:gd name="adj" fmla="val 50000"/>
            </a:avLst>
          </a:prstGeom>
          <a:solidFill>
            <a:srgbClr val="F1E7D6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lIns="0" tIns="0" rIns="0" bIns="0" rtlCol="0" anchor="ctr"/>
          <a:lstStyle/>
          <a:p>
            <a:pPr algn="ctr"/>
            <a:r>
              <a:rPr sz="1000" b="1">
                <a:solidFill>
                  <a:srgbClr val="1F2A44"/>
                </a:solidFill>
                <a:latin typeface="Source Han Sans SC"/>
                <a:ea typeface="Source Han Sans SC"/>
              </a:rPr>
              <a:t>作业与写作</a:t>
            </a:r>
          </a:p>
        </p:txBody>
      </p:sp>
      <p:sp>
        <p:nvSpPr>
          <p:cNvPr id="16" name="TextBox 15"/>
          <p:cNvSpPr txBox="1"/>
          <p:nvPr/>
        </p:nvSpPr>
        <p:spPr>
          <a:xfrm>
            <a:off x="4658258" y="3154680"/>
            <a:ext cx="2875178" cy="548640"/>
          </a:xfrm>
          <a:prstGeom prst="rect">
            <a:avLst/>
          </a:prstGeom>
          <a:noFill/>
          <a:effectLst/>
        </p:spPr>
        <p:txBody>
          <a:bodyPr wrap="square" lIns="0" tIns="0" rIns="0" bIns="0" anchor="t">
            <a:spAutoFit/>
          </a:bodyPr>
          <a:lstStyle/>
          <a:p>
            <a:pPr algn="l">
              <a:lnSpc>
                <a:spcPct val="120000"/>
              </a:lnSpc>
            </a:pPr>
            <a:r>
              <a:rPr sz="4200" b="1" i="0" spc="2">
                <a:solidFill>
                  <a:srgbClr val="F2C94B"/>
                </a:solidFill>
                <a:latin typeface="Source Han Serif SC"/>
                <a:ea typeface="Source Han Serif SC"/>
              </a:rPr>
              <a:t>02</a:t>
            </a:r>
          </a:p>
        </p:txBody>
      </p:sp>
      <p:sp>
        <p:nvSpPr>
          <p:cNvPr id="17" name="TextBox 16"/>
          <p:cNvSpPr txBox="1"/>
          <p:nvPr/>
        </p:nvSpPr>
        <p:spPr>
          <a:xfrm>
            <a:off x="4658258" y="3840480"/>
            <a:ext cx="2875178" cy="822960"/>
          </a:xfrm>
          <a:prstGeom prst="rect">
            <a:avLst/>
          </a:prstGeom>
          <a:noFill/>
          <a:effectLst/>
        </p:spPr>
        <p:txBody>
          <a:bodyPr wrap="square" lIns="0" tIns="0" rIns="0" bIns="0" anchor="t">
            <a:spAutoFit/>
          </a:bodyPr>
          <a:lstStyle/>
          <a:p>
            <a:pPr algn="l">
              <a:lnSpc>
                <a:spcPct val="125000"/>
              </a:lnSpc>
            </a:pPr>
            <a:r>
              <a:rPr sz="1800" b="1" i="0" spc="1" dirty="0">
                <a:solidFill>
                  <a:srgbClr val="1F2A44"/>
                </a:solidFill>
                <a:latin typeface="Source Han Serif SC"/>
                <a:ea typeface="Source Han Serif SC"/>
              </a:rPr>
              <a:t>「</a:t>
            </a:r>
            <a:r>
              <a:rPr sz="1800" b="1" i="0" spc="1" dirty="0" err="1">
                <a:solidFill>
                  <a:srgbClr val="1F2A44"/>
                </a:solidFill>
                <a:latin typeface="Source Han Serif SC"/>
                <a:ea typeface="Source Han Serif SC"/>
              </a:rPr>
              <a:t>写作像同一个模子</a:t>
            </a:r>
            <a:r>
              <a:rPr sz="1800" b="1" i="0" spc="1" dirty="0">
                <a:solidFill>
                  <a:srgbClr val="1F2A44"/>
                </a:solidFill>
                <a:latin typeface="Source Han Serif SC"/>
                <a:ea typeface="Source Han Serif SC"/>
              </a:rPr>
              <a:t>」</a:t>
            </a:r>
          </a:p>
        </p:txBody>
      </p:sp>
      <p:sp>
        <p:nvSpPr>
          <p:cNvPr id="18" name="Rectangle 17"/>
          <p:cNvSpPr/>
          <p:nvPr/>
        </p:nvSpPr>
        <p:spPr>
          <a:xfrm>
            <a:off x="4658258" y="4663440"/>
            <a:ext cx="457200" cy="22860"/>
          </a:xfrm>
          <a:prstGeom prst="rect">
            <a:avLst/>
          </a:prstGeom>
          <a:solidFill>
            <a:srgbClr val="E06A5C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19" name="TextBox 18"/>
          <p:cNvSpPr txBox="1"/>
          <p:nvPr/>
        </p:nvSpPr>
        <p:spPr>
          <a:xfrm>
            <a:off x="4658258" y="4846320"/>
            <a:ext cx="2875178" cy="914400"/>
          </a:xfrm>
          <a:prstGeom prst="rect">
            <a:avLst/>
          </a:prstGeom>
          <a:noFill/>
          <a:effectLst/>
        </p:spPr>
        <p:txBody>
          <a:bodyPr wrap="square" lIns="0" tIns="0" rIns="0" bIns="0" anchor="t">
            <a:spAutoFit/>
          </a:bodyPr>
          <a:lstStyle/>
          <a:p>
            <a:pPr algn="l">
              <a:lnSpc>
                <a:spcPct val="155000"/>
              </a:lnSpc>
            </a:pPr>
            <a:r>
              <a:rPr sz="1250" b="0" i="0" dirty="0" err="1">
                <a:solidFill>
                  <a:srgbClr val="222A3A"/>
                </a:solidFill>
                <a:latin typeface="Source Han Sans SC"/>
                <a:ea typeface="Source Han Sans SC"/>
              </a:rPr>
              <a:t>周记、读后感、小论文出现大量相似句式、相似结构，甚至相似的金句模板，老师的评语也开始可预测</a:t>
            </a:r>
            <a:r>
              <a:rPr sz="1250" b="0" i="0" dirty="0">
                <a:solidFill>
                  <a:srgbClr val="222A3A"/>
                </a:solidFill>
                <a:latin typeface="Source Han Sans SC"/>
                <a:ea typeface="Source Han Sans SC"/>
              </a:rPr>
              <a:t>。</a:t>
            </a:r>
          </a:p>
        </p:txBody>
      </p:sp>
      <p:sp>
        <p:nvSpPr>
          <p:cNvPr id="20" name="Rectangle 19"/>
          <p:cNvSpPr/>
          <p:nvPr/>
        </p:nvSpPr>
        <p:spPr>
          <a:xfrm>
            <a:off x="8127796" y="2377440"/>
            <a:ext cx="3515258" cy="3657600"/>
          </a:xfrm>
          <a:prstGeom prst="rect">
            <a:avLst/>
          </a:prstGeom>
          <a:solidFill>
            <a:srgbClr val="FFFFFF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21" name="Rectangle 20"/>
          <p:cNvSpPr/>
          <p:nvPr/>
        </p:nvSpPr>
        <p:spPr>
          <a:xfrm>
            <a:off x="8127796" y="2377440"/>
            <a:ext cx="3515258" cy="73152"/>
          </a:xfrm>
          <a:prstGeom prst="rect">
            <a:avLst/>
          </a:prstGeom>
          <a:solidFill>
            <a:srgbClr val="E06A5C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22" name="Rounded Rectangle 21"/>
          <p:cNvSpPr/>
          <p:nvPr/>
        </p:nvSpPr>
        <p:spPr>
          <a:xfrm>
            <a:off x="8447836" y="2697480"/>
            <a:ext cx="1371600" cy="292608"/>
          </a:xfrm>
          <a:prstGeom prst="roundRect">
            <a:avLst>
              <a:gd name="adj" fmla="val 50000"/>
            </a:avLst>
          </a:prstGeom>
          <a:solidFill>
            <a:srgbClr val="F1E7D6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lIns="0" tIns="0" rIns="0" bIns="0" rtlCol="0" anchor="ctr"/>
          <a:lstStyle/>
          <a:p>
            <a:pPr algn="ctr"/>
            <a:r>
              <a:rPr sz="1000" b="1">
                <a:solidFill>
                  <a:srgbClr val="1F2A44"/>
                </a:solidFill>
                <a:latin typeface="Source Han Sans SC"/>
                <a:ea typeface="Source Han Sans SC"/>
              </a:rPr>
              <a:t>思考与判断</a:t>
            </a:r>
          </a:p>
        </p:txBody>
      </p:sp>
      <p:sp>
        <p:nvSpPr>
          <p:cNvPr id="23" name="TextBox 22"/>
          <p:cNvSpPr txBox="1"/>
          <p:nvPr/>
        </p:nvSpPr>
        <p:spPr>
          <a:xfrm>
            <a:off x="8447836" y="3154680"/>
            <a:ext cx="2875178" cy="548640"/>
          </a:xfrm>
          <a:prstGeom prst="rect">
            <a:avLst/>
          </a:prstGeom>
          <a:noFill/>
          <a:effectLst/>
        </p:spPr>
        <p:txBody>
          <a:bodyPr wrap="square" lIns="0" tIns="0" rIns="0" bIns="0" anchor="t">
            <a:spAutoFit/>
          </a:bodyPr>
          <a:lstStyle/>
          <a:p>
            <a:pPr algn="l">
              <a:lnSpc>
                <a:spcPct val="120000"/>
              </a:lnSpc>
            </a:pPr>
            <a:r>
              <a:rPr sz="4200" b="1" i="0" spc="2">
                <a:solidFill>
                  <a:srgbClr val="F2C94B"/>
                </a:solidFill>
                <a:latin typeface="Source Han Serif SC"/>
                <a:ea typeface="Source Han Serif SC"/>
              </a:rPr>
              <a:t>03</a:t>
            </a:r>
          </a:p>
        </p:txBody>
      </p:sp>
      <p:sp>
        <p:nvSpPr>
          <p:cNvPr id="24" name="TextBox 23"/>
          <p:cNvSpPr txBox="1"/>
          <p:nvPr/>
        </p:nvSpPr>
        <p:spPr>
          <a:xfrm>
            <a:off x="8447836" y="3840480"/>
            <a:ext cx="2875178" cy="822960"/>
          </a:xfrm>
          <a:prstGeom prst="rect">
            <a:avLst/>
          </a:prstGeom>
          <a:noFill/>
          <a:effectLst/>
        </p:spPr>
        <p:txBody>
          <a:bodyPr wrap="square" lIns="0" tIns="0" rIns="0" bIns="0" anchor="t">
            <a:spAutoFit/>
          </a:bodyPr>
          <a:lstStyle/>
          <a:p>
            <a:pPr algn="l">
              <a:lnSpc>
                <a:spcPct val="125000"/>
              </a:lnSpc>
            </a:pPr>
            <a:r>
              <a:rPr sz="1800" b="1" i="0" spc="1">
                <a:solidFill>
                  <a:srgbClr val="1F2A44"/>
                </a:solidFill>
                <a:latin typeface="Source Han Serif SC"/>
                <a:ea typeface="Source Han Serif SC"/>
              </a:rPr>
              <a:t>「先问 AI，再问自己」</a:t>
            </a:r>
          </a:p>
        </p:txBody>
      </p:sp>
      <p:sp>
        <p:nvSpPr>
          <p:cNvPr id="25" name="Rectangle 24"/>
          <p:cNvSpPr/>
          <p:nvPr/>
        </p:nvSpPr>
        <p:spPr>
          <a:xfrm>
            <a:off x="8447836" y="4663440"/>
            <a:ext cx="457200" cy="22860"/>
          </a:xfrm>
          <a:prstGeom prst="rect">
            <a:avLst/>
          </a:prstGeom>
          <a:solidFill>
            <a:srgbClr val="E06A5C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26" name="TextBox 25"/>
          <p:cNvSpPr txBox="1"/>
          <p:nvPr/>
        </p:nvSpPr>
        <p:spPr>
          <a:xfrm>
            <a:off x="8447836" y="4846320"/>
            <a:ext cx="2875178" cy="914400"/>
          </a:xfrm>
          <a:prstGeom prst="rect">
            <a:avLst/>
          </a:prstGeom>
          <a:noFill/>
          <a:effectLst/>
        </p:spPr>
        <p:txBody>
          <a:bodyPr wrap="square" lIns="0" tIns="0" rIns="0" bIns="0" anchor="t">
            <a:spAutoFit/>
          </a:bodyPr>
          <a:lstStyle/>
          <a:p>
            <a:pPr algn="l">
              <a:lnSpc>
                <a:spcPct val="155000"/>
              </a:lnSpc>
            </a:pPr>
            <a:r>
              <a:rPr sz="1250" b="0" i="0" dirty="0" err="1">
                <a:solidFill>
                  <a:srgbClr val="222A3A"/>
                </a:solidFill>
                <a:latin typeface="Source Han Sans SC"/>
                <a:ea typeface="Source Han Sans SC"/>
              </a:rPr>
              <a:t>面对难题，第一反应不再是「我怎么想</a:t>
            </a:r>
            <a:r>
              <a:rPr sz="1250" b="0" i="0" dirty="0">
                <a:solidFill>
                  <a:srgbClr val="222A3A"/>
                </a:solidFill>
                <a:latin typeface="Source Han Sans SC"/>
                <a:ea typeface="Source Han Sans SC"/>
              </a:rPr>
              <a:t>」，</a:t>
            </a:r>
            <a:r>
              <a:rPr sz="1250" b="0" i="0" dirty="0" err="1">
                <a:solidFill>
                  <a:srgbClr val="222A3A"/>
                </a:solidFill>
                <a:latin typeface="Source Han Sans SC"/>
                <a:ea typeface="Source Han Sans SC"/>
              </a:rPr>
              <a:t>而是「AI</a:t>
            </a:r>
            <a:r>
              <a:rPr sz="1250" b="0" i="0" dirty="0">
                <a:solidFill>
                  <a:srgbClr val="222A3A"/>
                </a:solidFill>
                <a:latin typeface="Source Han Sans SC"/>
                <a:ea typeface="Source Han Sans SC"/>
              </a:rPr>
              <a:t> </a:t>
            </a:r>
            <a:r>
              <a:rPr sz="1250" b="0" i="0" dirty="0" err="1">
                <a:solidFill>
                  <a:srgbClr val="222A3A"/>
                </a:solidFill>
                <a:latin typeface="Source Han Sans SC"/>
                <a:ea typeface="Source Han Sans SC"/>
              </a:rPr>
              <a:t>怎么说</a:t>
            </a:r>
            <a:r>
              <a:rPr sz="1250" b="0" i="0" dirty="0">
                <a:solidFill>
                  <a:srgbClr val="222A3A"/>
                </a:solidFill>
                <a:latin typeface="Source Han Sans SC"/>
                <a:ea typeface="Source Han Sans SC"/>
              </a:rPr>
              <a:t>」；</a:t>
            </a:r>
            <a:r>
              <a:rPr sz="1250" b="0" i="0" dirty="0" err="1">
                <a:solidFill>
                  <a:srgbClr val="222A3A"/>
                </a:solidFill>
                <a:latin typeface="Source Han Sans SC"/>
                <a:ea typeface="Source Han Sans SC"/>
              </a:rPr>
              <a:t>长期下来，自己拿主意、做选择的能力被弱化</a:t>
            </a:r>
            <a:r>
              <a:rPr sz="1250" b="0" i="0" dirty="0">
                <a:solidFill>
                  <a:srgbClr val="222A3A"/>
                </a:solidFill>
                <a:latin typeface="Source Han Sans SC"/>
                <a:ea typeface="Source Han Sans SC"/>
              </a:rPr>
              <a:t>。</a:t>
            </a:r>
          </a:p>
        </p:txBody>
      </p:sp>
      <p:sp>
        <p:nvSpPr>
          <p:cNvPr id="28" name="TextBox 27"/>
          <p:cNvSpPr txBox="1"/>
          <p:nvPr/>
        </p:nvSpPr>
        <p:spPr>
          <a:xfrm>
            <a:off x="10241280" y="6446520"/>
            <a:ext cx="1463040" cy="274320"/>
          </a:xfrm>
          <a:prstGeom prst="rect">
            <a:avLst/>
          </a:prstGeom>
          <a:noFill/>
          <a:effectLst/>
        </p:spPr>
        <p:txBody>
          <a:bodyPr wrap="square" lIns="0" tIns="0" rIns="0" bIns="0" anchor="t">
            <a:spAutoFit/>
          </a:bodyPr>
          <a:lstStyle/>
          <a:p>
            <a:pPr algn="r">
              <a:lnSpc>
                <a:spcPct val="120000"/>
              </a:lnSpc>
            </a:pPr>
            <a:r>
              <a:rPr sz="900" b="0" i="0">
                <a:solidFill>
                  <a:srgbClr val="555E73"/>
                </a:solidFill>
                <a:latin typeface="Source Han Sans SC"/>
                <a:ea typeface="Source Han Sans SC"/>
              </a:rPr>
              <a:t>03 / 08</a:t>
            </a:r>
          </a:p>
        </p:txBody>
      </p:sp>
    </p:spTree>
  </p:cSld>
  <p:clrMapOvr>
    <a:masterClrMapping/>
  </p:clrMapOvr>
</p:sld>
</file>

<file path=ppt/slides/slide5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Rectangle 1"/>
          <p:cNvSpPr/>
          <p:nvPr/>
        </p:nvSpPr>
        <p:spPr>
          <a:xfrm>
            <a:off x="0" y="0"/>
            <a:ext cx="12191695" cy="6858000"/>
          </a:xfrm>
          <a:prstGeom prst="rect">
            <a:avLst/>
          </a:prstGeom>
          <a:solidFill>
            <a:srgbClr val="FAF4EA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3" name="TextBox 2"/>
          <p:cNvSpPr txBox="1"/>
          <p:nvPr/>
        </p:nvSpPr>
        <p:spPr>
          <a:xfrm>
            <a:off x="548640" y="502920"/>
            <a:ext cx="5486400" cy="365760"/>
          </a:xfrm>
          <a:prstGeom prst="rect">
            <a:avLst/>
          </a:prstGeom>
          <a:noFill/>
          <a:effectLst/>
        </p:spPr>
        <p:txBody>
          <a:bodyPr wrap="square" lIns="0" tIns="0" rIns="0" bIns="0" anchor="t">
            <a:spAutoFit/>
          </a:bodyPr>
          <a:lstStyle/>
          <a:p>
            <a:pPr algn="l">
              <a:lnSpc>
                <a:spcPct val="120000"/>
              </a:lnSpc>
            </a:pPr>
            <a:r>
              <a:rPr sz="1100" b="1" i="0" spc="5">
                <a:solidFill>
                  <a:srgbClr val="E06A5C"/>
                </a:solidFill>
                <a:latin typeface="Source Han Sans SC"/>
                <a:ea typeface="Source Han Sans SC"/>
              </a:rPr>
              <a:t>04  /  原因剖析</a:t>
            </a:r>
          </a:p>
        </p:txBody>
      </p:sp>
      <p:sp>
        <p:nvSpPr>
          <p:cNvPr id="4" name="TextBox 3"/>
          <p:cNvSpPr txBox="1"/>
          <p:nvPr/>
        </p:nvSpPr>
        <p:spPr>
          <a:xfrm>
            <a:off x="548640" y="914400"/>
            <a:ext cx="10972800" cy="514885"/>
          </a:xfrm>
          <a:prstGeom prst="rect">
            <a:avLst/>
          </a:prstGeom>
          <a:noFill/>
          <a:effectLst/>
        </p:spPr>
        <p:txBody>
          <a:bodyPr wrap="square" lIns="0" tIns="0" rIns="0" bIns="0" anchor="t">
            <a:spAutoFit/>
          </a:bodyPr>
          <a:lstStyle/>
          <a:p>
            <a:pPr algn="l">
              <a:lnSpc>
                <a:spcPct val="120000"/>
              </a:lnSpc>
            </a:pPr>
            <a:r>
              <a:rPr lang="zh-CN" altLang="en-US" sz="3000" b="1" i="0" spc="2" dirty="0">
                <a:solidFill>
                  <a:srgbClr val="1F2A44"/>
                </a:solidFill>
                <a:latin typeface="Source Han Serif SC"/>
                <a:ea typeface="Source Han Serif SC"/>
              </a:rPr>
              <a:t>教育中的</a:t>
            </a:r>
            <a:r>
              <a:rPr lang="en-US" altLang="zh-CN" sz="3000" b="1" i="0" spc="2" dirty="0">
                <a:solidFill>
                  <a:srgbClr val="1F2A44"/>
                </a:solidFill>
                <a:latin typeface="Source Han Serif SC"/>
                <a:ea typeface="Source Han Serif SC"/>
              </a:rPr>
              <a:t>AI</a:t>
            </a:r>
            <a:r>
              <a:rPr lang="zh-CN" altLang="en-US" sz="3000" b="1" i="0" spc="2" dirty="0">
                <a:solidFill>
                  <a:srgbClr val="1F2A44"/>
                </a:solidFill>
                <a:latin typeface="Source Han Serif SC"/>
                <a:ea typeface="Source Han Serif SC"/>
              </a:rPr>
              <a:t>趋同</a:t>
            </a:r>
            <a:endParaRPr sz="3000" b="1" i="0" spc="2" dirty="0">
              <a:solidFill>
                <a:srgbClr val="1F2A44"/>
              </a:solidFill>
              <a:latin typeface="Source Han Serif SC"/>
              <a:ea typeface="Source Han Serif SC"/>
            </a:endParaRPr>
          </a:p>
        </p:txBody>
      </p:sp>
      <p:sp>
        <p:nvSpPr>
          <p:cNvPr id="6" name="Rectangle 5"/>
          <p:cNvSpPr/>
          <p:nvPr/>
        </p:nvSpPr>
        <p:spPr>
          <a:xfrm>
            <a:off x="548640" y="2468880"/>
            <a:ext cx="3515258" cy="3566160"/>
          </a:xfrm>
          <a:prstGeom prst="rect">
            <a:avLst/>
          </a:prstGeom>
          <a:solidFill>
            <a:srgbClr val="FFFFFF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7" name="Rectangle 6"/>
          <p:cNvSpPr/>
          <p:nvPr/>
        </p:nvSpPr>
        <p:spPr>
          <a:xfrm>
            <a:off x="548640" y="2468880"/>
            <a:ext cx="3515258" cy="594360"/>
          </a:xfrm>
          <a:prstGeom prst="rect">
            <a:avLst/>
          </a:prstGeom>
          <a:solidFill>
            <a:srgbClr val="1F2A44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8" name="TextBox 7"/>
          <p:cNvSpPr txBox="1"/>
          <p:nvPr/>
        </p:nvSpPr>
        <p:spPr>
          <a:xfrm>
            <a:off x="822960" y="2468880"/>
            <a:ext cx="914400" cy="594360"/>
          </a:xfrm>
          <a:prstGeom prst="rect">
            <a:avLst/>
          </a:prstGeom>
          <a:noFill/>
          <a:effectLst/>
        </p:spPr>
        <p:txBody>
          <a:bodyPr wrap="square" lIns="0" tIns="0" rIns="0" bIns="0" anchor="ctr">
            <a:spAutoFit/>
          </a:bodyPr>
          <a:lstStyle/>
          <a:p>
            <a:pPr algn="l">
              <a:lnSpc>
                <a:spcPct val="120000"/>
              </a:lnSpc>
            </a:pPr>
            <a:r>
              <a:rPr sz="1400" b="1" i="0" spc="4">
                <a:solidFill>
                  <a:srgbClr val="F2C94B"/>
                </a:solidFill>
                <a:latin typeface="Source Han Sans SC"/>
                <a:ea typeface="Source Han Sans SC"/>
              </a:rPr>
              <a:t>L1</a:t>
            </a:r>
          </a:p>
        </p:txBody>
      </p:sp>
      <p:sp>
        <p:nvSpPr>
          <p:cNvPr id="9" name="TextBox 8"/>
          <p:cNvSpPr txBox="1"/>
          <p:nvPr/>
        </p:nvSpPr>
        <p:spPr>
          <a:xfrm>
            <a:off x="1554480" y="2468880"/>
            <a:ext cx="2235098" cy="594360"/>
          </a:xfrm>
          <a:prstGeom prst="rect">
            <a:avLst/>
          </a:prstGeom>
          <a:noFill/>
          <a:effectLst/>
        </p:spPr>
        <p:txBody>
          <a:bodyPr wrap="square" lIns="0" tIns="0" rIns="0" bIns="0" anchor="ctr">
            <a:spAutoFit/>
          </a:bodyPr>
          <a:lstStyle/>
          <a:p>
            <a:pPr algn="r">
              <a:lnSpc>
                <a:spcPct val="120000"/>
              </a:lnSpc>
            </a:pPr>
            <a:r>
              <a:rPr sz="1600" b="1" i="0" spc="2">
                <a:solidFill>
                  <a:srgbClr val="FFFFFF"/>
                </a:solidFill>
                <a:latin typeface="Source Han Serif SC"/>
                <a:ea typeface="Source Han Serif SC"/>
              </a:rPr>
              <a:t>模型层</a:t>
            </a:r>
          </a:p>
        </p:txBody>
      </p:sp>
      <p:sp>
        <p:nvSpPr>
          <p:cNvPr id="10" name="TextBox 9"/>
          <p:cNvSpPr txBox="1"/>
          <p:nvPr/>
        </p:nvSpPr>
        <p:spPr>
          <a:xfrm>
            <a:off x="822960" y="3337560"/>
            <a:ext cx="2966618" cy="457200"/>
          </a:xfrm>
          <a:prstGeom prst="rect">
            <a:avLst/>
          </a:prstGeom>
          <a:noFill/>
          <a:effectLst/>
        </p:spPr>
        <p:txBody>
          <a:bodyPr wrap="square" lIns="0" tIns="0" rIns="0" bIns="0" anchor="t">
            <a:spAutoFit/>
          </a:bodyPr>
          <a:lstStyle/>
          <a:p>
            <a:pPr algn="l">
              <a:lnSpc>
                <a:spcPct val="120000"/>
              </a:lnSpc>
            </a:pPr>
            <a:r>
              <a:rPr sz="1500" b="1" i="0" spc="1">
                <a:solidFill>
                  <a:srgbClr val="E06A5C"/>
                </a:solidFill>
                <a:latin typeface="Source Han Serif SC"/>
                <a:ea typeface="Source Han Serif SC"/>
              </a:rPr>
              <a:t>AI 是概率模型</a:t>
            </a:r>
          </a:p>
        </p:txBody>
      </p:sp>
      <p:sp>
        <p:nvSpPr>
          <p:cNvPr id="11" name="Rectangle 10"/>
          <p:cNvSpPr/>
          <p:nvPr/>
        </p:nvSpPr>
        <p:spPr>
          <a:xfrm>
            <a:off x="822960" y="3840480"/>
            <a:ext cx="548640" cy="22860"/>
          </a:xfrm>
          <a:prstGeom prst="rect">
            <a:avLst/>
          </a:prstGeom>
          <a:solidFill>
            <a:srgbClr val="E06A5C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12" name="TextBox 11"/>
          <p:cNvSpPr txBox="1"/>
          <p:nvPr/>
        </p:nvSpPr>
        <p:spPr>
          <a:xfrm>
            <a:off x="822960" y="4023360"/>
            <a:ext cx="2966618" cy="1737360"/>
          </a:xfrm>
          <a:prstGeom prst="rect">
            <a:avLst/>
          </a:prstGeom>
          <a:noFill/>
          <a:effectLst/>
        </p:spPr>
        <p:txBody>
          <a:bodyPr wrap="square" lIns="0" tIns="0" rIns="0" bIns="0" anchor="t">
            <a:spAutoFit/>
          </a:bodyPr>
          <a:lstStyle/>
          <a:p>
            <a:pPr algn="l">
              <a:lnSpc>
                <a:spcPct val="155000"/>
              </a:lnSpc>
            </a:pPr>
            <a:r>
              <a:rPr sz="1250" b="0" i="0" dirty="0" err="1">
                <a:solidFill>
                  <a:srgbClr val="222A3A"/>
                </a:solidFill>
                <a:latin typeface="Source Han Sans SC"/>
                <a:ea typeface="Source Han Sans SC"/>
              </a:rPr>
              <a:t>训练数据偏向主流语言、主流观点，输出天然收敛到「最常见答案</a:t>
            </a:r>
            <a:r>
              <a:rPr sz="1250" b="0" i="0" dirty="0">
                <a:solidFill>
                  <a:srgbClr val="222A3A"/>
                </a:solidFill>
                <a:latin typeface="Source Han Sans SC"/>
                <a:ea typeface="Source Han Sans SC"/>
              </a:rPr>
              <a:t>」。</a:t>
            </a:r>
            <a:r>
              <a:rPr sz="1250" b="0" i="0" dirty="0" err="1">
                <a:solidFill>
                  <a:srgbClr val="222A3A"/>
                </a:solidFill>
                <a:latin typeface="Source Han Sans SC"/>
                <a:ea typeface="Source Han Sans SC"/>
              </a:rPr>
              <a:t>这意味着</a:t>
            </a:r>
            <a:r>
              <a:rPr sz="1250" b="0" i="0" dirty="0">
                <a:solidFill>
                  <a:srgbClr val="222A3A"/>
                </a:solidFill>
                <a:latin typeface="Source Han Sans SC"/>
                <a:ea typeface="Source Han Sans SC"/>
              </a:rPr>
              <a:t> AI </a:t>
            </a:r>
            <a:r>
              <a:rPr sz="1250" b="0" i="0" dirty="0" err="1">
                <a:solidFill>
                  <a:srgbClr val="222A3A"/>
                </a:solidFill>
                <a:latin typeface="Source Han Sans SC"/>
                <a:ea typeface="Source Han Sans SC"/>
              </a:rPr>
              <a:t>给出的「标准答案」越标准，就越同质</a:t>
            </a:r>
            <a:r>
              <a:rPr sz="1250" b="0" i="0" dirty="0">
                <a:solidFill>
                  <a:srgbClr val="222A3A"/>
                </a:solidFill>
                <a:latin typeface="Source Han Sans SC"/>
                <a:ea typeface="Source Han Sans SC"/>
              </a:rPr>
              <a:t>。</a:t>
            </a:r>
          </a:p>
        </p:txBody>
      </p:sp>
      <p:sp>
        <p:nvSpPr>
          <p:cNvPr id="13" name="Rectangle 12"/>
          <p:cNvSpPr/>
          <p:nvPr/>
        </p:nvSpPr>
        <p:spPr>
          <a:xfrm>
            <a:off x="4338218" y="2468880"/>
            <a:ext cx="3515258" cy="3566160"/>
          </a:xfrm>
          <a:prstGeom prst="rect">
            <a:avLst/>
          </a:prstGeom>
          <a:solidFill>
            <a:srgbClr val="FFFFFF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14" name="Rectangle 13"/>
          <p:cNvSpPr/>
          <p:nvPr/>
        </p:nvSpPr>
        <p:spPr>
          <a:xfrm>
            <a:off x="4338218" y="2468880"/>
            <a:ext cx="3515258" cy="594360"/>
          </a:xfrm>
          <a:prstGeom prst="rect">
            <a:avLst/>
          </a:prstGeom>
          <a:solidFill>
            <a:srgbClr val="1F2A44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15" name="TextBox 14"/>
          <p:cNvSpPr txBox="1"/>
          <p:nvPr/>
        </p:nvSpPr>
        <p:spPr>
          <a:xfrm>
            <a:off x="4612538" y="2468880"/>
            <a:ext cx="914400" cy="594360"/>
          </a:xfrm>
          <a:prstGeom prst="rect">
            <a:avLst/>
          </a:prstGeom>
          <a:noFill/>
          <a:effectLst/>
        </p:spPr>
        <p:txBody>
          <a:bodyPr wrap="square" lIns="0" tIns="0" rIns="0" bIns="0" anchor="ctr">
            <a:spAutoFit/>
          </a:bodyPr>
          <a:lstStyle/>
          <a:p>
            <a:pPr algn="l">
              <a:lnSpc>
                <a:spcPct val="120000"/>
              </a:lnSpc>
            </a:pPr>
            <a:r>
              <a:rPr sz="1400" b="1" i="0" spc="4">
                <a:solidFill>
                  <a:srgbClr val="F2C94B"/>
                </a:solidFill>
                <a:latin typeface="Source Han Sans SC"/>
                <a:ea typeface="Source Han Sans SC"/>
              </a:rPr>
              <a:t>L2</a:t>
            </a:r>
          </a:p>
        </p:txBody>
      </p:sp>
      <p:sp>
        <p:nvSpPr>
          <p:cNvPr id="16" name="TextBox 15"/>
          <p:cNvSpPr txBox="1"/>
          <p:nvPr/>
        </p:nvSpPr>
        <p:spPr>
          <a:xfrm>
            <a:off x="5344058" y="2468880"/>
            <a:ext cx="2235098" cy="594360"/>
          </a:xfrm>
          <a:prstGeom prst="rect">
            <a:avLst/>
          </a:prstGeom>
          <a:noFill/>
          <a:effectLst/>
        </p:spPr>
        <p:txBody>
          <a:bodyPr wrap="square" lIns="0" tIns="0" rIns="0" bIns="0" anchor="ctr">
            <a:spAutoFit/>
          </a:bodyPr>
          <a:lstStyle/>
          <a:p>
            <a:pPr algn="r">
              <a:lnSpc>
                <a:spcPct val="120000"/>
              </a:lnSpc>
            </a:pPr>
            <a:r>
              <a:rPr sz="1600" b="1" i="0" spc="2">
                <a:solidFill>
                  <a:srgbClr val="FFFFFF"/>
                </a:solidFill>
                <a:latin typeface="Source Han Serif SC"/>
                <a:ea typeface="Source Han Serif SC"/>
              </a:rPr>
              <a:t>教学层</a:t>
            </a:r>
          </a:p>
        </p:txBody>
      </p:sp>
      <p:sp>
        <p:nvSpPr>
          <p:cNvPr id="17" name="TextBox 16"/>
          <p:cNvSpPr txBox="1"/>
          <p:nvPr/>
        </p:nvSpPr>
        <p:spPr>
          <a:xfrm>
            <a:off x="4612538" y="3337560"/>
            <a:ext cx="2966618" cy="457200"/>
          </a:xfrm>
          <a:prstGeom prst="rect">
            <a:avLst/>
          </a:prstGeom>
          <a:noFill/>
          <a:effectLst/>
        </p:spPr>
        <p:txBody>
          <a:bodyPr wrap="square" lIns="0" tIns="0" rIns="0" bIns="0" anchor="t">
            <a:spAutoFit/>
          </a:bodyPr>
          <a:lstStyle/>
          <a:p>
            <a:pPr algn="l">
              <a:lnSpc>
                <a:spcPct val="120000"/>
              </a:lnSpc>
            </a:pPr>
            <a:r>
              <a:rPr sz="1500" b="1" i="0" spc="1">
                <a:solidFill>
                  <a:srgbClr val="E06A5C"/>
                </a:solidFill>
                <a:latin typeface="Source Han Serif SC"/>
                <a:ea typeface="Source Han Serif SC"/>
              </a:rPr>
              <a:t>使用方式决定结果</a:t>
            </a:r>
          </a:p>
        </p:txBody>
      </p:sp>
      <p:sp>
        <p:nvSpPr>
          <p:cNvPr id="18" name="Rectangle 17"/>
          <p:cNvSpPr/>
          <p:nvPr/>
        </p:nvSpPr>
        <p:spPr>
          <a:xfrm>
            <a:off x="4612538" y="3840480"/>
            <a:ext cx="548640" cy="22860"/>
          </a:xfrm>
          <a:prstGeom prst="rect">
            <a:avLst/>
          </a:prstGeom>
          <a:solidFill>
            <a:srgbClr val="E06A5C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19" name="TextBox 18"/>
          <p:cNvSpPr txBox="1"/>
          <p:nvPr/>
        </p:nvSpPr>
        <p:spPr>
          <a:xfrm>
            <a:off x="4612538" y="4023360"/>
            <a:ext cx="2966618" cy="1737360"/>
          </a:xfrm>
          <a:prstGeom prst="rect">
            <a:avLst/>
          </a:prstGeom>
          <a:noFill/>
          <a:effectLst/>
        </p:spPr>
        <p:txBody>
          <a:bodyPr wrap="square" lIns="0" tIns="0" rIns="0" bIns="0" anchor="t">
            <a:spAutoFit/>
          </a:bodyPr>
          <a:lstStyle/>
          <a:p>
            <a:pPr algn="l">
              <a:lnSpc>
                <a:spcPct val="155000"/>
              </a:lnSpc>
            </a:pPr>
            <a:r>
              <a:rPr sz="1250" b="0" i="0" dirty="0" err="1">
                <a:solidFill>
                  <a:srgbClr val="222A3A"/>
                </a:solidFill>
                <a:latin typeface="Source Han Sans SC"/>
                <a:ea typeface="Source Han Sans SC"/>
              </a:rPr>
              <a:t>如果学生「先</a:t>
            </a:r>
            <a:r>
              <a:rPr sz="1250" b="0" i="0" dirty="0">
                <a:solidFill>
                  <a:srgbClr val="222A3A"/>
                </a:solidFill>
                <a:latin typeface="Source Han Sans SC"/>
                <a:ea typeface="Source Han Sans SC"/>
              </a:rPr>
              <a:t> AI </a:t>
            </a:r>
            <a:r>
              <a:rPr sz="1250" b="0" i="0" dirty="0" err="1">
                <a:solidFill>
                  <a:srgbClr val="222A3A"/>
                </a:solidFill>
                <a:latin typeface="Source Han Sans SC"/>
                <a:ea typeface="Source Han Sans SC"/>
              </a:rPr>
              <a:t>后自己</a:t>
            </a:r>
            <a:r>
              <a:rPr sz="1250" b="0" i="0" dirty="0">
                <a:solidFill>
                  <a:srgbClr val="222A3A"/>
                </a:solidFill>
                <a:latin typeface="Source Han Sans SC"/>
                <a:ea typeface="Source Han Sans SC"/>
              </a:rPr>
              <a:t>」，AI </a:t>
            </a:r>
            <a:r>
              <a:rPr sz="1250" b="0" i="0" dirty="0" err="1">
                <a:solidFill>
                  <a:srgbClr val="222A3A"/>
                </a:solidFill>
                <a:latin typeface="Source Han Sans SC"/>
                <a:ea typeface="Source Han Sans SC"/>
              </a:rPr>
              <a:t>就是拐杖；如果「先自己想再</a:t>
            </a:r>
            <a:r>
              <a:rPr sz="1250" b="0" i="0" dirty="0">
                <a:solidFill>
                  <a:srgbClr val="222A3A"/>
                </a:solidFill>
                <a:latin typeface="Source Han Sans SC"/>
                <a:ea typeface="Source Han Sans SC"/>
              </a:rPr>
              <a:t> AI </a:t>
            </a:r>
            <a:r>
              <a:rPr sz="1250" b="0" i="0" dirty="0" err="1">
                <a:solidFill>
                  <a:srgbClr val="222A3A"/>
                </a:solidFill>
                <a:latin typeface="Source Han Sans SC"/>
                <a:ea typeface="Source Han Sans SC"/>
              </a:rPr>
              <a:t>校验</a:t>
            </a:r>
            <a:r>
              <a:rPr sz="1250" b="0" i="0" dirty="0">
                <a:solidFill>
                  <a:srgbClr val="222A3A"/>
                </a:solidFill>
                <a:latin typeface="Source Han Sans SC"/>
                <a:ea typeface="Source Han Sans SC"/>
              </a:rPr>
              <a:t>」，AI </a:t>
            </a:r>
            <a:r>
              <a:rPr sz="1250" b="0" i="0" dirty="0" err="1">
                <a:solidFill>
                  <a:srgbClr val="222A3A"/>
                </a:solidFill>
                <a:latin typeface="Source Han Sans SC"/>
                <a:ea typeface="Source Han Sans SC"/>
              </a:rPr>
              <a:t>就是教练。延迟接触</a:t>
            </a:r>
            <a:r>
              <a:rPr sz="1250" b="0" i="0" dirty="0">
                <a:solidFill>
                  <a:srgbClr val="222A3A"/>
                </a:solidFill>
                <a:latin typeface="Source Han Sans SC"/>
                <a:ea typeface="Source Han Sans SC"/>
              </a:rPr>
              <a:t> AI </a:t>
            </a:r>
            <a:r>
              <a:rPr sz="1250" b="0" i="0" dirty="0" err="1">
                <a:solidFill>
                  <a:srgbClr val="222A3A"/>
                </a:solidFill>
                <a:latin typeface="Source Han Sans SC"/>
                <a:ea typeface="Source Han Sans SC"/>
              </a:rPr>
              <a:t>的实验组，创造力明显更高</a:t>
            </a:r>
            <a:r>
              <a:rPr sz="1250" b="0" i="0" dirty="0">
                <a:solidFill>
                  <a:srgbClr val="222A3A"/>
                </a:solidFill>
                <a:latin typeface="Source Han Sans SC"/>
                <a:ea typeface="Source Han Sans SC"/>
              </a:rPr>
              <a:t>。</a:t>
            </a:r>
          </a:p>
        </p:txBody>
      </p:sp>
      <p:sp>
        <p:nvSpPr>
          <p:cNvPr id="20" name="Rectangle 19"/>
          <p:cNvSpPr/>
          <p:nvPr/>
        </p:nvSpPr>
        <p:spPr>
          <a:xfrm>
            <a:off x="8127796" y="2468880"/>
            <a:ext cx="3515258" cy="3566160"/>
          </a:xfrm>
          <a:prstGeom prst="rect">
            <a:avLst/>
          </a:prstGeom>
          <a:solidFill>
            <a:srgbClr val="FFFFFF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21" name="Rectangle 20"/>
          <p:cNvSpPr/>
          <p:nvPr/>
        </p:nvSpPr>
        <p:spPr>
          <a:xfrm>
            <a:off x="8127796" y="2468880"/>
            <a:ext cx="3515258" cy="594360"/>
          </a:xfrm>
          <a:prstGeom prst="rect">
            <a:avLst/>
          </a:prstGeom>
          <a:solidFill>
            <a:srgbClr val="1F2A44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22" name="TextBox 21"/>
          <p:cNvSpPr txBox="1"/>
          <p:nvPr/>
        </p:nvSpPr>
        <p:spPr>
          <a:xfrm>
            <a:off x="8402116" y="2468880"/>
            <a:ext cx="914400" cy="594360"/>
          </a:xfrm>
          <a:prstGeom prst="rect">
            <a:avLst/>
          </a:prstGeom>
          <a:noFill/>
          <a:effectLst/>
        </p:spPr>
        <p:txBody>
          <a:bodyPr wrap="square" lIns="0" tIns="0" rIns="0" bIns="0" anchor="ctr">
            <a:spAutoFit/>
          </a:bodyPr>
          <a:lstStyle/>
          <a:p>
            <a:pPr algn="l">
              <a:lnSpc>
                <a:spcPct val="120000"/>
              </a:lnSpc>
            </a:pPr>
            <a:r>
              <a:rPr sz="1400" b="1" i="0" spc="4">
                <a:solidFill>
                  <a:srgbClr val="F2C94B"/>
                </a:solidFill>
                <a:latin typeface="Source Han Sans SC"/>
                <a:ea typeface="Source Han Sans SC"/>
              </a:rPr>
              <a:t>L3</a:t>
            </a:r>
          </a:p>
        </p:txBody>
      </p:sp>
      <p:sp>
        <p:nvSpPr>
          <p:cNvPr id="23" name="TextBox 22"/>
          <p:cNvSpPr txBox="1"/>
          <p:nvPr/>
        </p:nvSpPr>
        <p:spPr>
          <a:xfrm>
            <a:off x="9133636" y="2468880"/>
            <a:ext cx="2235098" cy="594360"/>
          </a:xfrm>
          <a:prstGeom prst="rect">
            <a:avLst/>
          </a:prstGeom>
          <a:noFill/>
          <a:effectLst/>
        </p:spPr>
        <p:txBody>
          <a:bodyPr wrap="square" lIns="0" tIns="0" rIns="0" bIns="0" anchor="ctr">
            <a:spAutoFit/>
          </a:bodyPr>
          <a:lstStyle/>
          <a:p>
            <a:pPr algn="r">
              <a:lnSpc>
                <a:spcPct val="120000"/>
              </a:lnSpc>
            </a:pPr>
            <a:r>
              <a:rPr sz="1600" b="1" i="0" spc="2">
                <a:solidFill>
                  <a:srgbClr val="FFFFFF"/>
                </a:solidFill>
                <a:latin typeface="Source Han Serif SC"/>
                <a:ea typeface="Source Han Serif SC"/>
              </a:rPr>
              <a:t>评价层</a:t>
            </a:r>
          </a:p>
        </p:txBody>
      </p:sp>
      <p:sp>
        <p:nvSpPr>
          <p:cNvPr id="24" name="TextBox 23"/>
          <p:cNvSpPr txBox="1"/>
          <p:nvPr/>
        </p:nvSpPr>
        <p:spPr>
          <a:xfrm>
            <a:off x="8402116" y="3337560"/>
            <a:ext cx="2966618" cy="457200"/>
          </a:xfrm>
          <a:prstGeom prst="rect">
            <a:avLst/>
          </a:prstGeom>
          <a:noFill/>
          <a:effectLst/>
        </p:spPr>
        <p:txBody>
          <a:bodyPr wrap="square" lIns="0" tIns="0" rIns="0" bIns="0" anchor="t">
            <a:spAutoFit/>
          </a:bodyPr>
          <a:lstStyle/>
          <a:p>
            <a:pPr algn="l">
              <a:lnSpc>
                <a:spcPct val="120000"/>
              </a:lnSpc>
            </a:pPr>
            <a:r>
              <a:rPr sz="1500" b="1" i="0" spc="1">
                <a:solidFill>
                  <a:srgbClr val="E06A5C"/>
                </a:solidFill>
                <a:latin typeface="Source Han Serif SC"/>
                <a:ea typeface="Source Han Serif SC"/>
              </a:rPr>
              <a:t>考核方式倒推行为</a:t>
            </a:r>
          </a:p>
        </p:txBody>
      </p:sp>
      <p:sp>
        <p:nvSpPr>
          <p:cNvPr id="25" name="Rectangle 24"/>
          <p:cNvSpPr/>
          <p:nvPr/>
        </p:nvSpPr>
        <p:spPr>
          <a:xfrm>
            <a:off x="8402116" y="3840480"/>
            <a:ext cx="548640" cy="22860"/>
          </a:xfrm>
          <a:prstGeom prst="rect">
            <a:avLst/>
          </a:prstGeom>
          <a:solidFill>
            <a:srgbClr val="E06A5C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26" name="TextBox 25"/>
          <p:cNvSpPr txBox="1"/>
          <p:nvPr/>
        </p:nvSpPr>
        <p:spPr>
          <a:xfrm>
            <a:off x="8402116" y="4023360"/>
            <a:ext cx="2966618" cy="1737360"/>
          </a:xfrm>
          <a:prstGeom prst="rect">
            <a:avLst/>
          </a:prstGeom>
          <a:noFill/>
          <a:effectLst/>
        </p:spPr>
        <p:txBody>
          <a:bodyPr wrap="square" lIns="0" tIns="0" rIns="0" bIns="0" anchor="t">
            <a:spAutoFit/>
          </a:bodyPr>
          <a:lstStyle/>
          <a:p>
            <a:pPr algn="l">
              <a:lnSpc>
                <a:spcPct val="155000"/>
              </a:lnSpc>
            </a:pPr>
            <a:r>
              <a:rPr sz="1250" b="0" i="0" dirty="0" err="1">
                <a:solidFill>
                  <a:srgbClr val="222A3A"/>
                </a:solidFill>
                <a:latin typeface="Source Han Sans SC"/>
                <a:ea typeface="Source Han Sans SC"/>
              </a:rPr>
              <a:t>只要仍以「标准答案」打分，AI</a:t>
            </a:r>
            <a:r>
              <a:rPr sz="1250" b="0" i="0" dirty="0">
                <a:solidFill>
                  <a:srgbClr val="222A3A"/>
                </a:solidFill>
                <a:latin typeface="Source Han Sans SC"/>
                <a:ea typeface="Source Han Sans SC"/>
              </a:rPr>
              <a:t> </a:t>
            </a:r>
            <a:r>
              <a:rPr sz="1250" b="0" i="0" dirty="0" err="1">
                <a:solidFill>
                  <a:srgbClr val="222A3A"/>
                </a:solidFill>
                <a:latin typeface="Source Han Sans SC"/>
                <a:ea typeface="Source Han Sans SC"/>
              </a:rPr>
              <a:t>就会被用来更快地匹配标准。考核不改</a:t>
            </a:r>
            <a:r>
              <a:rPr sz="1250" b="0" i="0" dirty="0">
                <a:solidFill>
                  <a:srgbClr val="222A3A"/>
                </a:solidFill>
                <a:latin typeface="Source Han Sans SC"/>
                <a:ea typeface="Source Han Sans SC"/>
              </a:rPr>
              <a:t>，「</a:t>
            </a:r>
            <a:r>
              <a:rPr sz="1250" b="0" i="0" dirty="0" err="1">
                <a:solidFill>
                  <a:srgbClr val="222A3A"/>
                </a:solidFill>
                <a:latin typeface="Source Han Sans SC"/>
                <a:ea typeface="Source Han Sans SC"/>
              </a:rPr>
              <a:t>一键化」就会一直是最优策略</a:t>
            </a:r>
            <a:r>
              <a:rPr sz="1250" b="0" i="0" dirty="0">
                <a:solidFill>
                  <a:srgbClr val="222A3A"/>
                </a:solidFill>
                <a:latin typeface="Source Han Sans SC"/>
                <a:ea typeface="Source Han Sans SC"/>
              </a:rPr>
              <a:t>。</a:t>
            </a:r>
          </a:p>
        </p:txBody>
      </p:sp>
      <p:sp>
        <p:nvSpPr>
          <p:cNvPr id="28" name="TextBox 27"/>
          <p:cNvSpPr txBox="1"/>
          <p:nvPr/>
        </p:nvSpPr>
        <p:spPr>
          <a:xfrm>
            <a:off x="10241280" y="6446520"/>
            <a:ext cx="1463040" cy="274320"/>
          </a:xfrm>
          <a:prstGeom prst="rect">
            <a:avLst/>
          </a:prstGeom>
          <a:noFill/>
          <a:effectLst/>
        </p:spPr>
        <p:txBody>
          <a:bodyPr wrap="square" lIns="0" tIns="0" rIns="0" bIns="0" anchor="t">
            <a:spAutoFit/>
          </a:bodyPr>
          <a:lstStyle/>
          <a:p>
            <a:pPr algn="r">
              <a:lnSpc>
                <a:spcPct val="120000"/>
              </a:lnSpc>
            </a:pPr>
            <a:r>
              <a:rPr sz="900" b="0" i="0">
                <a:solidFill>
                  <a:srgbClr val="555E73"/>
                </a:solidFill>
                <a:latin typeface="Source Han Sans SC"/>
                <a:ea typeface="Source Han Sans SC"/>
              </a:rPr>
              <a:t>07 / 08</a:t>
            </a:r>
          </a:p>
        </p:txBody>
      </p:sp>
    </p:spTree>
  </p:cSld>
  <p:clrMapOvr>
    <a:masterClrMapping/>
  </p:clrMapOvr>
</p:sld>
</file>

<file path=ppt/slides/slide6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Rectangle 1"/>
          <p:cNvSpPr/>
          <p:nvPr/>
        </p:nvSpPr>
        <p:spPr>
          <a:xfrm>
            <a:off x="0" y="0"/>
            <a:ext cx="12191695" cy="6858000"/>
          </a:xfrm>
          <a:prstGeom prst="rect">
            <a:avLst/>
          </a:prstGeom>
          <a:solidFill>
            <a:srgbClr val="FAF4EA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3" name="TextBox 2"/>
          <p:cNvSpPr txBox="1"/>
          <p:nvPr/>
        </p:nvSpPr>
        <p:spPr>
          <a:xfrm>
            <a:off x="548640" y="502920"/>
            <a:ext cx="5486400" cy="365760"/>
          </a:xfrm>
          <a:prstGeom prst="rect">
            <a:avLst/>
          </a:prstGeom>
          <a:noFill/>
          <a:effectLst/>
        </p:spPr>
        <p:txBody>
          <a:bodyPr wrap="square" lIns="0" tIns="0" rIns="0" bIns="0" anchor="t">
            <a:spAutoFit/>
          </a:bodyPr>
          <a:lstStyle/>
          <a:p>
            <a:pPr algn="l">
              <a:lnSpc>
                <a:spcPct val="120000"/>
              </a:lnSpc>
            </a:pPr>
            <a:r>
              <a:rPr sz="1100" b="1" i="0" spc="5">
                <a:solidFill>
                  <a:srgbClr val="E06A5C"/>
                </a:solidFill>
                <a:latin typeface="Source Han Sans SC"/>
                <a:ea typeface="Source Han Sans SC"/>
              </a:rPr>
              <a:t>05  /  行动清单</a:t>
            </a:r>
          </a:p>
        </p:txBody>
      </p:sp>
      <p:sp>
        <p:nvSpPr>
          <p:cNvPr id="4" name="TextBox 3"/>
          <p:cNvSpPr txBox="1"/>
          <p:nvPr/>
        </p:nvSpPr>
        <p:spPr>
          <a:xfrm>
            <a:off x="548640" y="914400"/>
            <a:ext cx="10972800" cy="514885"/>
          </a:xfrm>
          <a:prstGeom prst="rect">
            <a:avLst/>
          </a:prstGeom>
          <a:noFill/>
          <a:effectLst/>
        </p:spPr>
        <p:txBody>
          <a:bodyPr wrap="square" lIns="0" tIns="0" rIns="0" bIns="0" anchor="t">
            <a:spAutoFit/>
          </a:bodyPr>
          <a:lstStyle/>
          <a:p>
            <a:pPr algn="l">
              <a:lnSpc>
                <a:spcPct val="120000"/>
              </a:lnSpc>
            </a:pPr>
            <a:r>
              <a:rPr sz="3000" b="1" i="0" spc="2" dirty="0" err="1">
                <a:solidFill>
                  <a:srgbClr val="1F2A44"/>
                </a:solidFill>
                <a:latin typeface="Source Han Serif SC"/>
                <a:ea typeface="Source Han Serif SC"/>
              </a:rPr>
              <a:t>不让</a:t>
            </a:r>
            <a:r>
              <a:rPr sz="3000" b="1" i="0" spc="2" dirty="0">
                <a:solidFill>
                  <a:srgbClr val="1F2A44"/>
                </a:solidFill>
                <a:latin typeface="Source Han Serif SC"/>
                <a:ea typeface="Source Han Serif SC"/>
              </a:rPr>
              <a:t> AI </a:t>
            </a:r>
            <a:r>
              <a:rPr sz="3000" b="1" i="0" spc="2" dirty="0" err="1">
                <a:solidFill>
                  <a:srgbClr val="1F2A44"/>
                </a:solidFill>
                <a:latin typeface="Source Han Serif SC"/>
                <a:ea typeface="Source Han Serif SC"/>
              </a:rPr>
              <a:t>抹掉</a:t>
            </a:r>
            <a:r>
              <a:rPr sz="3000" b="1" i="0" spc="2" dirty="0">
                <a:solidFill>
                  <a:srgbClr val="1F2A44"/>
                </a:solidFill>
                <a:latin typeface="Source Han Serif SC"/>
                <a:ea typeface="Source Han Serif SC"/>
              </a:rPr>
              <a:t>「</a:t>
            </a:r>
            <a:r>
              <a:rPr lang="zh-CN" altLang="en-US" sz="3000" b="1" i="0" spc="2" dirty="0">
                <a:solidFill>
                  <a:srgbClr val="1F2A44"/>
                </a:solidFill>
                <a:latin typeface="Source Han Serif SC"/>
                <a:ea typeface="Source Han Serif SC"/>
              </a:rPr>
              <a:t>我</a:t>
            </a:r>
            <a:r>
              <a:rPr sz="3000" b="1" i="0" spc="2" dirty="0">
                <a:solidFill>
                  <a:srgbClr val="1F2A44"/>
                </a:solidFill>
                <a:latin typeface="Source Han Serif SC"/>
                <a:ea typeface="Source Han Serif SC"/>
              </a:rPr>
              <a:t>」：</a:t>
            </a:r>
            <a:r>
              <a:rPr lang="zh-CN" altLang="en-US" sz="3000" b="1" i="0" spc="2" dirty="0">
                <a:solidFill>
                  <a:srgbClr val="1F2A44"/>
                </a:solidFill>
                <a:latin typeface="Source Han Serif SC"/>
                <a:ea typeface="Source Han Serif SC"/>
              </a:rPr>
              <a:t>教育</a:t>
            </a:r>
            <a:r>
              <a:rPr sz="3000" b="1" i="0" spc="2" dirty="0" err="1">
                <a:solidFill>
                  <a:srgbClr val="1F2A44"/>
                </a:solidFill>
                <a:latin typeface="Source Han Serif SC"/>
                <a:ea typeface="Source Han Serif SC"/>
              </a:rPr>
              <a:t>三方的可执行清单</a:t>
            </a:r>
            <a:endParaRPr sz="3000" b="1" i="0" spc="2" dirty="0">
              <a:solidFill>
                <a:srgbClr val="1F2A44"/>
              </a:solidFill>
              <a:latin typeface="Source Han Serif SC"/>
              <a:ea typeface="Source Han Serif SC"/>
            </a:endParaRPr>
          </a:p>
        </p:txBody>
      </p:sp>
      <p:sp>
        <p:nvSpPr>
          <p:cNvPr id="6" name="Rectangle 5"/>
          <p:cNvSpPr/>
          <p:nvPr/>
        </p:nvSpPr>
        <p:spPr>
          <a:xfrm>
            <a:off x="548640" y="2468880"/>
            <a:ext cx="3515258" cy="640080"/>
          </a:xfrm>
          <a:prstGeom prst="rect">
            <a:avLst/>
          </a:prstGeom>
          <a:solidFill>
            <a:srgbClr val="E06A5C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7" name="TextBox 6"/>
          <p:cNvSpPr txBox="1"/>
          <p:nvPr/>
        </p:nvSpPr>
        <p:spPr>
          <a:xfrm>
            <a:off x="548640" y="2468880"/>
            <a:ext cx="3515258" cy="640080"/>
          </a:xfrm>
          <a:prstGeom prst="rect">
            <a:avLst/>
          </a:prstGeom>
          <a:noFill/>
          <a:effectLst/>
        </p:spPr>
        <p:txBody>
          <a:bodyPr wrap="square" lIns="0" tIns="0" rIns="0" bIns="0" anchor="ctr">
            <a:spAutoFit/>
          </a:bodyPr>
          <a:lstStyle/>
          <a:p>
            <a:pPr algn="ctr">
              <a:lnSpc>
                <a:spcPct val="120000"/>
              </a:lnSpc>
            </a:pPr>
            <a:r>
              <a:rPr sz="2200" b="1" i="0" spc="4">
                <a:solidFill>
                  <a:srgbClr val="FFFFFF"/>
                </a:solidFill>
                <a:latin typeface="Source Han Serif SC"/>
                <a:ea typeface="Source Han Serif SC"/>
              </a:rPr>
              <a:t>学生</a:t>
            </a:r>
          </a:p>
        </p:txBody>
      </p:sp>
      <p:sp>
        <p:nvSpPr>
          <p:cNvPr id="8" name="Rectangle 7"/>
          <p:cNvSpPr/>
          <p:nvPr/>
        </p:nvSpPr>
        <p:spPr>
          <a:xfrm>
            <a:off x="548640" y="3108960"/>
            <a:ext cx="3515258" cy="2926080"/>
          </a:xfrm>
          <a:prstGeom prst="rect">
            <a:avLst/>
          </a:prstGeom>
          <a:solidFill>
            <a:srgbClr val="FFFFFF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9" name="TextBox 8"/>
          <p:cNvSpPr txBox="1"/>
          <p:nvPr/>
        </p:nvSpPr>
        <p:spPr>
          <a:xfrm>
            <a:off x="868680" y="3337560"/>
            <a:ext cx="2875178" cy="2560320"/>
          </a:xfrm>
          <a:prstGeom prst="rect">
            <a:avLst/>
          </a:prstGeom>
          <a:noFill/>
          <a:effectLst/>
        </p:spPr>
        <p:txBody>
          <a:bodyPr wrap="square" lIns="0" tIns="0" rIns="0" bIns="0">
            <a:spAutoFit/>
          </a:bodyPr>
          <a:lstStyle/>
          <a:p>
            <a:pPr>
              <a:lnSpc>
                <a:spcPct val="150000"/>
              </a:lnSpc>
              <a:spcAft>
                <a:spcPts val="400"/>
              </a:spcAft>
            </a:pPr>
            <a:r>
              <a:rPr sz="1300" b="1" dirty="0">
                <a:solidFill>
                  <a:srgbClr val="E06A5C"/>
                </a:solidFill>
                <a:latin typeface="Source Han Sans SC"/>
              </a:rPr>
              <a:t>▎  </a:t>
            </a:r>
            <a:r>
              <a:rPr sz="1300" dirty="0" err="1">
                <a:solidFill>
                  <a:srgbClr val="222A3A"/>
                </a:solidFill>
                <a:latin typeface="Source Han Sans SC"/>
                <a:ea typeface="Source Han Sans SC"/>
              </a:rPr>
              <a:t>先写</a:t>
            </a:r>
            <a:r>
              <a:rPr sz="1300" dirty="0">
                <a:solidFill>
                  <a:srgbClr val="222A3A"/>
                </a:solidFill>
                <a:latin typeface="Source Han Sans SC"/>
                <a:ea typeface="Source Han Sans SC"/>
              </a:rPr>
              <a:t> 10 </a:t>
            </a:r>
            <a:r>
              <a:rPr sz="1300" dirty="0" err="1">
                <a:solidFill>
                  <a:srgbClr val="222A3A"/>
                </a:solidFill>
                <a:latin typeface="Source Han Sans SC"/>
                <a:ea typeface="Source Han Sans SC"/>
              </a:rPr>
              <a:t>分钟，再打开</a:t>
            </a:r>
            <a:r>
              <a:rPr sz="1300" dirty="0">
                <a:solidFill>
                  <a:srgbClr val="222A3A"/>
                </a:solidFill>
                <a:latin typeface="Source Han Sans SC"/>
                <a:ea typeface="Source Han Sans SC"/>
              </a:rPr>
              <a:t> AI</a:t>
            </a:r>
          </a:p>
          <a:p>
            <a:pPr>
              <a:lnSpc>
                <a:spcPct val="150000"/>
              </a:lnSpc>
              <a:spcAft>
                <a:spcPts val="400"/>
              </a:spcAft>
            </a:pPr>
            <a:r>
              <a:rPr sz="1300" b="1" dirty="0">
                <a:solidFill>
                  <a:srgbClr val="E06A5C"/>
                </a:solidFill>
                <a:latin typeface="Source Han Sans SC"/>
              </a:rPr>
              <a:t>▎  </a:t>
            </a:r>
            <a:r>
              <a:rPr sz="1300" dirty="0" err="1">
                <a:solidFill>
                  <a:srgbClr val="222A3A"/>
                </a:solidFill>
                <a:latin typeface="Source Han Sans SC"/>
                <a:ea typeface="Source Han Sans SC"/>
              </a:rPr>
              <a:t>每周保留一份「完全不用</a:t>
            </a:r>
            <a:r>
              <a:rPr sz="1300" dirty="0">
                <a:solidFill>
                  <a:srgbClr val="222A3A"/>
                </a:solidFill>
                <a:latin typeface="Source Han Sans SC"/>
                <a:ea typeface="Source Han Sans SC"/>
              </a:rPr>
              <a:t> </a:t>
            </a:r>
            <a:r>
              <a:rPr sz="1300" dirty="0" err="1">
                <a:solidFill>
                  <a:srgbClr val="222A3A"/>
                </a:solidFill>
                <a:latin typeface="Source Han Sans SC"/>
                <a:ea typeface="Source Han Sans SC"/>
              </a:rPr>
              <a:t>AI」的笔记</a:t>
            </a:r>
            <a:endParaRPr sz="1300" dirty="0">
              <a:solidFill>
                <a:srgbClr val="222A3A"/>
              </a:solidFill>
              <a:latin typeface="Source Han Sans SC"/>
              <a:ea typeface="Source Han Sans SC"/>
            </a:endParaRPr>
          </a:p>
          <a:p>
            <a:pPr>
              <a:lnSpc>
                <a:spcPct val="150000"/>
              </a:lnSpc>
              <a:spcAft>
                <a:spcPts val="400"/>
              </a:spcAft>
            </a:pPr>
            <a:r>
              <a:rPr sz="1300" b="1" dirty="0">
                <a:solidFill>
                  <a:srgbClr val="E06A5C"/>
                </a:solidFill>
                <a:latin typeface="Source Han Sans SC"/>
              </a:rPr>
              <a:t>▎  </a:t>
            </a:r>
            <a:r>
              <a:rPr sz="1300" dirty="0">
                <a:solidFill>
                  <a:srgbClr val="222A3A"/>
                </a:solidFill>
                <a:latin typeface="Source Han Sans SC"/>
                <a:ea typeface="Source Han Sans SC"/>
              </a:rPr>
              <a:t>用 AI </a:t>
            </a:r>
            <a:r>
              <a:rPr sz="1300" dirty="0" err="1">
                <a:solidFill>
                  <a:srgbClr val="222A3A"/>
                </a:solidFill>
                <a:latin typeface="Source Han Sans SC"/>
                <a:ea typeface="Source Han Sans SC"/>
              </a:rPr>
              <a:t>生成反方观点，主动和自己辩论</a:t>
            </a:r>
            <a:endParaRPr sz="1300" dirty="0">
              <a:solidFill>
                <a:srgbClr val="222A3A"/>
              </a:solidFill>
              <a:latin typeface="Source Han Sans SC"/>
              <a:ea typeface="Source Han Sans SC"/>
            </a:endParaRPr>
          </a:p>
          <a:p>
            <a:pPr>
              <a:lnSpc>
                <a:spcPct val="150000"/>
              </a:lnSpc>
              <a:spcAft>
                <a:spcPts val="400"/>
              </a:spcAft>
            </a:pPr>
            <a:r>
              <a:rPr sz="1300" b="1" dirty="0">
                <a:solidFill>
                  <a:srgbClr val="E06A5C"/>
                </a:solidFill>
                <a:latin typeface="Source Han Sans SC"/>
              </a:rPr>
              <a:t>▎  </a:t>
            </a:r>
            <a:r>
              <a:rPr sz="1300" dirty="0">
                <a:solidFill>
                  <a:srgbClr val="222A3A"/>
                </a:solidFill>
                <a:latin typeface="Source Han Sans SC"/>
                <a:ea typeface="Source Han Sans SC"/>
              </a:rPr>
              <a:t>把 AI </a:t>
            </a:r>
            <a:r>
              <a:rPr sz="1300" dirty="0" err="1">
                <a:solidFill>
                  <a:srgbClr val="222A3A"/>
                </a:solidFill>
                <a:latin typeface="Source Han Sans SC"/>
                <a:ea typeface="Source Han Sans SC"/>
              </a:rPr>
              <a:t>当镜子，不当答案</a:t>
            </a:r>
            <a:endParaRPr sz="1300" dirty="0">
              <a:solidFill>
                <a:srgbClr val="222A3A"/>
              </a:solidFill>
              <a:latin typeface="Source Han Sans SC"/>
              <a:ea typeface="Source Han Sans SC"/>
            </a:endParaRPr>
          </a:p>
        </p:txBody>
      </p:sp>
      <p:sp>
        <p:nvSpPr>
          <p:cNvPr id="10" name="Rectangle 9"/>
          <p:cNvSpPr/>
          <p:nvPr/>
        </p:nvSpPr>
        <p:spPr>
          <a:xfrm>
            <a:off x="4338218" y="2468880"/>
            <a:ext cx="3515258" cy="640080"/>
          </a:xfrm>
          <a:prstGeom prst="rect">
            <a:avLst/>
          </a:prstGeom>
          <a:solidFill>
            <a:srgbClr val="1F2A44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11" name="TextBox 10"/>
          <p:cNvSpPr txBox="1"/>
          <p:nvPr/>
        </p:nvSpPr>
        <p:spPr>
          <a:xfrm>
            <a:off x="4338218" y="2468880"/>
            <a:ext cx="3515258" cy="640080"/>
          </a:xfrm>
          <a:prstGeom prst="rect">
            <a:avLst/>
          </a:prstGeom>
          <a:noFill/>
          <a:effectLst/>
        </p:spPr>
        <p:txBody>
          <a:bodyPr wrap="square" lIns="0" tIns="0" rIns="0" bIns="0" anchor="ctr">
            <a:spAutoFit/>
          </a:bodyPr>
          <a:lstStyle/>
          <a:p>
            <a:pPr algn="ctr">
              <a:lnSpc>
                <a:spcPct val="120000"/>
              </a:lnSpc>
            </a:pPr>
            <a:r>
              <a:rPr sz="2200" b="1" i="0" spc="4">
                <a:solidFill>
                  <a:srgbClr val="FFFFFF"/>
                </a:solidFill>
                <a:latin typeface="Source Han Serif SC"/>
                <a:ea typeface="Source Han Serif SC"/>
              </a:rPr>
              <a:t>教师</a:t>
            </a:r>
          </a:p>
        </p:txBody>
      </p:sp>
      <p:sp>
        <p:nvSpPr>
          <p:cNvPr id="12" name="Rectangle 11"/>
          <p:cNvSpPr/>
          <p:nvPr/>
        </p:nvSpPr>
        <p:spPr>
          <a:xfrm>
            <a:off x="4338218" y="3108960"/>
            <a:ext cx="3515258" cy="2926080"/>
          </a:xfrm>
          <a:prstGeom prst="rect">
            <a:avLst/>
          </a:prstGeom>
          <a:solidFill>
            <a:srgbClr val="FFFFFF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13" name="TextBox 12"/>
          <p:cNvSpPr txBox="1"/>
          <p:nvPr/>
        </p:nvSpPr>
        <p:spPr>
          <a:xfrm>
            <a:off x="4658258" y="3337560"/>
            <a:ext cx="2875178" cy="2560320"/>
          </a:xfrm>
          <a:prstGeom prst="rect">
            <a:avLst/>
          </a:prstGeom>
          <a:noFill/>
          <a:effectLst/>
        </p:spPr>
        <p:txBody>
          <a:bodyPr wrap="square" lIns="0" tIns="0" rIns="0" bIns="0">
            <a:spAutoFit/>
          </a:bodyPr>
          <a:lstStyle/>
          <a:p>
            <a:pPr>
              <a:lnSpc>
                <a:spcPct val="150000"/>
              </a:lnSpc>
              <a:spcAft>
                <a:spcPts val="400"/>
              </a:spcAft>
            </a:pPr>
            <a:r>
              <a:rPr sz="1300" b="1" dirty="0">
                <a:solidFill>
                  <a:srgbClr val="E06A5C"/>
                </a:solidFill>
                <a:latin typeface="Source Han Sans SC"/>
              </a:rPr>
              <a:t>▎  </a:t>
            </a:r>
            <a:r>
              <a:rPr sz="1300" dirty="0" err="1">
                <a:solidFill>
                  <a:srgbClr val="222A3A"/>
                </a:solidFill>
                <a:latin typeface="Source Han Sans SC"/>
                <a:ea typeface="Source Han Sans SC"/>
              </a:rPr>
              <a:t>课堂内完成口头表达与即兴写作</a:t>
            </a:r>
            <a:endParaRPr sz="1300" dirty="0">
              <a:solidFill>
                <a:srgbClr val="222A3A"/>
              </a:solidFill>
              <a:latin typeface="Source Han Sans SC"/>
              <a:ea typeface="Source Han Sans SC"/>
            </a:endParaRPr>
          </a:p>
          <a:p>
            <a:pPr>
              <a:lnSpc>
                <a:spcPct val="150000"/>
              </a:lnSpc>
              <a:spcAft>
                <a:spcPts val="400"/>
              </a:spcAft>
            </a:pPr>
            <a:r>
              <a:rPr sz="1300" b="1" dirty="0">
                <a:solidFill>
                  <a:srgbClr val="E06A5C"/>
                </a:solidFill>
                <a:latin typeface="Source Han Sans SC"/>
              </a:rPr>
              <a:t>▎  </a:t>
            </a:r>
            <a:r>
              <a:rPr sz="1300" dirty="0" err="1">
                <a:solidFill>
                  <a:srgbClr val="222A3A"/>
                </a:solidFill>
                <a:latin typeface="Source Han Sans SC"/>
                <a:ea typeface="Source Han Sans SC"/>
              </a:rPr>
              <a:t>布置「过程可见」的作业：草稿、修改、理由</a:t>
            </a:r>
            <a:endParaRPr sz="1300" dirty="0">
              <a:solidFill>
                <a:srgbClr val="222A3A"/>
              </a:solidFill>
              <a:latin typeface="Source Han Sans SC"/>
              <a:ea typeface="Source Han Sans SC"/>
            </a:endParaRPr>
          </a:p>
          <a:p>
            <a:pPr>
              <a:lnSpc>
                <a:spcPct val="150000"/>
              </a:lnSpc>
              <a:spcAft>
                <a:spcPts val="400"/>
              </a:spcAft>
            </a:pPr>
            <a:r>
              <a:rPr sz="1300" b="1" dirty="0">
                <a:solidFill>
                  <a:srgbClr val="E06A5C"/>
                </a:solidFill>
                <a:latin typeface="Source Han Sans SC"/>
              </a:rPr>
              <a:t>▎  </a:t>
            </a:r>
            <a:r>
              <a:rPr sz="1300" dirty="0" err="1">
                <a:solidFill>
                  <a:srgbClr val="222A3A"/>
                </a:solidFill>
                <a:latin typeface="Source Han Sans SC"/>
                <a:ea typeface="Source Han Sans SC"/>
              </a:rPr>
              <a:t>考核中加入「个性化加分」项</a:t>
            </a:r>
            <a:endParaRPr sz="1300" dirty="0">
              <a:solidFill>
                <a:srgbClr val="222A3A"/>
              </a:solidFill>
              <a:latin typeface="Source Han Sans SC"/>
              <a:ea typeface="Source Han Sans SC"/>
            </a:endParaRPr>
          </a:p>
          <a:p>
            <a:pPr>
              <a:lnSpc>
                <a:spcPct val="150000"/>
              </a:lnSpc>
              <a:spcAft>
                <a:spcPts val="400"/>
              </a:spcAft>
            </a:pPr>
            <a:r>
              <a:rPr sz="1300" b="1" dirty="0">
                <a:solidFill>
                  <a:srgbClr val="E06A5C"/>
                </a:solidFill>
                <a:latin typeface="Source Han Sans SC"/>
              </a:rPr>
              <a:t>▎  </a:t>
            </a:r>
            <a:r>
              <a:rPr sz="1300" dirty="0" err="1">
                <a:solidFill>
                  <a:srgbClr val="222A3A"/>
                </a:solidFill>
                <a:latin typeface="Source Han Sans SC"/>
                <a:ea typeface="Source Han Sans SC"/>
              </a:rPr>
              <a:t>示范</a:t>
            </a:r>
            <a:r>
              <a:rPr sz="1300" dirty="0">
                <a:solidFill>
                  <a:srgbClr val="222A3A"/>
                </a:solidFill>
                <a:latin typeface="Source Han Sans SC"/>
                <a:ea typeface="Source Han Sans SC"/>
              </a:rPr>
              <a:t> AI </a:t>
            </a:r>
            <a:r>
              <a:rPr sz="1300" dirty="0" err="1">
                <a:solidFill>
                  <a:srgbClr val="222A3A"/>
                </a:solidFill>
                <a:latin typeface="Source Han Sans SC"/>
                <a:ea typeface="Source Han Sans SC"/>
              </a:rPr>
              <a:t>的错误与局限，而非神化它</a:t>
            </a:r>
            <a:endParaRPr sz="1300" dirty="0">
              <a:solidFill>
                <a:srgbClr val="222A3A"/>
              </a:solidFill>
              <a:latin typeface="Source Han Sans SC"/>
              <a:ea typeface="Source Han Sans SC"/>
            </a:endParaRPr>
          </a:p>
        </p:txBody>
      </p:sp>
      <p:sp>
        <p:nvSpPr>
          <p:cNvPr id="14" name="Rectangle 13"/>
          <p:cNvSpPr/>
          <p:nvPr/>
        </p:nvSpPr>
        <p:spPr>
          <a:xfrm>
            <a:off x="8127796" y="2468880"/>
            <a:ext cx="3515258" cy="640080"/>
          </a:xfrm>
          <a:prstGeom prst="rect">
            <a:avLst/>
          </a:prstGeom>
          <a:solidFill>
            <a:srgbClr val="F2C94B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15" name="TextBox 14"/>
          <p:cNvSpPr txBox="1"/>
          <p:nvPr/>
        </p:nvSpPr>
        <p:spPr>
          <a:xfrm>
            <a:off x="8127796" y="2468880"/>
            <a:ext cx="3515258" cy="640080"/>
          </a:xfrm>
          <a:prstGeom prst="rect">
            <a:avLst/>
          </a:prstGeom>
          <a:noFill/>
          <a:effectLst/>
        </p:spPr>
        <p:txBody>
          <a:bodyPr wrap="square" lIns="0" tIns="0" rIns="0" bIns="0" anchor="ctr">
            <a:spAutoFit/>
          </a:bodyPr>
          <a:lstStyle/>
          <a:p>
            <a:pPr algn="ctr">
              <a:lnSpc>
                <a:spcPct val="120000"/>
              </a:lnSpc>
            </a:pPr>
            <a:r>
              <a:rPr sz="2200" b="1" i="0" spc="4">
                <a:solidFill>
                  <a:srgbClr val="FFFFFF"/>
                </a:solidFill>
                <a:latin typeface="Source Han Serif SC"/>
                <a:ea typeface="Source Han Serif SC"/>
              </a:rPr>
              <a:t>家长</a:t>
            </a:r>
          </a:p>
        </p:txBody>
      </p:sp>
      <p:sp>
        <p:nvSpPr>
          <p:cNvPr id="16" name="Rectangle 15"/>
          <p:cNvSpPr/>
          <p:nvPr/>
        </p:nvSpPr>
        <p:spPr>
          <a:xfrm>
            <a:off x="8127796" y="3108960"/>
            <a:ext cx="3515258" cy="2926080"/>
          </a:xfrm>
          <a:prstGeom prst="rect">
            <a:avLst/>
          </a:prstGeom>
          <a:solidFill>
            <a:srgbClr val="FFFFFF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17" name="TextBox 16"/>
          <p:cNvSpPr txBox="1"/>
          <p:nvPr/>
        </p:nvSpPr>
        <p:spPr>
          <a:xfrm>
            <a:off x="8447836" y="3337560"/>
            <a:ext cx="2875178" cy="2560320"/>
          </a:xfrm>
          <a:prstGeom prst="rect">
            <a:avLst/>
          </a:prstGeom>
          <a:noFill/>
          <a:effectLst/>
        </p:spPr>
        <p:txBody>
          <a:bodyPr wrap="square" lIns="0" tIns="0" rIns="0" bIns="0">
            <a:spAutoFit/>
          </a:bodyPr>
          <a:lstStyle/>
          <a:p>
            <a:pPr>
              <a:lnSpc>
                <a:spcPct val="150000"/>
              </a:lnSpc>
              <a:spcAft>
                <a:spcPts val="400"/>
              </a:spcAft>
            </a:pPr>
            <a:r>
              <a:rPr sz="1300" b="1" dirty="0">
                <a:solidFill>
                  <a:srgbClr val="E06A5C"/>
                </a:solidFill>
                <a:latin typeface="Source Han Sans SC"/>
              </a:rPr>
              <a:t>▎  </a:t>
            </a:r>
            <a:r>
              <a:rPr sz="1300" dirty="0" err="1">
                <a:solidFill>
                  <a:srgbClr val="222A3A"/>
                </a:solidFill>
                <a:latin typeface="Source Han Sans SC"/>
                <a:ea typeface="Source Han Sans SC"/>
              </a:rPr>
              <a:t>和孩子聊「你自己的想法」多于「对不对</a:t>
            </a:r>
            <a:r>
              <a:rPr sz="1300" dirty="0">
                <a:solidFill>
                  <a:srgbClr val="222A3A"/>
                </a:solidFill>
                <a:latin typeface="Source Han Sans SC"/>
                <a:ea typeface="Source Han Sans SC"/>
              </a:rPr>
              <a:t>」</a:t>
            </a:r>
          </a:p>
          <a:p>
            <a:pPr>
              <a:lnSpc>
                <a:spcPct val="150000"/>
              </a:lnSpc>
              <a:spcAft>
                <a:spcPts val="400"/>
              </a:spcAft>
            </a:pPr>
            <a:r>
              <a:rPr sz="1300" b="1" dirty="0">
                <a:solidFill>
                  <a:srgbClr val="E06A5C"/>
                </a:solidFill>
                <a:latin typeface="Source Han Sans SC"/>
              </a:rPr>
              <a:t>▎  </a:t>
            </a:r>
            <a:r>
              <a:rPr sz="1300" dirty="0" err="1">
                <a:solidFill>
                  <a:srgbClr val="222A3A"/>
                </a:solidFill>
                <a:latin typeface="Source Han Sans SC"/>
                <a:ea typeface="Source Han Sans SC"/>
              </a:rPr>
              <a:t>允许试错与「不完美」的答案存在</a:t>
            </a:r>
            <a:endParaRPr sz="1300" dirty="0">
              <a:solidFill>
                <a:srgbClr val="222A3A"/>
              </a:solidFill>
              <a:latin typeface="Source Han Sans SC"/>
              <a:ea typeface="Source Han Sans SC"/>
            </a:endParaRPr>
          </a:p>
          <a:p>
            <a:pPr>
              <a:lnSpc>
                <a:spcPct val="150000"/>
              </a:lnSpc>
              <a:spcAft>
                <a:spcPts val="400"/>
              </a:spcAft>
            </a:pPr>
            <a:r>
              <a:rPr sz="1300" b="1" dirty="0">
                <a:solidFill>
                  <a:srgbClr val="E06A5C"/>
                </a:solidFill>
                <a:latin typeface="Source Han Sans SC"/>
              </a:rPr>
              <a:t>▎  </a:t>
            </a:r>
            <a:r>
              <a:rPr sz="1300" dirty="0" err="1">
                <a:solidFill>
                  <a:srgbClr val="222A3A"/>
                </a:solidFill>
                <a:latin typeface="Source Han Sans SC"/>
                <a:ea typeface="Source Han Sans SC"/>
              </a:rPr>
              <a:t>关注孩子与</a:t>
            </a:r>
            <a:r>
              <a:rPr sz="1300" dirty="0">
                <a:solidFill>
                  <a:srgbClr val="222A3A"/>
                </a:solidFill>
                <a:latin typeface="Source Han Sans SC"/>
                <a:ea typeface="Source Han Sans SC"/>
              </a:rPr>
              <a:t> AI </a:t>
            </a:r>
            <a:r>
              <a:rPr sz="1300" dirty="0" err="1">
                <a:solidFill>
                  <a:srgbClr val="222A3A"/>
                </a:solidFill>
                <a:latin typeface="Source Han Sans SC"/>
                <a:ea typeface="Source Han Sans SC"/>
              </a:rPr>
              <a:t>互动的过程而非结果</a:t>
            </a:r>
            <a:endParaRPr sz="1300" dirty="0">
              <a:solidFill>
                <a:srgbClr val="222A3A"/>
              </a:solidFill>
              <a:latin typeface="Source Han Sans SC"/>
              <a:ea typeface="Source Han Sans SC"/>
            </a:endParaRPr>
          </a:p>
          <a:p>
            <a:pPr>
              <a:lnSpc>
                <a:spcPct val="150000"/>
              </a:lnSpc>
              <a:spcAft>
                <a:spcPts val="400"/>
              </a:spcAft>
            </a:pPr>
            <a:r>
              <a:rPr sz="1300" b="1" dirty="0">
                <a:solidFill>
                  <a:srgbClr val="E06A5C"/>
                </a:solidFill>
                <a:latin typeface="Source Han Sans SC"/>
              </a:rPr>
              <a:t>▎  </a:t>
            </a:r>
            <a:r>
              <a:rPr sz="1300" dirty="0">
                <a:solidFill>
                  <a:srgbClr val="222A3A"/>
                </a:solidFill>
                <a:latin typeface="Source Han Sans SC"/>
                <a:ea typeface="Source Han Sans SC"/>
              </a:rPr>
              <a:t>把 AI </a:t>
            </a:r>
            <a:r>
              <a:rPr sz="1300" dirty="0" err="1">
                <a:solidFill>
                  <a:srgbClr val="222A3A"/>
                </a:solidFill>
                <a:latin typeface="Source Han Sans SC"/>
                <a:ea typeface="Source Han Sans SC"/>
              </a:rPr>
              <a:t>作为家庭话题，而非洪水猛兽</a:t>
            </a:r>
            <a:endParaRPr sz="1300" dirty="0">
              <a:solidFill>
                <a:srgbClr val="222A3A"/>
              </a:solidFill>
              <a:latin typeface="Source Han Sans SC"/>
              <a:ea typeface="Source Han Sans SC"/>
            </a:endParaRPr>
          </a:p>
        </p:txBody>
      </p:sp>
      <p:sp>
        <p:nvSpPr>
          <p:cNvPr id="19" name="TextBox 18"/>
          <p:cNvSpPr txBox="1"/>
          <p:nvPr/>
        </p:nvSpPr>
        <p:spPr>
          <a:xfrm>
            <a:off x="10241280" y="6446520"/>
            <a:ext cx="1463040" cy="274320"/>
          </a:xfrm>
          <a:prstGeom prst="rect">
            <a:avLst/>
          </a:prstGeom>
          <a:noFill/>
          <a:effectLst/>
        </p:spPr>
        <p:txBody>
          <a:bodyPr wrap="square" lIns="0" tIns="0" rIns="0" bIns="0" anchor="t">
            <a:spAutoFit/>
          </a:bodyPr>
          <a:lstStyle/>
          <a:p>
            <a:pPr algn="r">
              <a:lnSpc>
                <a:spcPct val="120000"/>
              </a:lnSpc>
            </a:pPr>
            <a:r>
              <a:rPr sz="900" b="0" i="0">
                <a:solidFill>
                  <a:srgbClr val="555E73"/>
                </a:solidFill>
                <a:latin typeface="Source Han Sans SC"/>
                <a:ea typeface="Source Han Sans SC"/>
              </a:rPr>
              <a:t>08 / 08</a:t>
            </a:r>
          </a:p>
        </p:txBody>
      </p:sp>
    </p:spTree>
  </p:cSld>
  <p:clrMapOvr>
    <a:masterClrMapping/>
  </p:clrMapOvr>
</p:sld>
</file>

<file path=ppt/slides/slide7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Rectangle 1"/>
          <p:cNvSpPr/>
          <p:nvPr/>
        </p:nvSpPr>
        <p:spPr>
          <a:xfrm>
            <a:off x="0" y="0"/>
            <a:ext cx="12191695" cy="6858000"/>
          </a:xfrm>
          <a:prstGeom prst="rect">
            <a:avLst/>
          </a:prstGeom>
          <a:solidFill>
            <a:srgbClr val="1F2A44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3" name="TextBox 2"/>
          <p:cNvSpPr txBox="1"/>
          <p:nvPr/>
        </p:nvSpPr>
        <p:spPr>
          <a:xfrm>
            <a:off x="548640" y="365760"/>
            <a:ext cx="1828800" cy="1371600"/>
          </a:xfrm>
          <a:prstGeom prst="rect">
            <a:avLst/>
          </a:prstGeom>
          <a:noFill/>
          <a:effectLst/>
        </p:spPr>
        <p:txBody>
          <a:bodyPr wrap="square" lIns="0" tIns="0" rIns="0" bIns="0" anchor="t">
            <a:spAutoFit/>
          </a:bodyPr>
          <a:lstStyle/>
          <a:p>
            <a:pPr algn="l">
              <a:lnSpc>
                <a:spcPct val="120000"/>
              </a:lnSpc>
            </a:pPr>
            <a:r>
              <a:rPr sz="18000" b="1" i="0" spc="-2">
                <a:solidFill>
                  <a:srgbClr val="E06A5C"/>
                </a:solidFill>
                <a:latin typeface="Source Han Serif SC"/>
                <a:ea typeface="Source Han Serif SC"/>
              </a:rPr>
              <a:t>“</a:t>
            </a:r>
          </a:p>
        </p:txBody>
      </p:sp>
      <p:sp>
        <p:nvSpPr>
          <p:cNvPr id="4" name="TextBox 3"/>
          <p:cNvSpPr txBox="1"/>
          <p:nvPr/>
        </p:nvSpPr>
        <p:spPr>
          <a:xfrm>
            <a:off x="548640" y="1554480"/>
            <a:ext cx="5486400" cy="365760"/>
          </a:xfrm>
          <a:prstGeom prst="rect">
            <a:avLst/>
          </a:prstGeom>
          <a:noFill/>
          <a:effectLst/>
        </p:spPr>
        <p:txBody>
          <a:bodyPr wrap="square" lIns="0" tIns="0" rIns="0" bIns="0" anchor="t">
            <a:spAutoFit/>
          </a:bodyPr>
          <a:lstStyle/>
          <a:p>
            <a:pPr algn="l">
              <a:lnSpc>
                <a:spcPct val="120000"/>
              </a:lnSpc>
            </a:pPr>
            <a:r>
              <a:rPr sz="1100" b="1" i="0" spc="5">
                <a:solidFill>
                  <a:srgbClr val="F2C94B"/>
                </a:solidFill>
                <a:latin typeface="Source Han Sans SC"/>
                <a:ea typeface="Source Han Sans SC"/>
              </a:rPr>
              <a:t>FINAL  ·  THOUGHT</a:t>
            </a:r>
          </a:p>
        </p:txBody>
      </p:sp>
      <p:sp>
        <p:nvSpPr>
          <p:cNvPr id="5" name="TextBox 4"/>
          <p:cNvSpPr txBox="1"/>
          <p:nvPr/>
        </p:nvSpPr>
        <p:spPr>
          <a:xfrm>
            <a:off x="548640" y="1965960"/>
            <a:ext cx="10058400" cy="2194560"/>
          </a:xfrm>
          <a:prstGeom prst="rect">
            <a:avLst/>
          </a:prstGeom>
          <a:noFill/>
          <a:effectLst/>
        </p:spPr>
        <p:txBody>
          <a:bodyPr wrap="square" lIns="0" tIns="0" rIns="0" bIns="0" anchor="t">
            <a:spAutoFit/>
          </a:bodyPr>
          <a:lstStyle/>
          <a:p>
            <a:pPr algn="l">
              <a:lnSpc>
                <a:spcPct val="118000"/>
              </a:lnSpc>
            </a:pPr>
            <a:r>
              <a:rPr sz="4600" b="1" i="0" spc="3" dirty="0">
                <a:solidFill>
                  <a:srgbClr val="FFFFFF"/>
                </a:solidFill>
                <a:latin typeface="Source Han Serif SC"/>
                <a:ea typeface="Source Han Serif SC"/>
              </a:rPr>
              <a:t>AI </a:t>
            </a:r>
            <a:r>
              <a:rPr sz="4600" b="1" i="0" spc="3" dirty="0" err="1">
                <a:solidFill>
                  <a:srgbClr val="FFFFFF"/>
                </a:solidFill>
                <a:latin typeface="Source Han Serif SC"/>
                <a:ea typeface="Source Han Serif SC"/>
              </a:rPr>
              <a:t>不会让我们同质化</a:t>
            </a:r>
            <a:r>
              <a:rPr sz="4600" b="1" i="0" spc="3" dirty="0">
                <a:solidFill>
                  <a:srgbClr val="FFFFFF"/>
                </a:solidFill>
                <a:latin typeface="Source Han Serif SC"/>
                <a:ea typeface="Source Han Serif SC"/>
              </a:rPr>
              <a:t>，</a:t>
            </a:r>
          </a:p>
          <a:p>
            <a:pPr algn="l">
              <a:lnSpc>
                <a:spcPct val="118000"/>
              </a:lnSpc>
            </a:pPr>
            <a:r>
              <a:rPr sz="4600" b="1" i="0" spc="3" dirty="0" err="1">
                <a:solidFill>
                  <a:srgbClr val="FFFFFF"/>
                </a:solidFill>
                <a:latin typeface="Source Han Serif SC"/>
                <a:ea typeface="Source Han Serif SC"/>
              </a:rPr>
              <a:t>懒于思考才会</a:t>
            </a:r>
            <a:r>
              <a:rPr sz="4600" b="1" i="0" spc="3" dirty="0">
                <a:solidFill>
                  <a:srgbClr val="FFFFFF"/>
                </a:solidFill>
                <a:latin typeface="Source Han Serif SC"/>
                <a:ea typeface="Source Han Serif SC"/>
              </a:rPr>
              <a:t>。</a:t>
            </a:r>
          </a:p>
        </p:txBody>
      </p:sp>
      <p:sp>
        <p:nvSpPr>
          <p:cNvPr id="6" name="Rectangle 5"/>
          <p:cNvSpPr/>
          <p:nvPr/>
        </p:nvSpPr>
        <p:spPr>
          <a:xfrm>
            <a:off x="548640" y="4297680"/>
            <a:ext cx="548640" cy="45720"/>
          </a:xfrm>
          <a:prstGeom prst="rect">
            <a:avLst/>
          </a:prstGeom>
          <a:solidFill>
            <a:srgbClr val="E06A5C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7" name="TextBox 6"/>
          <p:cNvSpPr txBox="1"/>
          <p:nvPr/>
        </p:nvSpPr>
        <p:spPr>
          <a:xfrm>
            <a:off x="548640" y="4434840"/>
            <a:ext cx="10058400" cy="1578445"/>
          </a:xfrm>
          <a:prstGeom prst="rect">
            <a:avLst/>
          </a:prstGeom>
          <a:noFill/>
          <a:effectLst/>
        </p:spPr>
        <p:txBody>
          <a:bodyPr wrap="square" lIns="0" tIns="0" rIns="0" bIns="0" anchor="t">
            <a:spAutoFit/>
          </a:bodyPr>
          <a:lstStyle/>
          <a:p>
            <a:pPr lvl="0">
              <a:lnSpc>
                <a:spcPct val="200000"/>
              </a:lnSpc>
            </a:pPr>
            <a:r>
              <a:rPr lang="en-US" altLang="zh-CN" dirty="0">
                <a:solidFill>
                  <a:schemeClr val="bg1"/>
                </a:solidFill>
                <a:latin typeface="微软雅黑" panose="020B0503020204020204" pitchFamily="34" charset="-122"/>
                <a:ea typeface="微软雅黑" panose="020B0503020204020204" pitchFamily="34" charset="-122"/>
              </a:rPr>
              <a:t>· </a:t>
            </a:r>
            <a:r>
              <a:rPr lang="zh-CN" altLang="zh-CN" dirty="0">
                <a:solidFill>
                  <a:schemeClr val="bg1"/>
                </a:solidFill>
                <a:latin typeface="微软雅黑" panose="020B0503020204020204" pitchFamily="34" charset="-122"/>
                <a:ea typeface="微软雅黑" panose="020B0503020204020204" pitchFamily="34" charset="-122"/>
              </a:rPr>
              <a:t>AI 是放大器，不是抹平器——它放大你已有的思考习惯。</a:t>
            </a:r>
          </a:p>
          <a:p>
            <a:pPr lvl="0">
              <a:lnSpc>
                <a:spcPct val="200000"/>
              </a:lnSpc>
            </a:pPr>
            <a:r>
              <a:rPr lang="en-US" altLang="zh-CN" dirty="0">
                <a:solidFill>
                  <a:schemeClr val="bg1"/>
                </a:solidFill>
                <a:latin typeface="微软雅黑" panose="020B0503020204020204" pitchFamily="34" charset="-122"/>
                <a:ea typeface="微软雅黑" panose="020B0503020204020204" pitchFamily="34" charset="-122"/>
              </a:rPr>
              <a:t>· </a:t>
            </a:r>
            <a:r>
              <a:rPr lang="zh-CN" altLang="zh-CN" dirty="0">
                <a:solidFill>
                  <a:schemeClr val="bg1"/>
                </a:solidFill>
                <a:latin typeface="微软雅黑" panose="020B0503020204020204" pitchFamily="34" charset="-122"/>
                <a:ea typeface="微软雅黑" panose="020B0503020204020204" pitchFamily="34" charset="-122"/>
              </a:rPr>
              <a:t>同质化的根源在"第一步就用 AI"——抢走的是人脑的"创造性挣扎"。</a:t>
            </a:r>
          </a:p>
          <a:p>
            <a:pPr lvl="0">
              <a:lnSpc>
                <a:spcPct val="200000"/>
              </a:lnSpc>
            </a:pPr>
            <a:r>
              <a:rPr lang="en-US" altLang="zh-CN" dirty="0">
                <a:solidFill>
                  <a:schemeClr val="bg1"/>
                </a:solidFill>
                <a:latin typeface="微软雅黑" panose="020B0503020204020204" pitchFamily="34" charset="-122"/>
                <a:ea typeface="微软雅黑" panose="020B0503020204020204" pitchFamily="34" charset="-122"/>
              </a:rPr>
              <a:t>· </a:t>
            </a:r>
            <a:r>
              <a:rPr lang="zh-CN" altLang="zh-CN" dirty="0">
                <a:solidFill>
                  <a:schemeClr val="bg1"/>
                </a:solidFill>
                <a:latin typeface="微软雅黑" panose="020B0503020204020204" pitchFamily="34" charset="-122"/>
                <a:ea typeface="微软雅黑" panose="020B0503020204020204" pitchFamily="34" charset="-122"/>
              </a:rPr>
              <a:t>解法是把 AI 摆在第二步——先有"我"，再用 AI 校验、扩展、对话。</a:t>
            </a:r>
          </a:p>
        </p:txBody>
      </p:sp>
      <p:sp>
        <p:nvSpPr>
          <p:cNvPr id="11" name="TextBox 10"/>
          <p:cNvSpPr txBox="1"/>
          <p:nvPr/>
        </p:nvSpPr>
        <p:spPr>
          <a:xfrm>
            <a:off x="10515600" y="6172200"/>
            <a:ext cx="1463040" cy="365760"/>
          </a:xfrm>
          <a:prstGeom prst="rect">
            <a:avLst/>
          </a:prstGeom>
          <a:noFill/>
          <a:effectLst/>
        </p:spPr>
        <p:txBody>
          <a:bodyPr wrap="square" lIns="0" tIns="0" rIns="0" bIns="0" anchor="t">
            <a:spAutoFit/>
          </a:bodyPr>
          <a:lstStyle/>
          <a:p>
            <a:pPr algn="r">
              <a:lnSpc>
                <a:spcPct val="120000"/>
              </a:lnSpc>
            </a:pPr>
            <a:r>
              <a:rPr sz="1000" b="0" i="0" spc="2">
                <a:solidFill>
                  <a:srgbClr val="A8A088"/>
                </a:solidFill>
                <a:latin typeface="Source Han Sans SC"/>
                <a:ea typeface="Source Han Sans SC"/>
              </a:rPr>
              <a:t>08 / 08</a:t>
            </a:r>
          </a:p>
        </p:txBody>
      </p:sp>
    </p:spTree>
  </p:cSld>
  <p:clrMapOvr>
    <a:masterClrMapping/>
  </p:clrMapOvr>
</p:sld>
</file>

<file path=ppt/theme/theme1.xml><?xml version="1.0" encoding="utf-8"?>
<a:theme xmlns:a="http://schemas.openxmlformats.org/drawingml/2006/main" name="Office Theme">
  <a:themeElements>
    <a:clrScheme name="Office">
      <a:dk1>
        <a:sysClr val="windowText" lastClr="000000"/>
      </a:dk1>
      <a:lt1>
        <a:sysClr val="window" lastClr="FFFFFF"/>
      </a:lt1>
      <a:dk2>
        <a:srgbClr val="1F497D"/>
      </a:dk2>
      <a:lt2>
        <a:srgbClr val="EEECE1"/>
      </a:lt2>
      <a:accent1>
        <a:srgbClr val="4F81BD"/>
      </a:accent1>
      <a:accent2>
        <a:srgbClr val="C0504D"/>
      </a:accent2>
      <a:accent3>
        <a:srgbClr val="9BBB59"/>
      </a:accent3>
      <a:accent4>
        <a:srgbClr val="8064A2"/>
      </a:accent4>
      <a:accent5>
        <a:srgbClr val="4BACC6"/>
      </a:accent5>
      <a:accent6>
        <a:srgbClr val="F79646"/>
      </a:accent6>
      <a:hlink>
        <a:srgbClr val="0000FF"/>
      </a:hlink>
      <a:folHlink>
        <a:srgbClr val="800080"/>
      </a:folHlink>
    </a:clrScheme>
    <a:fontScheme name="Office">
      <a:majorFont>
        <a:latin typeface="Calibri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  <a:font script="Geor" typeface="Sylfaen"/>
      </a:majorFont>
      <a:minorFont>
        <a:latin typeface="Calibri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  <a:font script="Geor" typeface="Sylfaen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tint val="50000"/>
                <a:satMod val="300000"/>
              </a:schemeClr>
            </a:gs>
            <a:gs pos="35000">
              <a:schemeClr val="phClr">
                <a:tint val="37000"/>
                <a:satMod val="300000"/>
              </a:schemeClr>
            </a:gs>
            <a:gs pos="100000">
              <a:schemeClr val="phClr">
                <a:tint val="15000"/>
                <a:satMod val="350000"/>
              </a:schemeClr>
            </a:gs>
          </a:gsLst>
          <a:lin ang="16200000" scaled="1"/>
        </a:gradFill>
        <a:gradFill rotWithShape="1">
          <a:gsLst>
            <a:gs pos="0">
              <a:schemeClr val="phClr">
                <a:tint val="100000"/>
                <a:shade val="100000"/>
                <a:satMod val="130000"/>
              </a:schemeClr>
            </a:gs>
            <a:gs pos="100000">
              <a:schemeClr val="phClr">
                <a:tint val="50000"/>
                <a:shade val="100000"/>
                <a:satMod val="350000"/>
              </a:schemeClr>
            </a:gs>
          </a:gsLst>
          <a:lin ang="16200000" scaled="0"/>
        </a:gradFill>
      </a:fillStyleLst>
      <a:lnStyleLst>
        <a:ln w="9525" cap="flat" cmpd="sng" algn="ctr">
          <a:solidFill>
            <a:schemeClr val="phClr">
              <a:shade val="95000"/>
              <a:satMod val="105000"/>
            </a:schemeClr>
          </a:solidFill>
          <a:prstDash val="solid"/>
        </a:ln>
        <a:ln w="25400" cap="flat" cmpd="sng" algn="ctr">
          <a:solidFill>
            <a:schemeClr val="phClr"/>
          </a:solidFill>
          <a:prstDash val="solid"/>
        </a:ln>
        <a:ln w="38100" cap="flat" cmpd="sng" algn="ctr">
          <a:solidFill>
            <a:schemeClr val="phClr"/>
          </a:solidFill>
          <a:prstDash val="solid"/>
        </a:ln>
      </a:lnStyleLst>
      <a:effectStyleLst>
        <a:effectStyle>
          <a:effectLst>
            <a:outerShdw blurRad="40000" dist="20000" dir="5400000" rotWithShape="0">
              <a:srgbClr val="000000">
                <a:alpha val="38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  <a:scene3d>
            <a:camera prst="orthographicFront">
              <a:rot lat="0" lon="0" rev="0"/>
            </a:camera>
            <a:lightRig rig="threePt" dir="t">
              <a:rot lat="0" lon="0" rev="1200000"/>
            </a:lightRig>
          </a:scene3d>
          <a:sp3d>
            <a:bevelT w="63500" h="25400"/>
          </a:sp3d>
        </a:effectStyle>
      </a:effectStyleLst>
      <a:bgFillStyleLst>
        <a:solidFill>
          <a:schemeClr val="phClr"/>
        </a:solidFill>
        <a:gradFill rotWithShape="1">
          <a:gsLst>
            <a:gs pos="0">
              <a:schemeClr val="phClr">
                <a:tint val="40000"/>
                <a:satMod val="350000"/>
              </a:schemeClr>
            </a:gs>
            <a:gs pos="40000">
              <a:schemeClr val="phClr">
                <a:tint val="45000"/>
                <a:shade val="99000"/>
                <a:satMod val="350000"/>
              </a:schemeClr>
            </a:gs>
            <a:gs pos="100000">
              <a:schemeClr val="phClr">
                <a:shade val="20000"/>
                <a:satMod val="255000"/>
              </a:schemeClr>
            </a:gs>
          </a:gsLst>
          <a:path path="circle">
            <a:fillToRect l="50000" t="-80000" r="50000" b="180000"/>
          </a:path>
        </a:gradFill>
        <a:gradFill rotWithShape="1">
          <a:gsLst>
            <a:gs pos="0">
              <a:schemeClr val="phClr">
                <a:tint val="80000"/>
                <a:satMod val="300000"/>
              </a:schemeClr>
            </a:gs>
            <a:gs pos="100000">
              <a:schemeClr val="phClr">
                <a:shade val="30000"/>
                <a:satMod val="200000"/>
              </a:schemeClr>
            </a:gs>
          </a:gsLst>
          <a:path path="circle">
            <a:fillToRect l="50000" t="50000" r="50000" b="50000"/>
          </a:path>
        </a:gradFill>
      </a:bgFillStyleLst>
    </a:fmtScheme>
  </a:themeElements>
  <a:objectDefaults>
    <a:spDef>
      <a:spPr/>
      <a:bodyPr/>
      <a:lstStyle/>
      <a:style>
        <a:lnRef idx="1">
          <a:schemeClr val="accent1"/>
        </a:lnRef>
        <a:fillRef idx="3">
          <a:schemeClr val="accent1"/>
        </a:fillRef>
        <a:effectRef idx="2">
          <a:schemeClr val="accent1"/>
        </a:effectRef>
        <a:fontRef idx="minor">
          <a:schemeClr val="lt1"/>
        </a:fontRef>
      </a:style>
    </a:spDef>
    <a:lnDef>
      <a:spPr/>
      <a:bodyPr/>
      <a:lstStyle/>
      <a:style>
        <a:lnRef idx="2">
          <a:schemeClr val="accent1"/>
        </a:lnRef>
        <a:fillRef idx="0">
          <a:schemeClr val="accent1"/>
        </a:fillRef>
        <a:effectRef idx="1">
          <a:schemeClr val="accent1"/>
        </a:effectRef>
        <a:fontRef idx="minor">
          <a:schemeClr val="tx1"/>
        </a:fontRef>
      </a:style>
    </a:lnDef>
  </a:objectDefaults>
  <a:extraClrSchemeLst/>
</a:theme>
</file>

<file path=ppt/theme/theme2.xml><?xml version="1.0" encoding="utf-8"?>
<a:theme xmlns:a="http://schemas.openxmlformats.org/drawingml/2006/main" name="Office 主题​​">
  <a:themeElements>
    <a:clrScheme name="Office">
      <a:dk1>
        <a:sysClr val="windowText" lastClr="000000"/>
      </a:dk1>
      <a:lt1>
        <a:sysClr val="window" lastClr="FFFFFF"/>
      </a:lt1>
      <a:dk2>
        <a:srgbClr val="0E2841"/>
      </a:dk2>
      <a:lt2>
        <a:srgbClr val="E8E8E8"/>
      </a:lt2>
      <a:accent1>
        <a:srgbClr val="156082"/>
      </a:accent1>
      <a:accent2>
        <a:srgbClr val="E97132"/>
      </a:accent2>
      <a:accent3>
        <a:srgbClr val="196B24"/>
      </a:accent3>
      <a:accent4>
        <a:srgbClr val="0F9ED5"/>
      </a:accent4>
      <a:accent5>
        <a:srgbClr val="A02B93"/>
      </a:accent5>
      <a:accent6>
        <a:srgbClr val="4EA72E"/>
      </a:accent6>
      <a:hlink>
        <a:srgbClr val="467886"/>
      </a:hlink>
      <a:folHlink>
        <a:srgbClr val="96607D"/>
      </a:folHlink>
    </a:clrScheme>
    <a:fontScheme name="Office">
      <a:majorFont>
        <a:latin typeface="等线 Light" panose="02110004020202020204"/>
        <a:ea typeface=""/>
        <a:cs typeface=""/>
        <a:font script="Jpan" typeface="游ゴシック Light"/>
        <a:font script="Hang" typeface="맑은 고딕"/>
        <a:font script="Hans" typeface="等线 Light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  <a:font script="Geor" typeface="Sylfaen"/>
        <a:font script="Armn" typeface="Arial"/>
        <a:font script="Bugi" typeface="Leelawadee UI"/>
        <a:font script="Bopo" typeface="Microsoft JhengHei"/>
        <a:font script="Java" typeface="Javanese Text"/>
        <a:font script="Lisu" typeface="Segoe UI"/>
        <a:font script="Mymr" typeface="Myanmar Text"/>
        <a:font script="Nkoo" typeface="Ebrima"/>
        <a:font script="Olck" typeface="Nirmala UI"/>
        <a:font script="Osma" typeface="Ebrima"/>
        <a:font script="Phag" typeface="Phagspa"/>
        <a:font script="Syrn" typeface="Estrangelo Edessa"/>
        <a:font script="Syrj" typeface="Estrangelo Edessa"/>
        <a:font script="Syre" typeface="Estrangelo Edessa"/>
        <a:font script="Sora" typeface="Nirmala UI"/>
        <a:font script="Tale" typeface="Microsoft Tai Le"/>
        <a:font script="Talu" typeface="Microsoft New Tai Lue"/>
        <a:font script="Tfng" typeface="Ebrima"/>
      </a:majorFont>
      <a:minorFont>
        <a:latin typeface="等线" panose="02110004020202020204"/>
        <a:ea typeface=""/>
        <a:cs typeface=""/>
        <a:font script="Jpan" typeface="游ゴシック"/>
        <a:font script="Hang" typeface="맑은 고딕"/>
        <a:font script="Hans" typeface="等线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  <a:font script="Geor" typeface="Sylfaen"/>
        <a:font script="Armn" typeface="Arial"/>
        <a:font script="Bugi" typeface="Leelawadee UI"/>
        <a:font script="Bopo" typeface="Microsoft JhengHei"/>
        <a:font script="Java" typeface="Javanese Text"/>
        <a:font script="Lisu" typeface="Segoe UI"/>
        <a:font script="Mymr" typeface="Myanmar Text"/>
        <a:font script="Nkoo" typeface="Ebrima"/>
        <a:font script="Olck" typeface="Nirmala UI"/>
        <a:font script="Osma" typeface="Ebrima"/>
        <a:font script="Phag" typeface="Phagspa"/>
        <a:font script="Syrn" typeface="Estrangelo Edessa"/>
        <a:font script="Syrj" typeface="Estrangelo Edessa"/>
        <a:font script="Syre" typeface="Estrangelo Edessa"/>
        <a:font script="Sora" typeface="Nirmala UI"/>
        <a:font script="Tale" typeface="Microsoft Tai Le"/>
        <a:font script="Talu" typeface="Microsoft New Tai Lue"/>
        <a:font script="Tfng" typeface="Ebrima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lumMod val="110000"/>
                <a:satMod val="105000"/>
                <a:tint val="67000"/>
              </a:schemeClr>
            </a:gs>
            <a:gs pos="50000">
              <a:schemeClr val="phClr">
                <a:lumMod val="105000"/>
                <a:satMod val="103000"/>
                <a:tint val="73000"/>
              </a:schemeClr>
            </a:gs>
            <a:gs pos="100000">
              <a:schemeClr val="phClr">
                <a:lumMod val="105000"/>
                <a:satMod val="109000"/>
                <a:tint val="81000"/>
              </a:schemeClr>
            </a:gs>
          </a:gsLst>
          <a:lin ang="5400000" scaled="0"/>
        </a:gradFill>
        <a:gradFill rotWithShape="1">
          <a:gsLst>
            <a:gs pos="0">
              <a:schemeClr val="phClr">
                <a:satMod val="103000"/>
                <a:lumMod val="102000"/>
                <a:tint val="94000"/>
              </a:schemeClr>
            </a:gs>
            <a:gs pos="50000">
              <a:schemeClr val="phClr">
                <a:satMod val="110000"/>
                <a:lumMod val="100000"/>
                <a:shade val="100000"/>
              </a:schemeClr>
            </a:gs>
            <a:gs pos="100000">
              <a:schemeClr val="phClr">
                <a:lumMod val="99000"/>
                <a:satMod val="120000"/>
                <a:shade val="78000"/>
              </a:schemeClr>
            </a:gs>
          </a:gsLst>
          <a:lin ang="5400000" scaled="0"/>
        </a:gradFill>
      </a:fillStyleLst>
      <a:lnStyleLst>
        <a:ln w="12700" cap="flat" cmpd="sng" algn="ctr">
          <a:solidFill>
            <a:schemeClr val="phClr"/>
          </a:solidFill>
          <a:prstDash val="solid"/>
          <a:miter lim="800000"/>
        </a:ln>
        <a:ln w="19050" cap="flat" cmpd="sng" algn="ctr">
          <a:solidFill>
            <a:schemeClr val="phClr"/>
          </a:solidFill>
          <a:prstDash val="solid"/>
          <a:miter lim="800000"/>
        </a:ln>
        <a:ln w="25400" cap="flat" cmpd="sng" algn="ctr">
          <a:solidFill>
            <a:schemeClr val="phClr"/>
          </a:solidFill>
          <a:prstDash val="solid"/>
          <a:miter lim="800000"/>
        </a:ln>
      </a:lnStyleLst>
      <a:effectStyleLst>
        <a:effectStyle>
          <a:effectLst/>
        </a:effectStyle>
        <a:effectStyle>
          <a:effectLst/>
        </a:effectStyle>
        <a:effectStyle>
          <a:effectLst>
            <a:outerShdw blurRad="57150" dist="19050" dir="5400000" algn="ctr" rotWithShape="0">
              <a:srgbClr val="000000">
                <a:alpha val="63000"/>
              </a:srgbClr>
            </a:outerShdw>
          </a:effectLst>
        </a:effectStyle>
      </a:effectStyleLst>
      <a:bgFillStyleLst>
        <a:solidFill>
          <a:schemeClr val="phClr"/>
        </a:solidFill>
        <a:solidFill>
          <a:schemeClr val="phClr">
            <a:tint val="95000"/>
            <a:satMod val="170000"/>
          </a:schemeClr>
        </a:solidFill>
        <a:gradFill rotWithShape="1">
          <a:gsLst>
            <a:gs pos="0">
              <a:schemeClr val="phClr">
                <a:tint val="93000"/>
                <a:satMod val="150000"/>
                <a:shade val="98000"/>
                <a:lumMod val="102000"/>
              </a:schemeClr>
            </a:gs>
            <a:gs pos="50000">
              <a:schemeClr val="phClr">
                <a:tint val="98000"/>
                <a:satMod val="130000"/>
                <a:shade val="90000"/>
                <a:lumMod val="103000"/>
              </a:schemeClr>
            </a:gs>
            <a:gs pos="100000">
              <a:schemeClr val="phClr">
                <a:shade val="63000"/>
                <a:satMod val="120000"/>
              </a:schemeClr>
            </a:gs>
          </a:gsLst>
          <a:lin ang="5400000" scaled="0"/>
        </a:gradFill>
      </a:bgFillStyleLst>
    </a:fmtScheme>
  </a:themeElements>
  <a:objectDefaults>
    <a:lnDef>
      <a:spPr/>
      <a:bodyPr/>
      <a:lstStyle/>
      <a:style>
        <a:lnRef idx="2">
          <a:schemeClr val="accent1"/>
        </a:lnRef>
        <a:fillRef idx="0">
          <a:schemeClr val="accent1"/>
        </a:fillRef>
        <a:effectRef idx="1">
          <a:schemeClr val="accent1"/>
        </a:effectRef>
        <a:fontRef idx="minor">
          <a:schemeClr val="tx1"/>
        </a:fontRef>
      </a:style>
    </a:lnDef>
  </a:objectDefaults>
  <a:extraClrSchemeLst/>
  <a:extLst>
    <a:ext uri="{05A4C25C-085E-4340-85A3-A5531E510DB2}">
      <thm15:themeFamily xmlns:thm15="http://schemas.microsoft.com/office/thememl/2012/main" name="Office Theme" id="{2E142A2C-CD16-42D6-873A-C26D2A0506FA}" vid="{1BDDFF52-6CD6-40A5-AB3C-68EB2F1E4D0A}"/>
    </a:ext>
  </a:extLst>
</a:theme>
</file>

<file path=docProps/app.xml><?xml version="1.0" encoding="utf-8"?>
<Properties xmlns="http://schemas.openxmlformats.org/officeDocument/2006/extended-properties" xmlns:vt="http://schemas.openxmlformats.org/officeDocument/2006/docPropsVTypes">
  <TotalTime>919</TotalTime>
  <Words>707</Words>
  <Application>Microsoft Office PowerPoint</Application>
  <PresentationFormat>宽屏</PresentationFormat>
  <Paragraphs>110</Paragraphs>
  <Slides>7</Slides>
  <Notes>7</Notes>
  <HiddenSlides>0</HiddenSlides>
  <MMClips>0</MMClips>
  <ScaleCrop>false</ScaleCrop>
  <HeadingPairs>
    <vt:vector size="6" baseType="variant">
      <vt:variant>
        <vt:lpstr>已用的字体</vt:lpstr>
      </vt:variant>
      <vt:variant>
        <vt:i4>6</vt:i4>
      </vt:variant>
      <vt:variant>
        <vt:lpstr>主题</vt:lpstr>
      </vt:variant>
      <vt:variant>
        <vt:i4>1</vt:i4>
      </vt:variant>
      <vt:variant>
        <vt:lpstr>幻灯片标题</vt:lpstr>
      </vt:variant>
      <vt:variant>
        <vt:i4>7</vt:i4>
      </vt:variant>
    </vt:vector>
  </HeadingPairs>
  <TitlesOfParts>
    <vt:vector size="14" baseType="lpstr">
      <vt:lpstr>Source Han Sans SC</vt:lpstr>
      <vt:lpstr>Source Han Serif SC</vt:lpstr>
      <vt:lpstr>等线</vt:lpstr>
      <vt:lpstr>微软雅黑</vt:lpstr>
      <vt:lpstr>Arial</vt:lpstr>
      <vt:lpstr>Calibri</vt:lpstr>
      <vt:lpstr>Office Theme</vt:lpstr>
      <vt:lpstr>PowerPoint 演示文稿</vt:lpstr>
      <vt:lpstr>PowerPoint 演示文稿</vt:lpstr>
      <vt:lpstr>PowerPoint 演示文稿</vt:lpstr>
      <vt:lpstr>PowerPoint 演示文稿</vt:lpstr>
      <vt:lpstr>PowerPoint 演示文稿</vt:lpstr>
      <vt:lpstr>PowerPoint 演示文稿</vt:lpstr>
      <vt:lpstr>PowerPoint 演示文稿</vt:lpstr>
    </vt:vector>
  </TitlesOfParts>
  <Manager/>
  <Company/>
  <LinksUpToDate>false</LinksUpToDate>
  <SharedDoc>false</SharedDoc>
  <HyperlinkBase/>
  <HyperlinksChanged>false</HyperlinksChanged>
  <AppVersion>16.0000</AppVersion>
</Properties>
</file>

<file path=docProps/core.xml><?xml version="1.0" encoding="utf-8"?>
<cp:coreProperties xmlns:cp="http://schemas.openxmlformats.org/package/2006/metadata/core-properties" xmlns:dc="http://purl.org/dc/elements/1.1/" xmlns:dcterms="http://purl.org/dc/terms/" xmlns:dcmitype="http://purl.org/dc/dcmitype/" xmlns:xsi="http://www.w3.org/2001/XMLSchema-instance">
  <dc:title/>
  <dc:subject/>
  <dc:creator/>
  <cp:keywords/>
  <dc:description>generated using python-pptx</dc:description>
  <cp:lastModifiedBy>智丽 殷</cp:lastModifiedBy>
  <cp:revision>3</cp:revision>
  <dcterms:created xsi:type="dcterms:W3CDTF">2013-01-27T09:14:16Z</dcterms:created>
  <dcterms:modified xsi:type="dcterms:W3CDTF">2026-09-24T01:30:35Z</dcterms:modified>
  <cp:category/>
</cp:coreProperties>
</file>
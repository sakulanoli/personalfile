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能力表现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293A"/>
                    </a:solidFill>
                    <a:latin typeface="Georgia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数据分析</c:v>
                </c:pt>
                <c:pt idx="1">
                  <c:v>逻辑推理</c:v>
                </c:pt>
                <c:pt idx="2">
                  <c:v>数学建模</c:v>
                </c:pt>
                <c:pt idx="3">
                  <c:v>数学运算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66</c:v>
                </c:pt>
                <c:pt idx="2">
                  <c:v>78</c:v>
                </c:pt>
                <c:pt idx="3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67-4922-9CF7-8CD7A74073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93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58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大家好！今天介绍的是作业智能体——一个面向中学的 AI 作业生成与学情管理平台。一句话概括它的价值：让每一次作业设计有据可依，让每一个学生的思维被看见。平台包含四大核心模块：作业厨房、作业原料库、作业菜单、能力复盘，用 AI 引擎把老师从「设计、布置、发布、复盘」的全链路负担中解放出来。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行业痛点，用三个真实场景来说。第一，深夜组卷的老师：手动组卷动辄三小时以上，难度梯度、素养覆盖全凭个人经验；「四翼」考查要求与命题趋势资料分散难找，对齐全靠感觉。第二，只见对错的讲评：批改只能看到对错，看不到思维过程，讲评和分层教学缺乏过程性依据。第三，散落在电脑里的好题：好设计无法复用、协作与追溯，教师流动教研成果就流失。核心洞察是：中学作业的瓶颈不在布置得多，而在设计得准、思维看得见——断在设计源头，学情就永远说不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产品理念。中学作业需要的，不是再多一套题库。好作业的关键不是题量足够，而是四件事：第一，设计有据——素养、四翼、近五年命题画像自动写入生成约束；第二，思维可见——用苏格拉底式追问捕捉作答路径，看懂学生怎么想；第三，资产可沉淀——原料库版本化治理，好设计成为学校长期资产；第四，闭环自进化——复盘证据回流生成端，越用越懂这个班。这四个关键词，是后面所有模块设计的出发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进入第一个核心模块——作业厨房，平台的生成引擎。它把出题这件事标准化成五步：第一步选原料，勾选章节知识点，素养与四翼自动对齐；第二步看趋势，近五年命题画像写入生成约束；第三步请专家，专家思维策略化作设问与提示梯度；第四步写简报，支持语音输入；第五步生成任务单，难度结构自由配置，比如基础两道、中等两道、高阶一道。生成之前有四项质量门：课程锚点、能力证据、四翼约束、命题趋势。最关键的一点：教师主权。AI 只做设计助手，题干逐题可编辑，审核与发布权始终在老师手里。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模块组合：作业原料库和作业菜单。原料库是知识底座，包含四类原料——课程锚点、能力指标、命题趋势、任务生成简报，全部接入，每次生成都保留来源与版本。以高一数学函数应用为例，可追溯链是：课程边界、能力约束、生成策略、学生证据，四层都能回溯，彻底回应「AI 出题黑箱」的质疑。作业菜单负责统一资产管理：任务单双栏配套，左侧学生任务单是真实情境、递进任务链，右侧教师指导手册有命题思路、答案要点、延伸问题。管理动作完整：立即发布、定时发布、标签分类、收藏、打印预览、逐题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第四个模块：能力复盘，是形成闭环的关键。看示例班级：高一（3）班 32 位学生完成函数应用任务单。左边三个数字：28/32 提交整份任务单；人均被苏格拉底式追问 2.4 次——注意，追问不是提示答案，而是通过反问引导学生呈现思维过程；71% 的学生作答了高阶题。中间是班级能力表现：数学运算 82、数学建模 78、逻辑推理 66、数据分析 59，薄弱点是数据分析，数据解释与模型边界是共性卡点。右边是系统给出的下一轮优化建议：保留同一函数情境、增设中间追问、优先支持薄弱学生分层布置。带着建议回到作业厨房，生成下一份任务单——平台不是替老师打分，而是提供形成性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这一页说清 AI 到底用在哪。四类原料——课程锚点、能力指标、命题趋势、任务简报——进入 AI 生成引擎，五步约束、一次调用，同时产出两样东西：教师看到的双栏任务单草案，以及四道质量门的检测结果，通过才上架。AI 在产品里恪守三条边界：出题只出草案，难度结构可配、题干逐题可编辑，教师审核后才发布；复盘只给证据，能力表现、共性卡点与优化建议，不替教师下结论；守界不越界，名人专家仅作思维灵感，不模拟身份或原话，AI 输出不作为学生评价的唯一依据。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面向学校，安全与合规不是加分项，是入场券。六条承诺：第一，教师主权在握，AI 只做设计助手，审核与发布权始终归教师；第二，全程可追溯，每次生成保留锚点、指标与学生证据，教材课标更新可回溯；第三，内容安全兜底，生成内容过质量门检测，异常降级并提醒人工复核；第四，权限分级管理，教师只管理自己的任务单与班级数据；第五，AI 不做评价依据，输出仅作形成性参考，不作为评价、排名依据；第六，额度透明可控，用量分级预警、达限暂停，不产生无感超支。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六大核心卖点集中呈现。第一，教考同源合规：素养、四翼、命题趋势自动对齐，生成即贴合教考改革方向。第二，全程可追溯：每次生成都能回溯课程锚点、能力指标与学生证据，解决「AI 出题黑箱」质疑。第三，过程性学情：不只看对错，更看学生「怎么想」，这是传统作业平台完全没有的维度。第四，教师主权在握：AI 只当助手，最终决定权在老师，落地阻力小。第五，知识资产化：好设计沉淀在原料库，越用越厚，成为学校长期资产。第六，闭环自进化：复盘证据回流生成端，平台越用越懂这个班。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业智能体想做的事情很简单：让每一次作业，都有据可依。对老师，是省下每天数小时的组卷时间；对学生，是更贴合自己水平的情境任务单；对学校，是一套越用越准的教学数据资产。科技赋能教育，让好作业的设计不再依赖个人经验，而是一件可复用、可传承、可迭代的专业作品。接下来给大家进行系统演示，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17920" y="320040"/>
            <a:ext cx="2651760" cy="265176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863840" y="685800"/>
            <a:ext cx="1005840" cy="1005840"/>
          </a:xfrm>
          <a:prstGeom prst="ellipse">
            <a:avLst/>
          </a:prstGeom>
          <a:solidFill>
            <a:srgbClr val="6366F1">
              <a:alpha val="3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9728" y="4526280"/>
            <a:ext cx="438912" cy="438912"/>
          </a:xfrm>
          <a:prstGeom prst="ellipse">
            <a:avLst/>
          </a:prstGeom>
          <a:solidFill>
            <a:srgbClr val="8B5CF6">
              <a:alpha val="4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智慧校园 · AI 作业平台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0" y="457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产品介绍 · 2026 年 9 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7315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224942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kern="0" spc="1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 AI 作业生成与学情管理平台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57200" y="2816352"/>
            <a:ext cx="50292" cy="786384"/>
          </a:xfrm>
          <a:prstGeom prst="roundRect">
            <a:avLst>
              <a:gd name="adj" fmla="val 36364"/>
            </a:avLst>
          </a:prstGeom>
          <a:solidFill>
            <a:srgbClr val="A5B4FC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2816352"/>
            <a:ext cx="6858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让每一次作业设计，都有据可依</a:t>
            </a:r>
            <a:endParaRPr lang="en-US" sz="16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让每一个学生的思维，都被看见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457200" y="391363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91363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作业厨房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157984" y="391363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57984" y="391363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作业原料库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858768" y="391363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391363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作业菜单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559552" y="391363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59552" y="391363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能力复盘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引擎驱动 · 设计 — 布置 — 发布 — 复盘 全链路闭环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中学作业，卡在哪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三类真实的场景，几乎每所中学都在发生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26464"/>
            <a:ext cx="26517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54533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🕗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58368" y="199339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4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结束教学还要</a:t>
            </a:r>
            <a:r>
              <a:rPr lang="en-US" sz="1400" b="1" dirty="0" err="1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组卷的老师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304288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手动组卷动辄数小时，难度梯度与素养覆盖全凭个人经验，质量不稳定；「四翼」考查要求与命题趋势分散难寻，对齐全靠感觉。</a:t>
            </a:r>
            <a:endParaRPr lang="en-US" sz="960" dirty="0"/>
          </a:p>
        </p:txBody>
      </p:sp>
      <p:sp>
        <p:nvSpPr>
          <p:cNvPr id="10" name="Text 7"/>
          <p:cNvSpPr/>
          <p:nvPr/>
        </p:nvSpPr>
        <p:spPr>
          <a:xfrm>
            <a:off x="658368" y="3200400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r>
              <a:rPr lang="en-US" sz="1700" b="1" dirty="0" err="1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小时</a:t>
            </a: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" y="351129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一次组卷的平均耗时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14116" y="1435608"/>
            <a:ext cx="26517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47288" y="154533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447288" y="199339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只见对错的讲评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47288" y="2304288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批改只能看到对错，不见思维过程；讲评与分层教学缺乏过程性依据，学生「怎么想的」始终是个黑箱。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3447288" y="3200400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份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447288" y="351129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改完的卷子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 </a:t>
            </a: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</a:t>
            </a:r>
            <a:r>
              <a:rPr lang="en-US" sz="9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个思路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035040" y="1426464"/>
            <a:ext cx="2651760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54533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236208" y="1993392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散落在电脑里的好题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36208" y="2304288"/>
            <a:ext cx="224942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好题好设计存在个人电脑与 U 盘，无法复用、协作与追溯；教师流动，教研成果随之流失。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6236208" y="3200400"/>
            <a:ext cx="224942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年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6236208" y="3511296"/>
            <a:ext cx="2249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累积的题目 · 复用 0 次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" y="395935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312E81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9502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 </a:t>
            </a: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中学作业的瓶颈不在「布置得多」，在「设计得准、思维看得见」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——断在设计源头，学情就永远说不清。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产品要解决的问题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中学作业需要的，不是再多一套题库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14264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好作业的关键，不是「题量足够」，</a:t>
            </a:r>
            <a:r>
              <a:rPr lang="en-US" sz="12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而是教师设计有据、学生思维可见、成果可以沉淀、系统越用越准。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93392"/>
            <a:ext cx="1920240" cy="239572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99339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945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600200" y="2212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266032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设计有据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44373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 ×「四翼」× 近 5 年命题画像自动写入生成约束，生成即贴合教考方向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2560320" y="1993392"/>
            <a:ext cx="1920240" cy="239572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0" y="199339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21945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3703320" y="2212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743200" y="266032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思维可见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743200" y="3044373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苏格拉底式追问捕捉作答路径，形成性评价看懂学生「怎么想」，而非只看对错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4663440" y="1993392"/>
            <a:ext cx="1920240" cy="239572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63440" y="199339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0" y="21945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5806440" y="2212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4846320" y="266032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资产可沉淀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846320" y="3044373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原料库版本化治理，好设计可复用、可协作、可传承，成为学校的长期教研资产</a:t>
            </a:r>
            <a:endParaRPr lang="en-US" sz="980" dirty="0"/>
          </a:p>
        </p:txBody>
      </p:sp>
      <p:sp>
        <p:nvSpPr>
          <p:cNvPr id="25" name="Shape 22"/>
          <p:cNvSpPr/>
          <p:nvPr/>
        </p:nvSpPr>
        <p:spPr>
          <a:xfrm>
            <a:off x="6766560" y="1993392"/>
            <a:ext cx="1920240" cy="2395728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766560" y="1993392"/>
            <a:ext cx="1920240" cy="64008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6949440" y="219456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28" name="Text 25"/>
          <p:cNvSpPr/>
          <p:nvPr/>
        </p:nvSpPr>
        <p:spPr>
          <a:xfrm>
            <a:off x="7909560" y="2212848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949440" y="2660325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闭环自进化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949440" y="3044373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复盘证据回流生成端，作业越用越懂这个班、越用越精准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LOOP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教师端核心闭环：作业厨房五步生成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一条简单、可重复的作业生成路径——每一步都在为「有据可依」积累约束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572768"/>
            <a:ext cx="1417320" cy="896112"/>
          </a:xfrm>
          <a:prstGeom prst="roundRect">
            <a:avLst>
              <a:gd name="adj" fmla="val 7143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824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选原料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874520" y="1828800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26151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勾选课程章节知识点，素养与「四翼」要求自动对齐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2157984" y="1572768"/>
            <a:ext cx="1417320" cy="896112"/>
          </a:xfrm>
          <a:prstGeom prst="roundRect">
            <a:avLst>
              <a:gd name="adj" fmla="val 7143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57984" y="16824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157984" y="2011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看趋势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575304" y="1828800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157984" y="26151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5 年学科命题画像自动加载，趋势写入生成约束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3858768" y="1572768"/>
            <a:ext cx="1417320" cy="896112"/>
          </a:xfrm>
          <a:prstGeom prst="roundRect">
            <a:avLst>
              <a:gd name="adj" fmla="val 7143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58768" y="16824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58768" y="2011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请专家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76088" y="1828800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858768" y="26151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学科专家思维策略作灵感，化为设问与提示梯度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5559552" y="1572768"/>
            <a:ext cx="1417320" cy="896112"/>
          </a:xfrm>
          <a:prstGeom prst="roundRect">
            <a:avLst>
              <a:gd name="adj" fmla="val 7143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9552" y="16824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59552" y="2011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写简报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976872" y="1828800"/>
            <a:ext cx="283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559552" y="26151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支持语音输入，结构化任务说明交给 AI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7260336" y="1572768"/>
            <a:ext cx="1417320" cy="896112"/>
          </a:xfrm>
          <a:prstGeom prst="roundRect">
            <a:avLst>
              <a:gd name="adj" fmla="val 7143"/>
            </a:avLst>
          </a:prstGeom>
          <a:solidFill>
            <a:srgbClr val="4F46E5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0336" y="1682496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260336" y="201168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生成单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7260336" y="2615184"/>
            <a:ext cx="1417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难度结构可配（基础/中等/高阶，如 2+2+1）</a:t>
            </a:r>
            <a:endParaRPr lang="en-US" sz="930" dirty="0"/>
          </a:p>
        </p:txBody>
      </p:sp>
      <p:sp>
        <p:nvSpPr>
          <p:cNvPr id="30" name="Shape 27"/>
          <p:cNvSpPr/>
          <p:nvPr/>
        </p:nvSpPr>
        <p:spPr>
          <a:xfrm>
            <a:off x="457200" y="3675888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31520" y="3675888"/>
            <a:ext cx="7680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生成前 · 四项质量门　｜　</a:t>
            </a:r>
            <a:r>
              <a:rPr lang="en-US" sz="12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课程锚点　✓ 能力证据　✓ 四翼约束　✓ 命题趋势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42793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 </a:t>
            </a:r>
            <a:r>
              <a:rPr lang="en-US" sz="11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教师主权：</a:t>
            </a: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只做设计助手——题干逐题可编辑，审核与发布权始终在教师手中。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ASSET LAYER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作业原料库 × 作业菜单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教师沉淀的是可追溯的资产，不是一次性的文件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7764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6093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作业原料库 · 知识底座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类原料已接入 · 每次生成保留来源与版本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5480" y="2267712"/>
            <a:ext cx="4460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Elephant" panose="02020904090505020303" pitchFamily="18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>
              <a:latin typeface="Elephant" panose="020209040905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78992" y="22494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课程锚点　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课程边界 · 章节知识点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5480" y="2670048"/>
            <a:ext cx="4460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Elephant" panose="02020904090505020303" pitchFamily="18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>
              <a:latin typeface="Elephant" panose="02020904090505020303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78992" y="265176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能力指标　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核心素养 ×「四翼」约束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05480" y="3072384"/>
            <a:ext cx="40489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Elephant" panose="02020904090505020303" pitchFamily="18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>
              <a:latin typeface="Elephant" panose="02020904090505020303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78992" y="30540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命题趋势　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 5 年学科命题画像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05480" y="3474720"/>
            <a:ext cx="4460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46E5"/>
                </a:solidFill>
                <a:latin typeface="Elephant" panose="02020904090505020303" pitchFamily="18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>
              <a:latin typeface="Elephant" panose="02020904090505020303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78992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任务生成简报　</a:t>
            </a: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教师意图的结构化表达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85800" y="3913632"/>
            <a:ext cx="3520440" cy="530352"/>
          </a:xfrm>
          <a:prstGeom prst="roundRect">
            <a:avLst>
              <a:gd name="adj" fmla="val 10345"/>
            </a:avLst>
          </a:prstGeom>
          <a:solidFill>
            <a:srgbClr val="EEF0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1363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可追溯链（高一数学·函数应用）：</a:t>
            </a:r>
            <a:r>
              <a:rPr lang="en-US" sz="93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课程边界 → 能力约束 → 生成策略 → 学生证据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4709160" y="1463040"/>
            <a:ext cx="3977640" cy="3127248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1609344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作业菜单 · 统一资产管理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1920240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任务单双栏配套，一份作业两种视角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37760" y="2249424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234086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学生任务单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047488" y="2596401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真实情境 · 递进任务链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720840" y="2249424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30568" y="2340864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教师指导手册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830568" y="2633472"/>
            <a:ext cx="15179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命题思路 · 答案要点 · 延伸问题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3236976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管理动作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937760" y="351129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3511296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立即发布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35040" y="351129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035040" y="3511296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定时发布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132320" y="3511296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32320" y="3511296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标签分类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937760" y="39136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37760" y="3913632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035040" y="39136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35040" y="3913632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打印预览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132320" y="3913632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132320" y="3913632"/>
            <a:ext cx="969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逐题重生成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937760" y="4261104"/>
            <a:ext cx="3520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教材与课标更新、提示词调整均可回溯，教研成果持续积累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2880360" y="1783080"/>
          <a:ext cx="2880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LOOP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能力复盘：学情证据驱动下一次作业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示例班级：高一（3）班 · 函数应用任务单 · 32 位学生参与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457200" y="1463040"/>
            <a:ext cx="20574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1792" y="155448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28/32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621792" y="1975104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已提交整份任务单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457200" y="2487168"/>
            <a:ext cx="20574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1792" y="2578608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次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621792" y="2999232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人均苏格拉底追问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457200" y="3511296"/>
            <a:ext cx="20574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1792" y="3602736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2100" dirty="0"/>
          </a:p>
        </p:txBody>
      </p:sp>
      <p:sp>
        <p:nvSpPr>
          <p:cNvPr id="15" name="Text 11"/>
          <p:cNvSpPr/>
          <p:nvPr/>
        </p:nvSpPr>
        <p:spPr>
          <a:xfrm>
            <a:off x="621792" y="4023360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作答高阶题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2743200" y="1463040"/>
            <a:ext cx="3154680" cy="3054096"/>
          </a:xfrm>
          <a:prstGeom prst="roundRect">
            <a:avLst>
              <a:gd name="adj" fmla="val 1796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926080" y="157276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班级能力表现（过程证据推断）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926080" y="384509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3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薄弱点：数据分析 59%</a:t>
            </a:r>
            <a:r>
              <a:rPr lang="en-US" sz="9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数据解释与模型边界是共性卡点</a:t>
            </a:r>
            <a:endParaRPr lang="en-US" sz="930" dirty="0"/>
          </a:p>
        </p:txBody>
      </p:sp>
      <p:sp>
        <p:nvSpPr>
          <p:cNvPr id="19" name="Shape 15"/>
          <p:cNvSpPr/>
          <p:nvPr/>
        </p:nvSpPr>
        <p:spPr>
          <a:xfrm>
            <a:off x="6080760" y="1463040"/>
            <a:ext cx="2606040" cy="3054096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1463040"/>
            <a:ext cx="2606040" cy="54864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/>
        </p:spPr>
      </p:sp>
      <p:sp>
        <p:nvSpPr>
          <p:cNvPr id="21" name="Text 17"/>
          <p:cNvSpPr/>
          <p:nvPr/>
        </p:nvSpPr>
        <p:spPr>
          <a:xfrm>
            <a:off x="6263640" y="16093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下一轮优化建议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263640" y="2074455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保留同一函数情境，增设「数据解释 → 选择模型」中间追问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优先支持数据分析薄弱的学生，分层布置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分组建议：提示依赖组 / 迁移探究组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263640" y="3840480"/>
            <a:ext cx="2240280" cy="512064"/>
          </a:xfrm>
          <a:prstGeom prst="roundRect">
            <a:avLst>
              <a:gd name="adj" fmla="val 12500"/>
            </a:avLst>
          </a:prstGeom>
          <a:solidFill>
            <a:srgbClr val="312E81"/>
          </a:solidFill>
          <a:ln/>
        </p:spPr>
      </p:sp>
      <p:sp>
        <p:nvSpPr>
          <p:cNvPr id="24" name="Text 20"/>
          <p:cNvSpPr/>
          <p:nvPr/>
        </p:nvSpPr>
        <p:spPr>
          <a:xfrm>
            <a:off x="6373368" y="3840480"/>
            <a:ext cx="20208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⟳ 带着建议回到作业厨房，生成下一份任务单</a:t>
            </a:r>
            <a:endParaRPr lang="en-US" sz="930" dirty="0"/>
          </a:p>
        </p:txBody>
      </p:sp>
      <p:sp>
        <p:nvSpPr>
          <p:cNvPr id="25" name="Text 21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10</a:t>
            </a:r>
            <a:endParaRPr lang="en-US" sz="85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7DE395B-26BC-32C7-A666-7DE839B9A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1963326"/>
            <a:ext cx="2902099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INSIDE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用在哪：一个引擎，四道质量门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一次生成调用同时产出任务单草案与学情证据——约束同源，口径一致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45920"/>
            <a:ext cx="16093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四类原料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 · 指标 · 趋势 · 简报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340864" y="1719072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697480" y="1536192"/>
            <a:ext cx="2057400" cy="877824"/>
          </a:xfrm>
          <a:prstGeom prst="roundRect">
            <a:avLst>
              <a:gd name="adj" fmla="val 7292"/>
            </a:avLst>
          </a:prstGeom>
          <a:solidFill>
            <a:srgbClr val="4F46E5"/>
          </a:solidFill>
          <a:ln/>
        </p:spPr>
      </p:sp>
      <p:sp>
        <p:nvSpPr>
          <p:cNvPr id="10" name="Text 7"/>
          <p:cNvSpPr/>
          <p:nvPr/>
        </p:nvSpPr>
        <p:spPr>
          <a:xfrm>
            <a:off x="2807208" y="1536192"/>
            <a:ext cx="18288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生成引擎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五步约束 · 一次调用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828032" y="1481328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28032" y="2194560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30368" y="1389888"/>
            <a:ext cx="3456432" cy="566928"/>
          </a:xfrm>
          <a:prstGeom prst="roundRect">
            <a:avLst>
              <a:gd name="adj" fmla="val 9677"/>
            </a:avLst>
          </a:prstGeom>
          <a:solidFill>
            <a:srgbClr val="EEF0FC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8384" y="13898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4F46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教师看到：</a:t>
            </a:r>
            <a:r>
              <a:rPr lang="en-US" sz="980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双栏任务单草案（学生任务单 ＋ 教师指导手册）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5230368" y="2103120"/>
            <a:ext cx="345643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58384" y="21031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6D28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🚦 质量门：</a:t>
            </a:r>
            <a:r>
              <a:rPr lang="en-US" sz="980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 · 能力证据 · 四翼 · 趋势，四项检测通过才上架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26517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" y="2798064"/>
            <a:ext cx="64008" cy="1700784"/>
          </a:xfrm>
          <a:prstGeom prst="roundRect">
            <a:avLst>
              <a:gd name="adj" fmla="val 28571"/>
            </a:avLst>
          </a:prstGeom>
          <a:solidFill>
            <a:srgbClr val="4F46E5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" y="294436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🍳  出题：只出草案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6656" y="3328416"/>
            <a:ext cx="223113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难度结构可配（如 2+2+1）；题干逐题可编辑，教师逐题审核后才发布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46120" y="2798064"/>
            <a:ext cx="26517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46120" y="2798064"/>
            <a:ext cx="64008" cy="1700784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3465576" y="294436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 复盘：只给证据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465576" y="3328416"/>
            <a:ext cx="223113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能力表现、共性卡点与优化建议；不替教师下结论，判断权始终在教师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035040" y="2798064"/>
            <a:ext cx="265176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35040" y="2798064"/>
            <a:ext cx="64008" cy="1700784"/>
          </a:xfrm>
          <a:prstGeom prst="roundRect">
            <a:avLst>
              <a:gd name="adj" fmla="val 28571"/>
            </a:avLst>
          </a:prstGeom>
          <a:solidFill>
            <a:srgbClr val="6D28D9"/>
          </a:solidFill>
          <a:ln/>
        </p:spPr>
      </p:sp>
      <p:sp>
        <p:nvSpPr>
          <p:cNvPr id="27" name="Text 24"/>
          <p:cNvSpPr/>
          <p:nvPr/>
        </p:nvSpPr>
        <p:spPr>
          <a:xfrm>
            <a:off x="6254496" y="2944368"/>
            <a:ext cx="22494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 守界：不越边界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254496" y="3328416"/>
            <a:ext cx="2231136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名人专家仅作思维灵感，不模拟身份或原话；AI 输出不作为学生评价唯一依据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COMPLIANCE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安全与合规：给学校的定心丸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面向教学一线的产品，可靠与可控不是加分项，是入场券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627632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🖊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43584" y="168249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教师主权在握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只做设计助手，题干逐题可编辑，审核与发布权始终归教师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47288" y="1627632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13" name="Text 10"/>
          <p:cNvSpPr/>
          <p:nvPr/>
        </p:nvSpPr>
        <p:spPr>
          <a:xfrm>
            <a:off x="344728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032504" y="168249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全程可追溯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6557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每次生成保留课程锚点、能力指标与学生证据，教材课标更新可回溯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603504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36208" y="1627632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18" name="Text 15"/>
          <p:cNvSpPr/>
          <p:nvPr/>
        </p:nvSpPr>
        <p:spPr>
          <a:xfrm>
            <a:off x="623620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🛡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821424" y="1682496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内容安全兜底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5449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生成内容过四项质量门检测，异常降级处理并提醒人工复核</a:t>
            </a:r>
            <a:endParaRPr lang="en-US" sz="980" dirty="0"/>
          </a:p>
        </p:txBody>
      </p:sp>
      <p:sp>
        <p:nvSpPr>
          <p:cNvPr id="21" name="Shape 18"/>
          <p:cNvSpPr/>
          <p:nvPr/>
        </p:nvSpPr>
        <p:spPr>
          <a:xfrm>
            <a:off x="45720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31012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23" name="Text 20"/>
          <p:cNvSpPr/>
          <p:nvPr/>
        </p:nvSpPr>
        <p:spPr>
          <a:xfrm>
            <a:off x="65836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243584" y="336499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权限分级管理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7665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教师只管理自己的任务单与班级数据，默认不提供公开导出</a:t>
            </a:r>
            <a:endParaRPr lang="en-US" sz="980" dirty="0"/>
          </a:p>
        </p:txBody>
      </p:sp>
      <p:sp>
        <p:nvSpPr>
          <p:cNvPr id="26" name="Shape 23"/>
          <p:cNvSpPr/>
          <p:nvPr/>
        </p:nvSpPr>
        <p:spPr>
          <a:xfrm>
            <a:off x="324612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447288" y="331012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28" name="Text 25"/>
          <p:cNvSpPr/>
          <p:nvPr/>
        </p:nvSpPr>
        <p:spPr>
          <a:xfrm>
            <a:off x="344728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4032504" y="336499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不做评价依据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46557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输出仅作形成性参考，不作为学生评价、排名或处分依据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03504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36208" y="3310128"/>
            <a:ext cx="457200" cy="457200"/>
          </a:xfrm>
          <a:prstGeom prst="ellipse">
            <a:avLst/>
          </a:prstGeom>
          <a:solidFill>
            <a:srgbClr val="EEF0FC"/>
          </a:solidFill>
          <a:ln/>
        </p:spPr>
      </p:sp>
      <p:sp>
        <p:nvSpPr>
          <p:cNvPr id="33" name="Text 30"/>
          <p:cNvSpPr/>
          <p:nvPr/>
        </p:nvSpPr>
        <p:spPr>
          <a:xfrm>
            <a:off x="623620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821424" y="3364992"/>
            <a:ext cx="1691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额度透明可控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5449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用量分级预警、达限暂停新增调用，不产生无感超支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4747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POINTS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57200" y="58521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 err="1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核心六大差异化优势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六个关键词，构成产品的核心竞争力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95728" y="1591056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58368" y="162763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43584" y="16824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教考同源合规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7665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 × 四翼 × 近 5 年命题趋势自动对齐，生成即贴合教考改革方向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24612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84648" y="1591056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447288" y="16276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2"/>
          <p:cNvSpPr/>
          <p:nvPr/>
        </p:nvSpPr>
        <p:spPr>
          <a:xfrm>
            <a:off x="344728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32504" y="16824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全程可追溯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46557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每次生成都能回溯课程锚点、能力指标与学生证据，破「AI 出题黑箱」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035040" y="1463040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73568" y="1591056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00" dirty="0"/>
          </a:p>
        </p:txBody>
      </p:sp>
      <p:sp>
        <p:nvSpPr>
          <p:cNvPr id="20" name="Shape 17"/>
          <p:cNvSpPr/>
          <p:nvPr/>
        </p:nvSpPr>
        <p:spPr>
          <a:xfrm>
            <a:off x="6236208" y="1627632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8"/>
          <p:cNvSpPr/>
          <p:nvPr/>
        </p:nvSpPr>
        <p:spPr>
          <a:xfrm>
            <a:off x="6236208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🧠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21424" y="16824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过程性学情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54496" y="2176272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苏格拉底追问捕捉思维路径，形成性评价看懂学生「怎么想」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45720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395728" y="3273552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Shape 23"/>
          <p:cNvSpPr/>
          <p:nvPr/>
        </p:nvSpPr>
        <p:spPr>
          <a:xfrm>
            <a:off x="658368" y="331012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7" name="Text 24"/>
          <p:cNvSpPr/>
          <p:nvPr/>
        </p:nvSpPr>
        <p:spPr>
          <a:xfrm>
            <a:off x="65836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43584" y="3364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教师主权在握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只当助手，题干逐题可编辑，审核与发布权始终归教师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324612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84648" y="3273552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900" dirty="0"/>
          </a:p>
        </p:txBody>
      </p:sp>
      <p:sp>
        <p:nvSpPr>
          <p:cNvPr id="32" name="Shape 29"/>
          <p:cNvSpPr/>
          <p:nvPr/>
        </p:nvSpPr>
        <p:spPr>
          <a:xfrm>
            <a:off x="3447288" y="3310128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3" name="Text 30"/>
          <p:cNvSpPr/>
          <p:nvPr/>
        </p:nvSpPr>
        <p:spPr>
          <a:xfrm>
            <a:off x="344728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032504" y="3364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知识资产化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46557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原料库版本化治理，好设计可沉淀、可复用、可迭代传承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6035040" y="3145536"/>
            <a:ext cx="265176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9525">
            <a:solidFill>
              <a:srgbClr val="E3E6F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973568" y="3273552"/>
            <a:ext cx="512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C7CD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900" dirty="0"/>
          </a:p>
        </p:txBody>
      </p:sp>
      <p:sp>
        <p:nvSpPr>
          <p:cNvPr id="38" name="Shape 35"/>
          <p:cNvSpPr/>
          <p:nvPr/>
        </p:nvSpPr>
        <p:spPr>
          <a:xfrm>
            <a:off x="6236208" y="331012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9" name="Text 36"/>
          <p:cNvSpPr/>
          <p:nvPr/>
        </p:nvSpPr>
        <p:spPr>
          <a:xfrm>
            <a:off x="6236208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821424" y="3364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闭环自进化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254496" y="3858768"/>
            <a:ext cx="22311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复盘证据回流生成端，作业越用越懂这个班、越用越精准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457200" y="48463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中学</a:t>
            </a:r>
            <a:r>
              <a:rPr lang="en-US" sz="850" dirty="0" err="1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</a:t>
            </a:r>
            <a:r>
              <a:rPr lang="en-US" sz="850" dirty="0">
                <a:solidFill>
                  <a:srgbClr val="9AA3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产品介绍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7315200" y="48463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AA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28600" y="228600"/>
            <a:ext cx="2194560" cy="2194560"/>
          </a:xfrm>
          <a:prstGeom prst="ellipse">
            <a:avLst/>
          </a:prstGeom>
          <a:solidFill>
            <a:srgbClr val="8B5CF6">
              <a:alpha val="1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78040" y="3383280"/>
            <a:ext cx="1600200" cy="1600200"/>
          </a:xfrm>
          <a:prstGeom prst="ellipse">
            <a:avLst/>
          </a:prstGeom>
          <a:solidFill>
            <a:srgbClr val="6366F1">
              <a:alpha val="2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3931920"/>
            <a:ext cx="640080" cy="640080"/>
          </a:xfrm>
          <a:prstGeom prst="ellipse">
            <a:avLst/>
          </a:prstGeom>
          <a:solidFill>
            <a:srgbClr val="8B5CF6">
              <a:alpha val="4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389888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b="1" kern="0" spc="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让每一次作业，都有据可依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914400" y="22677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10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作业智能体 · 中学 AI 作业生成与学情管理平台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290779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290779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作业厨房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980944" y="290779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80944" y="290779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作业原料库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81728" y="290779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1728" y="290779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作业菜单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82512" y="290779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6366F1">
              <a:alpha val="38000"/>
            </a:srgbClr>
          </a:solidFill>
          <a:ln w="9525">
            <a:solidFill>
              <a:srgbClr val="A5B4F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82512" y="2907792"/>
            <a:ext cx="1481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能力复盘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31520" y="3584448"/>
            <a:ext cx="7680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对老师</a:t>
            </a: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省下每天数小时的组卷时间　·　</a:t>
            </a:r>
            <a:r>
              <a:rPr lang="en-US" sz="105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对学生</a:t>
            </a: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更贴合水平的情境任务单　·　</a:t>
            </a:r>
            <a:r>
              <a:rPr lang="en-US" sz="1050" b="1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对学校</a:t>
            </a:r>
            <a:r>
              <a:rPr lang="en-US" sz="1050" dirty="0">
                <a:solidFill>
                  <a:srgbClr val="C7D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越用越准的教学数据资产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50" dirty="0">
                <a:solidFill>
                  <a:srgbClr val="A5B4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智慧校园管理平台 · 让作业管理更智能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1250</Words>
  <Application>Microsoft Office PowerPoint</Application>
  <PresentationFormat>全屏显示(16:9)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</vt:lpstr>
      <vt:lpstr>Arial</vt:lpstr>
      <vt:lpstr>Elephant</vt:lpstr>
      <vt:lpstr>Georgia</vt:lpstr>
      <vt:lpstr>Segoe UI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智丽 殷</cp:lastModifiedBy>
  <cp:revision>4</cp:revision>
  <dcterms:created xsi:type="dcterms:W3CDTF">2026-09-14T07:56:20Z</dcterms:created>
  <dcterms:modified xsi:type="dcterms:W3CDTF">2026-09-14T08:11:13Z</dcterms:modified>
</cp:coreProperties>
</file>
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9" r:id="rId2"/>
    <p:sldId id="265" r:id="rId3"/>
    <p:sldId id="261" r:id="rId4"/>
    <p:sldId id="262" r:id="rId5"/>
    <p:sldId id="263" r:id="rId6"/>
    <p:sldId id="264" r:id="rId7"/>
    <p:sldId id="267" r:id="rId8"/>
    <p:sldId id="268" r:id="rId9"/>
    <p:sldId id="269" r:id="rId10"/>
    <p:sldId id="270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48" y="4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9396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71B01-F5CA-9FFB-638D-AB5F109C4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1ACAF0-4146-18AD-6D8D-855E3C8C45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6EDE96-6006-A69A-8982-D41340E72D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9886A1-5DBE-A45E-EC01-FD53FC7520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3059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42291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8581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评测流程图 · 五层分层架构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64171" y="2340226"/>
            <a:ext cx="150876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64171" y="2340226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事实核查层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64171" y="2596258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schema/单位/引用/敏感词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264171" y="2934586"/>
            <a:ext cx="150876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64171" y="2934586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模式匹配层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64171" y="3190618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解析/归一化/缓存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267753" y="3675229"/>
            <a:ext cx="150876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04645" y="3693517"/>
            <a:ext cx="162259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</a:t>
            </a:r>
            <a:r>
              <a:rPr lang="zh-CN" alt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</a:t>
            </a:r>
            <a:r>
              <a:rPr lang="en-US" altLang="zh-CN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zh-CN" alt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通用</a:t>
            </a:r>
            <a:r>
              <a:rPr lang="en-US" sz="1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裁判模型层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267753" y="3931261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争议判断+校准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267753" y="4269589"/>
            <a:ext cx="150876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67753" y="4269589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 人工闭环层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267753" y="4525621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高风险/低置信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064549" y="1469507"/>
            <a:ext cx="1463040" cy="822960"/>
          </a:xfrm>
          <a:prstGeom prst="diamond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64549" y="1469507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置信度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风险阈值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73272" y="525781"/>
            <a:ext cx="2194560" cy="777240"/>
          </a:xfrm>
          <a:prstGeom prst="rect">
            <a:avLst/>
          </a:prstGeom>
          <a:solidFill>
            <a:srgbClr val="D8F1ED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73272" y="571501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高置信低风险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73272" y="891541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自动放行 + 记录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173272" y="1440181"/>
            <a:ext cx="2194560" cy="777240"/>
          </a:xfrm>
          <a:prstGeom prst="rect">
            <a:avLst/>
          </a:prstGeom>
          <a:solidFill>
            <a:srgbClr val="EBF0F8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73272" y="1485901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中低置信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73272" y="1805941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进入裁判模型 / 校准层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173272" y="2354581"/>
            <a:ext cx="2194560" cy="777240"/>
          </a:xfrm>
          <a:prstGeom prst="rect">
            <a:avLst/>
          </a:prstGeom>
          <a:solidFill>
            <a:srgbClr val="FDE8E0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73272" y="2400301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高风险 / 边界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173272" y="2720341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升级到人工复核</a:t>
            </a:r>
            <a:endParaRPr lang="en-US" sz="900" dirty="0"/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49238836-1D36-5967-E998-514DA3C20F1C}"/>
              </a:ext>
            </a:extLst>
          </p:cNvPr>
          <p:cNvGrpSpPr/>
          <p:nvPr/>
        </p:nvGrpSpPr>
        <p:grpSpPr>
          <a:xfrm>
            <a:off x="3973109" y="690372"/>
            <a:ext cx="1645920" cy="411480"/>
            <a:chOff x="548640" y="640080"/>
            <a:chExt cx="1645920" cy="411480"/>
          </a:xfrm>
        </p:grpSpPr>
        <p:sp>
          <p:nvSpPr>
            <p:cNvPr id="41" name="Shape 39"/>
            <p:cNvSpPr/>
            <p:nvPr/>
          </p:nvSpPr>
          <p:spPr>
            <a:xfrm>
              <a:off x="548640" y="640080"/>
              <a:ext cx="1645920" cy="411480"/>
            </a:xfrm>
            <a:prstGeom prst="rect">
              <a:avLst/>
            </a:prstGeom>
            <a:solidFill>
              <a:srgbClr val="CADCFC"/>
            </a:solidFill>
            <a:ln w="12700">
              <a:solidFill>
                <a:srgbClr val="1E2761"/>
              </a:solidFill>
              <a:prstDash val="solid"/>
            </a:ln>
          </p:spPr>
        </p:sp>
        <p:sp>
          <p:nvSpPr>
            <p:cNvPr id="42" name="Text 40"/>
            <p:cNvSpPr/>
            <p:nvPr/>
          </p:nvSpPr>
          <p:spPr>
            <a:xfrm>
              <a:off x="548640" y="640080"/>
              <a:ext cx="164592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教育 Agent 输出</a:t>
              </a:r>
              <a:endParaRPr lang="en-US" sz="1100" dirty="0"/>
            </a:p>
          </p:txBody>
        </p:sp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B376CA9B-FF59-94F5-45C3-CDC1AF5E625E}"/>
              </a:ext>
            </a:extLst>
          </p:cNvPr>
          <p:cNvGrpSpPr/>
          <p:nvPr/>
        </p:nvGrpSpPr>
        <p:grpSpPr>
          <a:xfrm>
            <a:off x="4010180" y="2645294"/>
            <a:ext cx="1645920" cy="411480"/>
            <a:chOff x="548640" y="640080"/>
            <a:chExt cx="1645920" cy="411480"/>
          </a:xfrm>
        </p:grpSpPr>
        <p:sp>
          <p:nvSpPr>
            <p:cNvPr id="47" name="Shape 39">
              <a:extLst>
                <a:ext uri="{FF2B5EF4-FFF2-40B4-BE49-F238E27FC236}">
                  <a16:creationId xmlns:a16="http://schemas.microsoft.com/office/drawing/2014/main" id="{AFD865EF-E2B8-9206-AC01-DC0D9389DBF9}"/>
                </a:ext>
              </a:extLst>
            </p:cNvPr>
            <p:cNvSpPr/>
            <p:nvPr/>
          </p:nvSpPr>
          <p:spPr>
            <a:xfrm>
              <a:off x="548640" y="640080"/>
              <a:ext cx="1645920" cy="411480"/>
            </a:xfrm>
            <a:prstGeom prst="rect">
              <a:avLst/>
            </a:prstGeom>
            <a:solidFill>
              <a:srgbClr val="CADCFC"/>
            </a:solidFill>
            <a:ln w="12700">
              <a:solidFill>
                <a:srgbClr val="1E2761"/>
              </a:solidFill>
              <a:prstDash val="solid"/>
            </a:ln>
          </p:spPr>
        </p:sp>
        <p:sp>
          <p:nvSpPr>
            <p:cNvPr id="48" name="Text 40">
              <a:extLst>
                <a:ext uri="{FF2B5EF4-FFF2-40B4-BE49-F238E27FC236}">
                  <a16:creationId xmlns:a16="http://schemas.microsoft.com/office/drawing/2014/main" id="{B7F48326-9655-342A-A25C-FC7EE10AAD2D}"/>
                </a:ext>
              </a:extLst>
            </p:cNvPr>
            <p:cNvSpPr/>
            <p:nvPr/>
          </p:nvSpPr>
          <p:spPr>
            <a:xfrm>
              <a:off x="548640" y="640080"/>
              <a:ext cx="164592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zh-CN" altLang="en-US" sz="1100" b="1" dirty="0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硬校验</a:t>
              </a:r>
              <a:endParaRPr lang="en-US" sz="1100" dirty="0"/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979F6E00-EC5A-4B6D-D0A8-ABF6997EAA18}"/>
              </a:ext>
            </a:extLst>
          </p:cNvPr>
          <p:cNvGrpSpPr/>
          <p:nvPr/>
        </p:nvGrpSpPr>
        <p:grpSpPr>
          <a:xfrm>
            <a:off x="4010180" y="3973068"/>
            <a:ext cx="1645920" cy="411480"/>
            <a:chOff x="548640" y="640080"/>
            <a:chExt cx="1645920" cy="411480"/>
          </a:xfrm>
        </p:grpSpPr>
        <p:sp>
          <p:nvSpPr>
            <p:cNvPr id="50" name="Shape 39">
              <a:extLst>
                <a:ext uri="{FF2B5EF4-FFF2-40B4-BE49-F238E27FC236}">
                  <a16:creationId xmlns:a16="http://schemas.microsoft.com/office/drawing/2014/main" id="{4182784A-B0C0-4EA5-A354-66C9C2193187}"/>
                </a:ext>
              </a:extLst>
            </p:cNvPr>
            <p:cNvSpPr/>
            <p:nvPr/>
          </p:nvSpPr>
          <p:spPr>
            <a:xfrm>
              <a:off x="548640" y="640080"/>
              <a:ext cx="1645920" cy="411480"/>
            </a:xfrm>
            <a:prstGeom prst="rect">
              <a:avLst/>
            </a:prstGeom>
            <a:solidFill>
              <a:srgbClr val="CADCFC"/>
            </a:solidFill>
            <a:ln w="12700">
              <a:solidFill>
                <a:srgbClr val="1E2761"/>
              </a:solidFill>
              <a:prstDash val="solid"/>
            </a:ln>
          </p:spPr>
        </p:sp>
        <p:sp>
          <p:nvSpPr>
            <p:cNvPr id="51" name="Text 40">
              <a:extLst>
                <a:ext uri="{FF2B5EF4-FFF2-40B4-BE49-F238E27FC236}">
                  <a16:creationId xmlns:a16="http://schemas.microsoft.com/office/drawing/2014/main" id="{9D6CF849-877D-E8CA-6E57-2CAD119D3684}"/>
                </a:ext>
              </a:extLst>
            </p:cNvPr>
            <p:cNvSpPr/>
            <p:nvPr/>
          </p:nvSpPr>
          <p:spPr>
            <a:xfrm>
              <a:off x="548640" y="640080"/>
              <a:ext cx="164592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altLang="zh-CN" sz="1100" b="1" dirty="0" err="1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Jev</a:t>
              </a:r>
              <a:r>
                <a:rPr lang="zh-CN" altLang="en-US" sz="1100" b="1" dirty="0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式快判</a:t>
              </a:r>
              <a:endParaRPr lang="en-US" sz="1100" dirty="0"/>
            </a:p>
          </p:txBody>
        </p:sp>
      </p:grpSp>
      <p:sp>
        <p:nvSpPr>
          <p:cNvPr id="52" name="右大括号 51">
            <a:extLst>
              <a:ext uri="{FF2B5EF4-FFF2-40B4-BE49-F238E27FC236}">
                <a16:creationId xmlns:a16="http://schemas.microsoft.com/office/drawing/2014/main" id="{0D226848-29F5-BF00-5658-AF764919AD8D}"/>
              </a:ext>
            </a:extLst>
          </p:cNvPr>
          <p:cNvSpPr/>
          <p:nvPr/>
        </p:nvSpPr>
        <p:spPr>
          <a:xfrm>
            <a:off x="3835400" y="2377749"/>
            <a:ext cx="109728" cy="1041469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右大括号 53">
            <a:extLst>
              <a:ext uri="{FF2B5EF4-FFF2-40B4-BE49-F238E27FC236}">
                <a16:creationId xmlns:a16="http://schemas.microsoft.com/office/drawing/2014/main" id="{90BCAD7A-C25A-2312-191D-96CE67CD1CA8}"/>
              </a:ext>
            </a:extLst>
          </p:cNvPr>
          <p:cNvSpPr/>
          <p:nvPr/>
        </p:nvSpPr>
        <p:spPr>
          <a:xfrm>
            <a:off x="3835400" y="3675229"/>
            <a:ext cx="109728" cy="1041469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右大括号 55">
            <a:extLst>
              <a:ext uri="{FF2B5EF4-FFF2-40B4-BE49-F238E27FC236}">
                <a16:creationId xmlns:a16="http://schemas.microsoft.com/office/drawing/2014/main" id="{DA9C9C82-D181-4B03-7205-9E30EC181A23}"/>
              </a:ext>
            </a:extLst>
          </p:cNvPr>
          <p:cNvSpPr/>
          <p:nvPr/>
        </p:nvSpPr>
        <p:spPr>
          <a:xfrm flipH="1">
            <a:off x="5850869" y="1101852"/>
            <a:ext cx="256144" cy="1541506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3AC52C0C-8894-31FF-AF37-D9B4A88C9DE9}"/>
              </a:ext>
            </a:extLst>
          </p:cNvPr>
          <p:cNvCxnSpPr>
            <a:cxnSpLocks/>
          </p:cNvCxnSpPr>
          <p:nvPr/>
        </p:nvCxnSpPr>
        <p:spPr>
          <a:xfrm>
            <a:off x="4786458" y="1101852"/>
            <a:ext cx="0" cy="36765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8F042326-C716-E326-8CCF-6FFC6792ADED}"/>
              </a:ext>
            </a:extLst>
          </p:cNvPr>
          <p:cNvCxnSpPr>
            <a:cxnSpLocks/>
          </p:cNvCxnSpPr>
          <p:nvPr/>
        </p:nvCxnSpPr>
        <p:spPr>
          <a:xfrm>
            <a:off x="4786458" y="2293558"/>
            <a:ext cx="0" cy="36765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2827BE69-3BE3-953A-BAB6-8E72FFD4F157}"/>
              </a:ext>
            </a:extLst>
          </p:cNvPr>
          <p:cNvCxnSpPr>
            <a:cxnSpLocks/>
          </p:cNvCxnSpPr>
          <p:nvPr/>
        </p:nvCxnSpPr>
        <p:spPr>
          <a:xfrm>
            <a:off x="4786458" y="3056774"/>
            <a:ext cx="0" cy="91629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42291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2200" b="1" kern="0" spc="10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教育场景</a:t>
            </a:r>
            <a:r>
              <a:rPr lang="en-US" altLang="zh-CN" sz="2200" b="1" kern="0" spc="10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</a:t>
            </a:r>
            <a:r>
              <a:rPr lang="zh-CN" altLang="en-US" sz="2200" b="1" kern="0" spc="10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硬校验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365760" cy="182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80160"/>
          <a:ext cx="8229600" cy="27432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类型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硬校验 / 规则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Jev 式快判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裁判大模型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人工复核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题目与解析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答案键、公式、单位、步骤结构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步骤断点、知识冲突、超纲术语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多解、证明、开放题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高风险/教研争议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知识讲解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schema、引用格式、版本、词表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概念混淆、幻觉主张、未定义术语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启发性、递进、教育适宜性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敏感或权威结论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学习规划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日期、时长、依赖图、资源可达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前提冲突、超负荷、依赖遗漏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动机适配、节奏、长期可行性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升学/健康等高后果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批改与反馈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总分、分项、档位、位置证据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扣分证据、反馈一致性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宽严、反馈平衡、观点偏差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高风险分数与申诉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42291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评测规则表 1/4 · 题目与解析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正确性优先于文采 · 答案正确不是唯一目标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365760" cy="182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80160"/>
          <a:ext cx="8138160" cy="329184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质量维度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硬校验 / 规则层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Jev 式快判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裁判大模型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答案正确性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答案存在、表达式可解析、单位存在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候选答案与标准答案是否等价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多解、近似答案、反例与开放证明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解题步骤逻辑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步骤编号连续、最终答案与中间式一致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某步是否有前提/运算/解释断点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证明策略是否合理、多路径选择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知识性错误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关键公式可解析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命题与给定定理是否冲突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跨学科隐含前提的教育解释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公式与单位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单位换算、量纲、符号范围规则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单位是否按口径使用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非标准符号的教育解释是否充分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题目唯一性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选项数、答案键、约束条件完整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条件是否足以确定唯一解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情境歧义是否影响教育目标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适龄与难度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年级、课标标签、禁止词命中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术语是否超出目标学段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题目挑战与学习价值权衡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安全合规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敏感词、个人可识别信息、禁止情境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是否隐含偏见或不当压力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教育公平与价值引导判断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22960" y="4297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42291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评测规则表 2/4 · 知识讲解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先查事实，再判教学价值 · "讲得对"是底线，"讲得懂、讲得合适"才是分层评测的意义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365760" cy="182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80160"/>
          <a:ext cx="8138160" cy="329184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质量维度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硬校验 / 规则层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Jev 式快判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裁判大模型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知识性错误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权威术语、事实主张、版本规则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某句与给定证据是否冲突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跨学科边界与上下文适用条件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幻觉引用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URL/DOI 格式、引用存在、位置对应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引用是否支持该主张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间接引用、权威性权衡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概念边界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术语库、定义槽位、公式范围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是否混淆 A 与 B 的关键差异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概念层级与认知负荷安排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适龄性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课标、年级、词表、禁止超纲项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某术语是否超出目标学段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抽象程度与脚手架设计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讲解结构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标题、定义、例证、小结齐全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是否存在未完成结构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逻辑递进与重复冗余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启发性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固定问题、示例模板命中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是否包含开放追问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苏格拉底式引导质量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观点偏差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规则词库、敏感实体清单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是否把争议事实表述为确定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价值引导与教育公平判断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5"/>
          <p:cNvSpPr/>
          <p:nvPr/>
        </p:nvSpPr>
        <p:spPr>
          <a:xfrm>
            <a:off x="822960" y="4297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42291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评测规则表 3/4 · 学习规划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可执行性比"看起来合理"更重要 · 失败往往不是文字不流畅，而是前提冲突、动作不可执行、资源不可达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365760" cy="182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80160"/>
          <a:ext cx="8138160" cy="329184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质量维度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硬校验 / 规则层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Jev 式快判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裁判大模型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前提一致性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学段、目标、当前能力、截止日存在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建议是否预设未知能力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学情推断是否合理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时间可行性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总时长、日时长、任务数与截止日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单日任务是否超负荷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节奏与坚持概率权衡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资源可执行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链接可达、资源标签、权限检查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资源是否匹配当前目标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资源质量与替代方案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先修依赖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依赖图无环、顺序规则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是否跳过必要前置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依赖粒度与学习迁移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目标可测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 字段、里程碑存在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目标是否可观察/可验证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目标难度与学生动机匹配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风险与弹性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重计划触发条件存在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是否忽略已知阻塞项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应急路径的教育适配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适龄与难度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课标、年级、时长边界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任务是否明显超/低龄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最近发展区判断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42291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评测规则表 4/4 · 批改与反馈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同分口径可复现比"总分像人"更重要 · 同时评"分对不对"与"反馈能否改进学习"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365760" cy="182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80160"/>
          <a:ext cx="8138160" cy="32004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质量维度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硬校验 / 规则层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Jev 式快判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裁判大模型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评分口径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总分、分项、权重、规则版本一致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证据是否落入所选档位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边界样本宽严与跨维度平衡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扣分证据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位置可定位、引用存在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评语是否指向具体文本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错误类型与反馈匹配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可复现性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多次重评、同分口径复现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两次是否落在同一档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分歧解释与规则澄清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反馈质量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必答槽位、行动动词存在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是否给出可执行建议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鼓励、纠偏与教学价值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观点偏差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规则词表、立场敏感项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是否将争议判断当事实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价值引导、文化与公平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隐私安全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学生个人信息、评语越界检测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是否存在不当披露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高风险心理健康与升学措辞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42291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告警分级 · P0 / P1 / P2 / P3 / 数据质量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365760" cy="182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3165716"/>
              </p:ext>
            </p:extLst>
          </p:nvPr>
        </p:nvGraphicFramePr>
        <p:xfrm>
          <a:off x="731520" y="1280160"/>
          <a:ext cx="8025302" cy="3017520"/>
        </p:xfrm>
        <a:graphic>
          <a:graphicData uri="http://schemas.openxmlformats.org/drawingml/2006/table">
            <a:tbl>
              <a:tblPr/>
              <a:tblGrid>
                <a:gridCol w="1046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53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169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84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级别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触发条件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自动动作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责任人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严重知识性错误放行率较基线上升 ≥ 0.5 pp；或高风险违规放行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暂停对应模型/提示，回滚，人工复核队列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质量负责人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关键正确率下降 ≥ 1 pp；加权 κ 下降 ≥ 0.05；档位一致率低于目标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阻断发布，重跑回归集，进行阈值复审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评测负责人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ECE 上升 ≥ 0.03；中高置信区间真实正确率低于目标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扩大抽样，重估阈值，关闭高后果自动放行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校准负责人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P95 延迟超 SLO；成本环比上升 ≥ 20%；缓存命中率下降 ≥ 10 pp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降级到规则/缓存版本，限流扩容，优化批大小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工程负责人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数据质量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单箱校准样本不足；人工标注 κ 低于 0.70；金标冲突未仲裁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停止使用该箱阈值，扩充标注并仲裁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教研负责人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6656"/>
            <a:ext cx="9144000" cy="36576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向日葵悦读 · </a:t>
            </a:r>
            <a:r>
              <a:rPr lang="en-US" sz="220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业务场景专属维度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57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C9D6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SUNFLOWER · 04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26974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4CF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280160"/>
            <a:ext cx="269748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32588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出题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240280" y="132588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EF3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50%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182880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E07B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专属维度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205740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题干完整 · 知识点 · 选项质量 · 原文一致 · 难度适配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46120" y="1280160"/>
            <a:ext cx="26974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4CF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46120" y="1280160"/>
            <a:ext cx="2697480" cy="457200"/>
          </a:xfrm>
          <a:prstGeom prst="rect">
            <a:avLst/>
          </a:prstGeom>
          <a:solidFill>
            <a:srgbClr val="3D6B99"/>
          </a:solidFill>
          <a:ln w="12700">
            <a:solidFill>
              <a:srgbClr val="3D6B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132588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错题解析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0" y="132588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EF3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12%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83280" y="182880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E07B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专属维度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83280" y="205740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解析准确 · 学生语言 · 引导性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35040" y="1280160"/>
            <a:ext cx="26974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4CFC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35040" y="1280160"/>
            <a:ext cx="2697480" cy="457200"/>
          </a:xfrm>
          <a:prstGeom prst="rect">
            <a:avLst/>
          </a:prstGeom>
          <a:solidFill>
            <a:srgbClr val="5C8AB8"/>
          </a:solidFill>
          <a:ln w="12700">
            <a:solidFill>
              <a:srgbClr val="5C8A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132588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 ASR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818120" y="132588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EF3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12%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172200" y="182880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E07B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专属维度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172200" y="205740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转写准确率 (CER ≤ 5%) · 抗噪 · 数字/专名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2971800"/>
            <a:ext cx="26974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4CFC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2971800"/>
            <a:ext cx="2697480" cy="4572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30175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上娃对话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240280" y="301752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EF3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18%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94360" y="352044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E07B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专属维度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94360" y="374904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上下文理解 · 儿童语气 · 引导 · 价值观 · 安全边界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46120" y="2971800"/>
            <a:ext cx="26974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4CFC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46120" y="2971800"/>
            <a:ext cx="2697480" cy="4572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83280" y="30175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书籍简介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029200" y="301752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EF3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4%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383280" y="352044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E07B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专属维度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383280" y="374904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事实一致 · 适龄用语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035040" y="2971800"/>
            <a:ext cx="26974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4CFC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2971800"/>
            <a:ext cx="2697480" cy="4572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72200" y="30175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学情汇总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818120" y="301752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EF3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4%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172200" y="352044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E07B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专属维度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172200" y="374904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数据准确 · 教学建议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6F700-69A3-4F29-5C54-3C9C0830F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3E8332-F1B7-5FB9-CCA5-C44FA3A879A4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10E9646-C095-A7A5-C720-B2FC30A62AFC}"/>
              </a:ext>
            </a:extLst>
          </p:cNvPr>
          <p:cNvSpPr/>
          <p:nvPr/>
        </p:nvSpPr>
        <p:spPr>
          <a:xfrm>
            <a:off x="0" y="676656"/>
            <a:ext cx="9144000" cy="36576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F334172-9710-AA19-3EEE-4B1784B732FD}"/>
              </a:ext>
            </a:extLst>
          </p:cNvPr>
          <p:cNvSpPr/>
          <p:nvPr/>
        </p:nvSpPr>
        <p:spPr>
          <a:xfrm>
            <a:off x="365760" y="457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zh-CN" alt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小学作业生成</a:t>
            </a: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r>
              <a:rPr lang="en-US" sz="220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业务场景专属维度</a:t>
            </a:r>
            <a:endParaRPr lang="en-US" sz="2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9B66FD3-58D1-A5A4-1DF8-B8D5C75C4936}"/>
              </a:ext>
            </a:extLst>
          </p:cNvPr>
          <p:cNvSpPr/>
          <p:nvPr/>
        </p:nvSpPr>
        <p:spPr>
          <a:xfrm>
            <a:off x="365760" y="457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C9D6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SUNFLOWER · 04</a:t>
            </a:r>
            <a:endParaRPr lang="en-US" sz="11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C772B617-2C7D-EFFE-1EBC-AFD4F7F7074A}"/>
              </a:ext>
            </a:extLst>
          </p:cNvPr>
          <p:cNvSpPr/>
          <p:nvPr/>
        </p:nvSpPr>
        <p:spPr>
          <a:xfrm>
            <a:off x="850384" y="1280160"/>
            <a:ext cx="2910839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4CFC4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93BAEBBA-0B35-637D-25E4-E05DE8AEEA2D}"/>
              </a:ext>
            </a:extLst>
          </p:cNvPr>
          <p:cNvSpPr/>
          <p:nvPr/>
        </p:nvSpPr>
        <p:spPr>
          <a:xfrm>
            <a:off x="850384" y="1280160"/>
            <a:ext cx="2910839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EABC3FC-E6B5-44EB-8CC3-A4216F7A084A}"/>
              </a:ext>
            </a:extLst>
          </p:cNvPr>
          <p:cNvSpPr/>
          <p:nvPr/>
        </p:nvSpPr>
        <p:spPr>
          <a:xfrm>
            <a:off x="987544" y="1325880"/>
            <a:ext cx="1825441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</a:rPr>
              <a:t>融合作业生成</a:t>
            </a:r>
            <a:endParaRPr lang="en-US" sz="14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AC9EEF4-D514-EF7D-6DBB-7CDB78CE4135}"/>
              </a:ext>
            </a:extLst>
          </p:cNvPr>
          <p:cNvSpPr/>
          <p:nvPr/>
        </p:nvSpPr>
        <p:spPr>
          <a:xfrm>
            <a:off x="2633465" y="1325880"/>
            <a:ext cx="83871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EF3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40%</a:t>
            </a:r>
            <a:endParaRPr lang="en-US" sz="13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E71DB06-6105-BE8F-1CA1-C8BB934BE260}"/>
              </a:ext>
            </a:extLst>
          </p:cNvPr>
          <p:cNvSpPr/>
          <p:nvPr/>
        </p:nvSpPr>
        <p:spPr>
          <a:xfrm>
            <a:off x="987544" y="1828800"/>
            <a:ext cx="2614821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E07B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专属维度</a:t>
            </a:r>
            <a:endParaRPr lang="en-US" sz="9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485FD81-4DEF-B2F4-8C29-CEC823FD3B34}"/>
              </a:ext>
            </a:extLst>
          </p:cNvPr>
          <p:cNvSpPr/>
          <p:nvPr/>
        </p:nvSpPr>
        <p:spPr>
          <a:xfrm>
            <a:off x="987544" y="2057400"/>
            <a:ext cx="2614821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题干完整 · 知识点 · 选项质量 · 原文一致 · 难度适配</a:t>
            </a:r>
            <a:endParaRPr lang="en-US" sz="11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71736663-96CE-3BCE-D6ED-FF3AD9DDBBD1}"/>
              </a:ext>
            </a:extLst>
          </p:cNvPr>
          <p:cNvSpPr/>
          <p:nvPr/>
        </p:nvSpPr>
        <p:spPr>
          <a:xfrm>
            <a:off x="4458906" y="1288288"/>
            <a:ext cx="29108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4CFC4"/>
            </a:solidFill>
            <a:prstDash val="solid"/>
          </a:ln>
        </p:spPr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1C70FD0D-F579-3A08-D7BA-AE38B50C1F59}"/>
              </a:ext>
            </a:extLst>
          </p:cNvPr>
          <p:cNvSpPr/>
          <p:nvPr/>
        </p:nvSpPr>
        <p:spPr>
          <a:xfrm>
            <a:off x="4458906" y="1288288"/>
            <a:ext cx="2910840" cy="457200"/>
          </a:xfrm>
          <a:prstGeom prst="rect">
            <a:avLst/>
          </a:prstGeom>
          <a:solidFill>
            <a:srgbClr val="3D6B99"/>
          </a:solidFill>
          <a:ln w="12700">
            <a:solidFill>
              <a:srgbClr val="3D6B99"/>
            </a:solidFill>
            <a:prstDash val="solid"/>
          </a:ln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98E09A9-2A5E-57D5-9E33-ECB655932F14}"/>
              </a:ext>
            </a:extLst>
          </p:cNvPr>
          <p:cNvSpPr/>
          <p:nvPr/>
        </p:nvSpPr>
        <p:spPr>
          <a:xfrm>
            <a:off x="4596066" y="1334008"/>
            <a:ext cx="1825442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学科作业生成</a:t>
            </a:r>
            <a:endParaRPr lang="en-US" sz="14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0ED0692-9E0C-D8F3-C86C-3F538B1CDF1E}"/>
              </a:ext>
            </a:extLst>
          </p:cNvPr>
          <p:cNvSpPr/>
          <p:nvPr/>
        </p:nvSpPr>
        <p:spPr>
          <a:xfrm>
            <a:off x="6241985" y="1334008"/>
            <a:ext cx="838717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EF3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40%</a:t>
            </a:r>
            <a:endParaRPr lang="en-US" sz="13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5B72AB04-25A1-0BB2-4169-743217331C64}"/>
              </a:ext>
            </a:extLst>
          </p:cNvPr>
          <p:cNvSpPr/>
          <p:nvPr/>
        </p:nvSpPr>
        <p:spPr>
          <a:xfrm>
            <a:off x="4596066" y="1836928"/>
            <a:ext cx="2614822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E07B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专属维度</a:t>
            </a:r>
            <a:endParaRPr lang="en-US" sz="9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F24107DD-CC1B-70FF-752B-2101617782F7}"/>
              </a:ext>
            </a:extLst>
          </p:cNvPr>
          <p:cNvSpPr/>
          <p:nvPr/>
        </p:nvSpPr>
        <p:spPr>
          <a:xfrm>
            <a:off x="4596066" y="2065528"/>
            <a:ext cx="2614822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解析准确 · 学生语言 · 引导性</a:t>
            </a:r>
            <a:endParaRPr lang="en-US" sz="11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1555C976-7010-619B-180E-313F381B45D4}"/>
              </a:ext>
            </a:extLst>
          </p:cNvPr>
          <p:cNvSpPr/>
          <p:nvPr/>
        </p:nvSpPr>
        <p:spPr>
          <a:xfrm>
            <a:off x="5368226" y="3154680"/>
            <a:ext cx="29108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4CFC4"/>
            </a:solidFill>
            <a:prstDash val="solid"/>
          </a:ln>
        </p:spPr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320C4478-A8A0-0F85-6A1A-285293C4751F}"/>
              </a:ext>
            </a:extLst>
          </p:cNvPr>
          <p:cNvSpPr/>
          <p:nvPr/>
        </p:nvSpPr>
        <p:spPr>
          <a:xfrm>
            <a:off x="5368226" y="3154680"/>
            <a:ext cx="2910840" cy="457200"/>
          </a:xfrm>
          <a:prstGeom prst="rect">
            <a:avLst/>
          </a:prstGeom>
          <a:solidFill>
            <a:srgbClr val="5C8AB8"/>
          </a:solidFill>
          <a:ln w="12700">
            <a:solidFill>
              <a:srgbClr val="5C8AB8"/>
            </a:solidFill>
            <a:prstDash val="solid"/>
          </a:ln>
        </p:spPr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1C399BF8-CA0E-E402-11F0-9C9E9164B979}"/>
              </a:ext>
            </a:extLst>
          </p:cNvPr>
          <p:cNvSpPr/>
          <p:nvPr/>
        </p:nvSpPr>
        <p:spPr>
          <a:xfrm>
            <a:off x="5505386" y="3200400"/>
            <a:ext cx="1825442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学情分析</a:t>
            </a:r>
            <a:endParaRPr lang="en-US" sz="14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274A9692-36D4-758B-46F8-EAD3D65ABACA}"/>
              </a:ext>
            </a:extLst>
          </p:cNvPr>
          <p:cNvSpPr/>
          <p:nvPr/>
        </p:nvSpPr>
        <p:spPr>
          <a:xfrm>
            <a:off x="7151305" y="3200400"/>
            <a:ext cx="838717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EF3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10%</a:t>
            </a:r>
            <a:endParaRPr lang="en-US" sz="13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2E5B1255-F1B5-B9E7-2A1F-DF1B05431CFA}"/>
              </a:ext>
            </a:extLst>
          </p:cNvPr>
          <p:cNvSpPr/>
          <p:nvPr/>
        </p:nvSpPr>
        <p:spPr>
          <a:xfrm>
            <a:off x="5505386" y="3703320"/>
            <a:ext cx="2614822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E07B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专属维度</a:t>
            </a:r>
            <a:endParaRPr lang="en-US" sz="9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68736D9C-2BEE-C774-7D07-E0DD2091F591}"/>
              </a:ext>
            </a:extLst>
          </p:cNvPr>
          <p:cNvSpPr/>
          <p:nvPr/>
        </p:nvSpPr>
        <p:spPr>
          <a:xfrm>
            <a:off x="5505386" y="3931920"/>
            <a:ext cx="2614822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转写准确率 (CER ≤ 5%) · 抗噪 · 数字/专名</a:t>
            </a:r>
            <a:endParaRPr lang="en-US" sz="110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58638627-1726-3E12-481C-FC2DF598381D}"/>
              </a:ext>
            </a:extLst>
          </p:cNvPr>
          <p:cNvSpPr/>
          <p:nvPr/>
        </p:nvSpPr>
        <p:spPr>
          <a:xfrm>
            <a:off x="1771587" y="3154680"/>
            <a:ext cx="2910839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4CFC4"/>
            </a:solidFill>
            <a:prstDash val="solid"/>
          </a:ln>
        </p:spPr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74EB6E65-2CB5-EA49-19E5-FDFE84EE396F}"/>
              </a:ext>
            </a:extLst>
          </p:cNvPr>
          <p:cNvSpPr/>
          <p:nvPr/>
        </p:nvSpPr>
        <p:spPr>
          <a:xfrm>
            <a:off x="1771587" y="3154680"/>
            <a:ext cx="2910839" cy="4572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0A39F339-89A4-B9DA-F49E-17914082A621}"/>
              </a:ext>
            </a:extLst>
          </p:cNvPr>
          <p:cNvSpPr/>
          <p:nvPr/>
        </p:nvSpPr>
        <p:spPr>
          <a:xfrm>
            <a:off x="1908747" y="3200400"/>
            <a:ext cx="1825441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一键生图</a:t>
            </a:r>
            <a:endParaRPr lang="en-US" sz="14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2F59A242-D259-2DC6-CE1D-EB29572888EA}"/>
              </a:ext>
            </a:extLst>
          </p:cNvPr>
          <p:cNvSpPr/>
          <p:nvPr/>
        </p:nvSpPr>
        <p:spPr>
          <a:xfrm>
            <a:off x="3554668" y="3200400"/>
            <a:ext cx="83871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EF3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10%</a:t>
            </a:r>
            <a:endParaRPr lang="en-US" sz="13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71FEAAFA-9B19-67D7-5AF7-DDE6C1E90E93}"/>
              </a:ext>
            </a:extLst>
          </p:cNvPr>
          <p:cNvSpPr/>
          <p:nvPr/>
        </p:nvSpPr>
        <p:spPr>
          <a:xfrm>
            <a:off x="1908747" y="3703320"/>
            <a:ext cx="2614821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E07B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专属维度</a:t>
            </a:r>
            <a:endParaRPr lang="en-US" sz="9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DC9A1F93-F265-0B8A-A03F-3AF9B74940BD}"/>
              </a:ext>
            </a:extLst>
          </p:cNvPr>
          <p:cNvSpPr/>
          <p:nvPr/>
        </p:nvSpPr>
        <p:spPr>
          <a:xfrm>
            <a:off x="1908747" y="3931920"/>
            <a:ext cx="2614821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上下文理解 · 儿童语气 · 引导 · 价值观 · 安全边界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7080776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6656"/>
            <a:ext cx="9144000" cy="36576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高中智能体 · 出题质量维度（满分45分）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57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C9D6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HIGH SCHOOL · 02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46720" y="47777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9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229360" y="1241552"/>
            <a:ext cx="26974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4CFC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29360" y="1241552"/>
            <a:ext cx="73152" cy="14173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12240" y="137871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高中</a:t>
            </a:r>
            <a:r>
              <a:rPr lang="en-US" sz="1500" b="1" dirty="0" err="1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难度可控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195320" y="137871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分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412240" y="1835912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实测难度 vs 预设难度偏差折算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5480" y="3049524"/>
            <a:ext cx="26974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4CFC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5480" y="3049524"/>
            <a:ext cx="73152" cy="14173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88360" y="3186684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题型规范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3388360" y="3643884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选项干扰项/采分点/环节完整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618480" y="1243584"/>
            <a:ext cx="26974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4CFC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618480" y="1243584"/>
            <a:ext cx="73152" cy="14173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01360" y="1380744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素养情境达标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7584440" y="1380744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分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801360" y="1837944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情境真实合理、不虚假编造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757</Words>
  <Application>Microsoft Office PowerPoint</Application>
  <PresentationFormat>全屏显示(16:9)</PresentationFormat>
  <Paragraphs>268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Microsoft YaHei</vt:lpstr>
      <vt:lpstr>Arial</vt:lpstr>
      <vt:lpstr>Calibri</vt:lpstr>
      <vt:lpstr>Georgia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智丽 殷</cp:lastModifiedBy>
  <cp:revision>5</cp:revision>
  <dcterms:created xsi:type="dcterms:W3CDTF">2026-09-23T02:05:45Z</dcterms:created>
  <dcterms:modified xsi:type="dcterms:W3CDTF">2026-09-23T02:41:19Z</dcterms:modified>
</cp:coreProperties>
</file>